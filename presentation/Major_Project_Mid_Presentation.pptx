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28"/>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3" d="100"/>
          <a:sy n="103" d="100"/>
        </p:scale>
        <p:origin x="87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  <Relationship Id="rId28" Type="http://schemas.openxmlformats.org/officeDocument/2006/relationships/slide" Target="slides/slide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4388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guide. One-line pitch: DeltaProduct uses the same number of Householder factors for every token; we study how many each token actually needs and let the model learn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tracking is the ability to maintain what the sequence has done so far. Our test bed is the group word problem shown: every token is a permutation of five items and after each token the model must output the current arrangement. Linear RNNs compress the history into a fixed-size memory, and what they can track depends on how that memory is updated. DeltaProduct updates the memory with a few simple steps per token; each step is a Householder factor, which changes the memory along one direction. n_h is simply the number of these steps. It is chosen once by hand and used for every token: more steps can track harder tasks, but every token pays for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to make the order adaptive. Efficiency: if most tokens need few factors, a fixed order wastes most of its computation. Second, and more important, the correct n_h cannot be read off the data: we show later that it depends on the algebraic structure of the whole alphabet, so adding one cheap symbol can double the cost of others.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attention keeps a matrix memory S and only ever adds to it, so old associations are never removed. The delta rule fixes this. Read the equation left to right: first multiply the old memory by (I - beta k k^T), which removes what was stored along the key direction k, then add beta v k^T, which writes the new value v there. The matrix (I - beta k k^T) is a generalized Householder matrix: it changes the memory along one direction k only. beta controls how strongly. DeltaNet made this trainable at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Grazzi et al. showed that letting beta go all the way to 2 turns the factor into a reflection, and reflections are what let these models handle parity and swaps. DeltaProduct applies n_h delta-rule steps per token, so the transition A_t is a product of n_h Householder factors. Point at the key: beta = 0 does nothing, 1 erases, 2 reflects (a swap). More factors track harder groups, up to S5. But n_h is one number fixed by hand for every token, and the paper lists per-token order as future work. That is exactly where this project starts.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works explain why group word problems are the right benchmark and why Householder transitions matter. Howe and Larson are the closest related work; our difference is that the representation is fixed by the input alphabet and the requirement is defined per token, which is what allows per-token allocation.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and PonderNet give us the monotone halting mechanism and compute penalty, but they are applied to network depth, not to the transition. Boxes is our first natural-language test: a description of seven boxes followed by move, remove and put operations.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Householder-based model fixes the number of factors globally. Adaptive computation is mature for network depth but has never been applied to the order of the transition.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1-5 are group word problems; 6 extends to natural 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generator produces word problems with controlled alphabets. One DeltaProduct layer, readout after each token. Three settings of the order: fixed n_h as baseline, the oracle reference allocation derived from our analysis, and the learned halting gate trained with a budget penalty. The theoretical labels never train the gate.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Householder factor differs from the identity by a rank-one matrix, so K factors can move at most K directions. A permutation with transposition length l needs l. With beta pinned at 2 the determinant is (-1)^K, so parity is forced; the gate must therefore scale beta rather than mask a fixed reflection. The key result: the layer may use any faithful representation. A5 is the rotation group of the icosahedron, a 3-D representation where every rotation is two reflections. So an alphabet of only 5-cycles (which generates A5) needs 2 factors, but adding one transposition makes it S5 and the same 5-cycle needs 4. Everything verified by explicit construction to about 1e-15.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an MLP 128 -&gt; 64 -&gt; K. Cumulative product of sigmoids makes the gates monotone, so the effective order n_t is the number of gates still open. Following the parity result, the gate multiplies beta. The budget penalty gamma times the mean order is off for 4000 steps, then ramps over 4000 steps. The gate starts open (order 3.82). In bfloat16 a sigmoid above logit 6.2 rounds to exactly 1 with zero gradient, so the gate is evaluated in float32.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our reproduction. The curve is the fraction of sequences still fully correct up to each position; it stays near 1 up to the training length 128 and decays gradually after. Right: mixtures of transpositions (need 1) and 5-cycles (need 4). A fixed-order model needs 4 factors; the reference allocation reaches the same accuracy at 1.15, 1.30 and 1.75 factors per token, i.e. 3.5, 3.1 and 2.3 times fewer. These are single runs. Wall-clock is unchanged because the current implementation still executes every factor with zero strength.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tests that the cost depends on the alphabet. Alphabets of 5-cycles generate A5 and train with only 2 factors, which would be impossible if the cost were the transposition length 4. Training is bistable: a run either solves the task or stays near chance, and non-deterministic GPU kernels decide which, so two runs with the same seed gave 0.9598 and 0.1177. Hence we report k out of 10 with Wilson intervals. The one-transposition alphabet (96% maximum-cost tokens) is still unresolved.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end to end at p = 0.10 (90% transpositions, 10% 5-cycles). In 3 of 10 runs the gate separates the two classes exactly: 2 factors to every transposition and 4 to every 5-cycle, 2.20 per token at 0.9998 accuracy, better than the fixed 3-factor model (0.9696). It never under-allocates. Across all 49 learned runs, 7 recovered the structure and one earlier run reached the exact 1.30. Making this reliable is the main next step.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Teammate experiment. Boxes: a description of seven boxes, then operations, then a query. All three parameter-matched models (~469k parameters) read the description correctly at 0 operations, but once one update must be applied, DeltaProduct stays at 0.968 while attention drops to 0.312. This is one small configuration trained from scratch, not a general claim about attention. The hybrid is below DeltaProduct, though it had a smaller feed-forward layer. Only n_h = 2 was tested.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limitations to state honestly: training success is a fraction of runs, and the savings are in required factors, not yet time, because every factor is still executed.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natural-language test, from Kim and Schuster, ACL 2023. Each example starts with a description of what is in seven boxes, then a few operations that move, remove or put objects, then a query about one box. The model must write the box's final contents, and it scores only if the whole answer is exactly right. Zero operations is pure lookup: copy from the description. Each operation is a state update, just like a token in our group task, so this is state tracking in text. Models are trained only on examples with at most two operations and tested on zero to five or more, so three or more operations checks whether the model can apply more updates than it has ever seen. The example shown is in the dataset's format; the tie moves into Box 1, so Box 1 now contains the egg and the tie.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Eq1" Type="http://schemas.openxmlformats.org/officeDocument/2006/relationships/image" Target="../media/eq_delta.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Eq1" Type="http://schemas.openxmlformats.org/officeDocument/2006/relationships/image" Target="../media/eq_deltaproduct.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N1"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182880" y="0"/>
            <a:ext cx="87782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Times New Roman" pitchFamily="34" charset="0"/>
                <a:ea typeface="Times New Roman" pitchFamily="34" charset="-122"/>
                <a:cs typeface="Times New Roman" pitchFamily="34" charset="-120"/>
              </a:rPr>
              <a:t>B.Tech.(AI) Major Project I (IT448) Mid-Semester Presentation</a:t>
            </a:r>
            <a:endParaRPr lang="en-US" sz="2200" dirty="0"/>
          </a:p>
        </p:txBody>
      </p:sp>
      <p:sp>
        <p:nvSpPr>
          <p:cNvPr id="4" name="Text 1"/>
          <p:cNvSpPr txBox="1"/>
          <p:nvPr/>
        </p:nvSpPr>
        <p:spPr>
          <a:xfrm>
            <a:off x="457200" y="731520"/>
            <a:ext cx="8229600" cy="868680"/>
          </a:xfrm>
          <a:prstGeom prst="rect">
            <a:avLst/>
          </a:prstGeom>
          <a:noFill/>
          <a:ln/>
        </p:spPr>
        <p:txBody>
          <a:bodyPr wrap="square" lIns="0" tIns="0" rIns="0" bIns="0" rtlCol="0" anchor="ctr"/>
          <a:lstStyle/>
          <a:p>
            <a:pPr marL="0" indent="0" algn="ctr">
              <a:buNone/>
            </a:pPr>
            <a:r>
              <a:rPr lang="en-US" sz="2600" b="1" dirty="0">
                <a:solidFill>
                  <a:srgbClr val="1F1F1F"/>
                </a:solidFill>
                <a:latin typeface="Times New Roman" pitchFamily="34" charset="0"/>
                <a:ea typeface="Times New Roman" pitchFamily="34" charset="-122"/>
                <a:cs typeface="Times New Roman" pitchFamily="34" charset="-120"/>
              </a:rPr>
              <a:t>Adaptive-Order State Transitions in Linear RNNs</a:t>
            </a:r>
            <a:endParaRPr lang="en-US" sz="2600" dirty="0"/>
          </a:p>
          <a:p>
            <a:pPr marL="0" indent="0" algn="ctr">
              <a:buNone/>
            </a:pPr>
            <a:r>
              <a:rPr lang="en-US" sz="2600" b="1" dirty="0">
                <a:solidFill>
                  <a:srgbClr val="1F1F1F"/>
                </a:solidFill>
                <a:latin typeface="Times New Roman" pitchFamily="34" charset="0"/>
                <a:ea typeface="Times New Roman" pitchFamily="34" charset="-122"/>
                <a:cs typeface="Times New Roman" pitchFamily="34" charset="-120"/>
              </a:rPr>
              <a:t>for Efficient State Tracking</a:t>
            </a:r>
            <a:endParaRPr lang="en-US" sz="2600" dirty="0"/>
          </a:p>
        </p:txBody>
      </p:sp>
      <p:sp>
        <p:nvSpPr>
          <p:cNvPr id="5" name="Text 2"/>
          <p:cNvSpPr txBox="1"/>
          <p:nvPr/>
        </p:nvSpPr>
        <p:spPr>
          <a:xfrm>
            <a:off x="457200" y="1737360"/>
            <a:ext cx="8229600" cy="320040"/>
          </a:xfrm>
          <a:prstGeom prst="rect">
            <a:avLst/>
          </a:prstGeom>
          <a:noFill/>
          <a:ln/>
        </p:spPr>
        <p:txBody>
          <a:bodyPr wrap="square" lIns="0" tIns="0" rIns="0" bIns="0" rtlCol="0" anchor="t"/>
          <a:lstStyle/>
          <a:p>
            <a:pPr marL="0" indent="0" algn="ctr">
              <a:buNone/>
            </a:pPr>
            <a:r>
              <a:rPr lang="en-US" sz="2000" b="1" dirty="0">
                <a:solidFill>
                  <a:srgbClr val="1F1F1F"/>
                </a:solidFill>
                <a:latin typeface="Times New Roman" pitchFamily="34" charset="0"/>
                <a:ea typeface="Times New Roman" pitchFamily="34" charset="-122"/>
                <a:cs typeface="Times New Roman" pitchFamily="34" charset="-120"/>
              </a:rPr>
              <a:t>BY</a:t>
            </a:r>
            <a:endParaRPr lang="en-US" sz="2000" dirty="0"/>
          </a:p>
        </p:txBody>
      </p:sp>
      <p:sp>
        <p:nvSpPr>
          <p:cNvPr id="6" name="Text 3"/>
          <p:cNvSpPr txBox="1"/>
          <p:nvPr/>
        </p:nvSpPr>
        <p:spPr>
          <a:xfrm>
            <a:off x="457200" y="2057400"/>
            <a:ext cx="8229600" cy="347472"/>
          </a:xfrm>
          <a:prstGeom prst="rect">
            <a:avLst/>
          </a:prstGeom>
          <a:noFill/>
          <a:ln/>
        </p:spPr>
        <p:txBody>
          <a:bodyPr wrap="square" lIns="0" tIns="0" rIns="0" bIns="0" rtlCol="0" anchor="t"/>
          <a:lstStyle/>
          <a:p>
            <a:pPr marL="0" indent="0" algn="ctr">
              <a:buNone/>
            </a:pPr>
            <a:r>
              <a:rPr lang="en-US" sz="2000" b="1" dirty="0">
                <a:solidFill>
                  <a:srgbClr val="1F1F1F"/>
                </a:solidFill>
                <a:latin typeface="Times New Roman" pitchFamily="34" charset="0"/>
                <a:ea typeface="Times New Roman" pitchFamily="34" charset="-122"/>
                <a:cs typeface="Times New Roman" pitchFamily="34" charset="-120"/>
              </a:rPr>
              <a:t>Shashwat Chaturvedi (231AI036)</a:t>
            </a:r>
            <a:endParaRPr lang="en-US" sz="2000" dirty="0"/>
          </a:p>
        </p:txBody>
      </p:sp>
      <p:sp>
        <p:nvSpPr>
          <p:cNvPr id="7" name="Text 4"/>
          <p:cNvSpPr txBox="1"/>
          <p:nvPr/>
        </p:nvSpPr>
        <p:spPr>
          <a:xfrm>
            <a:off x="457200" y="2404872"/>
            <a:ext cx="8229600" cy="347472"/>
          </a:xfrm>
          <a:prstGeom prst="rect">
            <a:avLst/>
          </a:prstGeom>
          <a:noFill/>
          <a:ln/>
        </p:spPr>
        <p:txBody>
          <a:bodyPr wrap="square" lIns="0" tIns="0" rIns="0" bIns="0" rtlCol="0" anchor="t"/>
          <a:lstStyle/>
          <a:p>
            <a:pPr marL="0" indent="0" algn="ctr">
              <a:buNone/>
            </a:pPr>
            <a:r>
              <a:rPr lang="en-US" sz="2000" b="1" dirty="0">
                <a:solidFill>
                  <a:srgbClr val="1F1F1F"/>
                </a:solidFill>
                <a:latin typeface="Times New Roman" pitchFamily="34" charset="0"/>
                <a:ea typeface="Times New Roman" pitchFamily="34" charset="-122"/>
                <a:cs typeface="Times New Roman" pitchFamily="34" charset="-120"/>
              </a:rPr>
              <a:t>Utkarsh Shukla (231AI040)</a:t>
            </a:r>
            <a:endParaRPr lang="en-US" sz="2000" dirty="0"/>
          </a:p>
        </p:txBody>
      </p:sp>
      <p:sp>
        <p:nvSpPr>
          <p:cNvPr id="8" name="Text 5"/>
          <p:cNvSpPr txBox="1"/>
          <p:nvPr/>
        </p:nvSpPr>
        <p:spPr>
          <a:xfrm>
            <a:off x="457200" y="2880360"/>
            <a:ext cx="8229600" cy="320040"/>
          </a:xfrm>
          <a:prstGeom prst="rect">
            <a:avLst/>
          </a:prstGeom>
          <a:noFill/>
          <a:ln/>
        </p:spPr>
        <p:txBody>
          <a:bodyPr wrap="square" lIns="0" tIns="0" rIns="0" bIns="0" rtlCol="0" anchor="t"/>
          <a:lstStyle/>
          <a:p>
            <a:pPr marL="0" indent="0" algn="ctr">
              <a:buNone/>
            </a:pPr>
            <a:r>
              <a:rPr lang="en-US" sz="1800" dirty="0">
                <a:solidFill>
                  <a:srgbClr val="1F1F1F"/>
                </a:solidFill>
                <a:latin typeface="Times New Roman" pitchFamily="34" charset="0"/>
                <a:ea typeface="Times New Roman" pitchFamily="34" charset="-122"/>
                <a:cs typeface="Times New Roman" pitchFamily="34" charset="-120"/>
              </a:rPr>
              <a:t>Department of Information Technology</a:t>
            </a:r>
            <a:endParaRPr lang="en-US" sz="1800" dirty="0"/>
          </a:p>
        </p:txBody>
      </p:sp>
      <p:sp>
        <p:nvSpPr>
          <p:cNvPr id="9" name="Text 6"/>
          <p:cNvSpPr txBox="1"/>
          <p:nvPr/>
        </p:nvSpPr>
        <p:spPr>
          <a:xfrm>
            <a:off x="457200" y="3200400"/>
            <a:ext cx="8229600" cy="320040"/>
          </a:xfrm>
          <a:prstGeom prst="rect">
            <a:avLst/>
          </a:prstGeom>
          <a:noFill/>
          <a:ln/>
        </p:spPr>
        <p:txBody>
          <a:bodyPr wrap="square" lIns="0" tIns="0" rIns="0" bIns="0" rtlCol="0" anchor="t"/>
          <a:lstStyle/>
          <a:p>
            <a:pPr marL="0" indent="0" algn="ctr">
              <a:buNone/>
            </a:pPr>
            <a:r>
              <a:rPr lang="en-US" sz="1800" dirty="0">
                <a:solidFill>
                  <a:srgbClr val="1F1F1F"/>
                </a:solidFill>
                <a:latin typeface="Times New Roman" pitchFamily="34" charset="0"/>
                <a:ea typeface="Times New Roman" pitchFamily="34" charset="-122"/>
                <a:cs typeface="Times New Roman" pitchFamily="34" charset="-120"/>
              </a:rPr>
              <a:t>National Institute of Technology Karnataka, Surathkal-575025</a:t>
            </a:r>
            <a:endParaRPr lang="en-US" sz="1800" dirty="0"/>
          </a:p>
        </p:txBody>
      </p:sp>
      <p:sp>
        <p:nvSpPr>
          <p:cNvPr id="10" name="Text 7"/>
          <p:cNvSpPr txBox="1"/>
          <p:nvPr/>
        </p:nvSpPr>
        <p:spPr>
          <a:xfrm>
            <a:off x="457200" y="3611880"/>
            <a:ext cx="8229600" cy="320040"/>
          </a:xfrm>
          <a:prstGeom prst="rect">
            <a:avLst/>
          </a:prstGeom>
          <a:noFill/>
          <a:ln/>
        </p:spPr>
        <p:txBody>
          <a:bodyPr wrap="square" lIns="0" tIns="0" rIns="0" bIns="0" rtlCol="0" anchor="t"/>
          <a:lstStyle/>
          <a:p>
            <a:pPr marL="0" indent="0" algn="ctr">
              <a:buNone/>
            </a:pPr>
            <a:r>
              <a:rPr lang="en-US" sz="1800" dirty="0">
                <a:solidFill>
                  <a:srgbClr val="1F1F1F"/>
                </a:solidFill>
                <a:latin typeface="Times New Roman" pitchFamily="34" charset="0"/>
                <a:ea typeface="Times New Roman" pitchFamily="34" charset="-122"/>
                <a:cs typeface="Times New Roman" pitchFamily="34" charset="-120"/>
              </a:rPr>
              <a:t>Under the Guidance of</a:t>
            </a:r>
            <a:endParaRPr lang="en-US" sz="1800" dirty="0"/>
          </a:p>
        </p:txBody>
      </p:sp>
      <p:sp>
        <p:nvSpPr>
          <p:cNvPr id="11" name="Text 8"/>
          <p:cNvSpPr txBox="1"/>
          <p:nvPr/>
        </p:nvSpPr>
        <p:spPr>
          <a:xfrm>
            <a:off x="457200" y="3931920"/>
            <a:ext cx="8229600" cy="320040"/>
          </a:xfrm>
          <a:prstGeom prst="rect">
            <a:avLst/>
          </a:prstGeom>
          <a:noFill/>
          <a:ln/>
        </p:spPr>
        <p:txBody>
          <a:bodyPr wrap="square" lIns="0" tIns="0" rIns="0" bIns="0" rtlCol="0" anchor="t"/>
          <a:lstStyle/>
          <a:p>
            <a:pPr marL="0" indent="0" algn="ctr">
              <a:buNone/>
            </a:pPr>
            <a:r>
              <a:rPr lang="en-US" sz="1800" b="1" dirty="0">
                <a:solidFill>
                  <a:srgbClr val="1F1F1F"/>
                </a:solidFill>
                <a:latin typeface="Times New Roman" pitchFamily="34" charset="0"/>
                <a:ea typeface="Times New Roman" pitchFamily="34" charset="-122"/>
                <a:cs typeface="Times New Roman" pitchFamily="34" charset="-120"/>
              </a:rPr>
              <a:t>Anand Kumar M</a:t>
            </a:r>
            <a:endParaRPr lang="en-US" sz="1800" dirty="0"/>
          </a:p>
        </p:txBody>
      </p:sp>
      <p:sp>
        <p:nvSpPr>
          <p:cNvPr id="12" name="Text 9"/>
          <p:cNvSpPr txBox="1"/>
          <p:nvPr/>
        </p:nvSpPr>
        <p:spPr>
          <a:xfrm>
            <a:off x="274320" y="4251960"/>
            <a:ext cx="8595360" cy="320040"/>
          </a:xfrm>
          <a:prstGeom prst="rect">
            <a:avLst/>
          </a:prstGeom>
          <a:noFill/>
          <a:ln/>
        </p:spPr>
        <p:txBody>
          <a:bodyPr wrap="square" lIns="0" tIns="0" rIns="0" bIns="0" rtlCol="0" anchor="t"/>
          <a:lstStyle/>
          <a:p>
            <a:pPr marL="0" indent="0" algn="ctr">
              <a:buNone/>
            </a:pPr>
            <a:r>
              <a:rPr lang="en-US" sz="1700" dirty="0">
                <a:solidFill>
                  <a:srgbClr val="1F1F1F"/>
                </a:solidFill>
                <a:latin typeface="Times New Roman" pitchFamily="34" charset="0"/>
                <a:ea typeface="Times New Roman" pitchFamily="34" charset="-122"/>
                <a:cs typeface="Times New Roman" pitchFamily="34" charset="-120"/>
              </a:rPr>
              <a:t>Associate Professor, Department of Information Technology, NITK Surathkal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Table of Contents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2</a:t>
            </a:r>
            <a:endParaRPr lang="en-US" sz="1000" dirty="0"/>
          </a:p>
        </p:txBody>
      </p:sp>
      <p:sp>
        <p:nvSpPr>
          <p:cNvPr id="5" name="Text 2"/>
          <p:cNvSpPr txBox="1"/>
          <p:nvPr/>
        </p:nvSpPr>
        <p:spPr>
          <a:xfrm>
            <a:off x="548640" y="822960"/>
            <a:ext cx="5486400" cy="4023360"/>
          </a:xfrm>
          <a:prstGeom prst="rect">
            <a:avLst/>
          </a:prstGeom>
          <a:noFill/>
          <a:ln/>
        </p:spPr>
        <p:txBody>
          <a:bodyPr wrap="square" lIns="25400" tIns="25400" rIns="25400" bIns="25400" rtlCol="0" anchor="t"/>
          <a:lstStyle/>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Introduction</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Literature Survey</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Outcome of Literature Survey</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Problem Statement and Objectives</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Methodology</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Experimental Results</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Conclusion and Future Work</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Key References</a:t>
            </a:r>
            <a:endParaRPr lang="en-US" sz="2000" dirty="0"/>
          </a:p>
          <a:p>
            <a:pPr marL="342900" indent="-342900">
              <a:spcAft>
                <a:spcPts val="6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Timeline of the Project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Introduction</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3</a:t>
            </a:r>
            <a:endParaRPr lang="en-US" sz="1000" dirty="0"/>
          </a:p>
        </p:txBody>
      </p:sp>
      <p:sp>
        <p:nvSpPr>
          <p:cNvPr id="5" name="Text 2"/>
          <p:cNvSpPr txBox="1"/>
          <p:nvPr/>
        </p:nvSpPr>
        <p:spPr>
          <a:xfrm>
            <a:off x="411480" y="685800"/>
            <a:ext cx="8321040" cy="2743200"/>
          </a:xfrm>
          <a:prstGeom prst="rect">
            <a:avLst/>
          </a:prstGeom>
          <a:noFill/>
          <a:ln/>
        </p:spPr>
        <p:txBody>
          <a:bodyPr wrap="square" lIns="25400" tIns="25400" rIns="25400" bIns="25400" rtlCol="0" anchor="t"/>
          <a:lstStyle/>
          <a:p>
            <a:pPr marL="342900" indent="-342900">
              <a:spcAft>
                <a:spcPts val="1000"/>
              </a:spcAft>
              <a:buSzPct val="100000"/>
              <a:buChar char="•"/>
            </a:pPr>
            <a:r>
              <a:rPr lang="en-US" sz="1800" b="1" dirty="0">
                <a:solidFill>
                  <a:srgbClr val="1F1F1F"/>
                </a:solidFill>
                <a:latin typeface="Times New Roman" pitchFamily="34" charset="0"/>
                <a:ea typeface="Times New Roman" pitchFamily="34" charset="-122"/>
                <a:cs typeface="Times New Roman" pitchFamily="34" charset="-120"/>
              </a:rPr>
              <a:t>State tracking:</a:t>
            </a:r>
            <a:r>
              <a:rPr lang="en-US" sz="1800" dirty="0">
                <a:solidFill>
                  <a:srgbClr val="1F1F1F"/>
                </a:solidFill>
                <a:latin typeface="Times New Roman" pitchFamily="34" charset="0"/>
                <a:ea typeface="Times New Roman" pitchFamily="34" charset="-122"/>
                <a:cs typeface="Times New Roman" pitchFamily="34" charset="-120"/>
              </a:rPr>
              <a:t> keeping a running summary of a sequence, e.g. where objects are after a series of moves</a:t>
            </a:r>
            <a:endParaRPr lang="en-US" sz="1800" dirty="0"/>
          </a:p>
          <a:p>
            <a:pPr marL="342900" indent="-342900">
              <a:spcAft>
                <a:spcPts val="1000"/>
              </a:spcAft>
              <a:buSzPct val="100000"/>
              <a:buChar char="•"/>
            </a:pPr>
            <a:r>
              <a:rPr lang="en-US" sz="1800" b="1" dirty="0">
                <a:solidFill>
                  <a:srgbClr val="1F1F1F"/>
                </a:solidFill>
                <a:latin typeface="Times New Roman" pitchFamily="34" charset="0"/>
                <a:ea typeface="Times New Roman" pitchFamily="34" charset="-122"/>
                <a:cs typeface="Times New Roman" pitchFamily="34" charset="-120"/>
              </a:rPr>
              <a:t>Linear RNNs</a:t>
            </a:r>
            <a:r>
              <a:rPr lang="en-US" sz="1800" dirty="0">
                <a:solidFill>
                  <a:srgbClr val="1F1F1F"/>
                </a:solidFill>
                <a:latin typeface="Times New Roman" pitchFamily="34" charset="0"/>
                <a:ea typeface="Times New Roman" pitchFamily="34" charset="-122"/>
                <a:cs typeface="Times New Roman" pitchFamily="34" charset="-120"/>
              </a:rPr>
              <a:t> keep a fixed-size state: linear cost, constant memory</a:t>
            </a:r>
            <a:endParaRPr lang="en-US" sz="1800" dirty="0"/>
          </a:p>
          <a:p>
            <a:pPr marL="342900" indent="-342900">
              <a:spcAft>
                <a:spcPts val="10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What they can track depends on the </a:t>
            </a:r>
            <a:r>
              <a:rPr lang="en-US" sz="1800" b="1" dirty="0">
                <a:solidFill>
                  <a:srgbClr val="1F1F1F"/>
                </a:solidFill>
                <a:latin typeface="Times New Roman" pitchFamily="34" charset="0"/>
                <a:ea typeface="Times New Roman" pitchFamily="34" charset="-122"/>
                <a:cs typeface="Times New Roman" pitchFamily="34" charset="-120"/>
              </a:rPr>
              <a:t>state-transition matrix</a:t>
            </a:r>
            <a:endParaRPr lang="en-US" sz="1800" dirty="0"/>
          </a:p>
          <a:p>
            <a:pPr marL="342900" indent="-342900">
              <a:spcAft>
                <a:spcPts val="1000"/>
              </a:spcAft>
              <a:buSzPct val="100000"/>
              <a:buChar char="•"/>
            </a:pPr>
            <a:r>
              <a:rPr lang="en-US" sz="1800" b="1" dirty="0">
                <a:solidFill>
                  <a:srgbClr val="1F1F1F"/>
                </a:solidFill>
                <a:latin typeface="Times New Roman" pitchFamily="34" charset="0"/>
                <a:ea typeface="Times New Roman" pitchFamily="34" charset="-122"/>
                <a:cs typeface="Times New Roman" pitchFamily="34" charset="-120"/>
              </a:rPr>
              <a:t>DeltaProduct</a:t>
            </a:r>
            <a:r>
              <a:rPr lang="en-US" sz="1800" dirty="0">
                <a:solidFill>
                  <a:srgbClr val="1F1F1F"/>
                </a:solidFill>
                <a:latin typeface="Times New Roman" pitchFamily="34" charset="0"/>
                <a:ea typeface="Times New Roman" pitchFamily="34" charset="-122"/>
                <a:cs typeface="Times New Roman" pitchFamily="34" charset="-120"/>
              </a:rPr>
              <a:t xml:space="preserve"> updates the memory in a few simple steps per token; each step is one </a:t>
            </a:r>
            <a:r>
              <a:rPr lang="en-US" sz="1800" b="1" dirty="0">
                <a:solidFill>
                  <a:srgbClr val="1F1F1F"/>
                </a:solidFill>
                <a:latin typeface="Times New Roman" pitchFamily="34" charset="0"/>
                <a:ea typeface="Times New Roman" pitchFamily="34" charset="-122"/>
                <a:cs typeface="Times New Roman" pitchFamily="34" charset="-120"/>
              </a:rPr>
              <a:t>Householder factor</a:t>
            </a:r>
            <a:endParaRPr lang="en-US" sz="1800" dirty="0"/>
          </a:p>
          <a:p>
            <a:pPr marL="342900" indent="-342900">
              <a:spcAft>
                <a:spcPts val="10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 xml:space="preserve">The number of steps, </a:t>
            </a:r>
            <a:r>
              <a:rPr lang="en-US" sz="1800" b="1" dirty="0">
                <a:solidFill>
                  <a:srgbClr val="1F1F1F"/>
                </a:solidFill>
                <a:latin typeface="Times New Roman" pitchFamily="34" charset="0"/>
                <a:ea typeface="Times New Roman" pitchFamily="34" charset="-122"/>
                <a:cs typeface="Times New Roman" pitchFamily="34" charset="-120"/>
              </a:rPr>
              <a:t>n</a:t>
            </a:r>
            <a:r>
              <a:rPr lang="en-US" sz="1800" b="1" baseline="-40000" dirty="0">
                <a:solidFill>
                  <a:srgbClr val="1F1F1F"/>
                </a:solidFill>
                <a:latin typeface="Times New Roman" pitchFamily="34" charset="0"/>
                <a:ea typeface="Times New Roman" pitchFamily="34" charset="-122"/>
                <a:cs typeface="Times New Roman" pitchFamily="34" charset="-120"/>
              </a:rPr>
              <a:t>h</a:t>
            </a:r>
            <a:r>
              <a:rPr lang="en-US" sz="1800" dirty="0">
                <a:solidFill>
                  <a:srgbClr val="1F1F1F"/>
                </a:solidFill>
                <a:latin typeface="Times New Roman" pitchFamily="34" charset="0"/>
                <a:ea typeface="Times New Roman" pitchFamily="34" charset="-122"/>
                <a:cs typeface="Times New Roman" pitchFamily="34" charset="-120"/>
              </a:rPr>
              <a:t xml:space="preserve">, is </a:t>
            </a:r>
            <a:r>
              <a:rPr lang="en-US" sz="1800" b="1" dirty="0">
                <a:solidFill>
                  <a:srgbClr val="1F1F1F"/>
                </a:solidFill>
                <a:latin typeface="Times New Roman" pitchFamily="34" charset="0"/>
                <a:ea typeface="Times New Roman" pitchFamily="34" charset="-122"/>
                <a:cs typeface="Times New Roman" pitchFamily="34" charset="-120"/>
              </a:rPr>
              <a:t>fixed by hand and the same for every token</a:t>
            </a:r>
            <a:r>
              <a:rPr lang="en-US" sz="1800" dirty="0">
                <a:solidFill>
                  <a:srgbClr val="1F1F1F"/>
                </a:solidFill>
                <a:latin typeface="Times New Roman" pitchFamily="34" charset="0"/>
                <a:ea typeface="Times New Roman" pitchFamily="34" charset="-122"/>
                <a:cs typeface="Times New Roman" pitchFamily="34" charset="-120"/>
              </a:rPr>
              <a:t>: more steps track harder tasks but cost more</a:t>
            </a:r>
            <a:endParaRPr lang="en-US" sz="1800" dirty="0"/>
          </a:p>
        </p:txBody>
      </p:sp>
      <p:pic>
        <p:nvPicPr>
          <p:cNvPr id="6" name="Image 1" descr="/tmp/claude-0/-home-claude/23da7219-ccd0-5cfb-a54f-b2b098f81b46/scratchpad/ppt/img/task.png"/>
          <p:cNvPicPr>
            <a:picLocks noChangeAspect="1"/>
          </p:cNvPicPr>
          <p:nvPr/>
        </p:nvPicPr>
        <p:blipFill>
          <a:blip r:embed="rId4"/>
          <a:stretch>
            <a:fillRect/>
          </a:stretch>
        </p:blipFill>
        <p:spPr>
          <a:xfrm>
            <a:off x="914400" y="3493008"/>
            <a:ext cx="7315200" cy="969264"/>
          </a:xfrm>
          <a:prstGeom prst="rect">
            <a:avLst/>
          </a:prstGeom>
        </p:spPr>
      </p:pic>
      <p:sp>
        <p:nvSpPr>
          <p:cNvPr id="7" name="Text 3"/>
          <p:cNvSpPr txBox="1"/>
          <p:nvPr/>
        </p:nvSpPr>
        <p:spPr>
          <a:xfrm>
            <a:off x="457200" y="4526280"/>
            <a:ext cx="8229600" cy="274320"/>
          </a:xfrm>
          <a:prstGeom prst="rect">
            <a:avLst/>
          </a:prstGeom>
          <a:noFill/>
          <a:ln/>
        </p:spPr>
        <p:txBody>
          <a:bodyPr wrap="square" lIns="0" tIns="0" rIns="0" bIns="0" rtlCol="0" anchor="t"/>
          <a:lstStyle/>
          <a:p>
            <a:pPr marL="0" indent="0" algn="ctr">
              <a:buNone/>
            </a:pPr>
            <a:r>
              <a:rPr lang="en-US" sz="1100" i="1" dirty="0">
                <a:solidFill>
                  <a:srgbClr val="5A5A5A"/>
                </a:solidFill>
                <a:latin typeface="Times New Roman" pitchFamily="34" charset="0"/>
                <a:ea typeface="Times New Roman" pitchFamily="34" charset="-122"/>
                <a:cs typeface="Times New Roman" pitchFamily="34" charset="-120"/>
              </a:rPr>
              <a:t>Group word problem: each token rearranges five items; the model outputs the arrangement after every token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Introduction: Motivation</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4</a:t>
            </a:r>
            <a:endParaRPr lang="en-US" sz="1000" dirty="0"/>
          </a:p>
        </p:txBody>
      </p:sp>
      <p:sp>
        <p:nvSpPr>
          <p:cNvPr id="5" name="Text 2"/>
          <p:cNvSpPr txBox="1"/>
          <p:nvPr/>
        </p:nvSpPr>
        <p:spPr>
          <a:xfrm>
            <a:off x="411480" y="731520"/>
            <a:ext cx="8321040" cy="640080"/>
          </a:xfrm>
          <a:prstGeom prst="rect">
            <a:avLst/>
          </a:prstGeom>
          <a:noFill/>
          <a:ln/>
        </p:spPr>
        <p:txBody>
          <a:bodyPr wrap="square" lIns="0" tIns="0" rIns="0" bIns="0" rtlCol="0" anchor="t"/>
          <a:lstStyle/>
          <a:p>
            <a:pPr marL="0" indent="0" algn="l">
              <a:buNone/>
            </a:pPr>
            <a:r>
              <a:rPr lang="en-US" sz="2000" i="1" dirty="0">
                <a:solidFill>
                  <a:srgbClr val="1F4E96"/>
                </a:solidFill>
                <a:latin typeface="Times New Roman" pitchFamily="34" charset="0"/>
                <a:ea typeface="Times New Roman" pitchFamily="34" charset="-122"/>
                <a:cs typeface="Times New Roman" pitchFamily="34" charset="-120"/>
              </a:rPr>
              <a:t>Tokens differ in how much work they need: swapping two items is simpler than cycling five</a:t>
            </a:r>
            <a:endParaRPr lang="en-US" sz="2000" dirty="0"/>
          </a:p>
        </p:txBody>
      </p:sp>
      <p:sp>
        <p:nvSpPr>
          <p:cNvPr id="6" name="Shape 3"/>
          <p:cNvSpPr/>
          <p:nvPr/>
        </p:nvSpPr>
        <p:spPr>
          <a:xfrm>
            <a:off x="411480" y="1554480"/>
            <a:ext cx="2651760" cy="2926080"/>
          </a:xfrm>
          <a:prstGeom prst="roundRect">
            <a:avLst>
              <a:gd name="adj" fmla="val 2759"/>
            </a:avLst>
          </a:prstGeom>
          <a:solidFill>
            <a:srgbClr val="F2F4F8"/>
          </a:solidFill>
          <a:ln w="12700">
            <a:solidFill>
              <a:srgbClr val="C9D4EA"/>
            </a:solidFill>
            <a:prstDash val="solid"/>
          </a:ln>
        </p:spPr>
      </p:sp>
      <p:sp>
        <p:nvSpPr>
          <p:cNvPr id="7" name="Text 4"/>
          <p:cNvSpPr txBox="1"/>
          <p:nvPr/>
        </p:nvSpPr>
        <p:spPr>
          <a:xfrm>
            <a:off x="594360" y="1737360"/>
            <a:ext cx="2286000" cy="457200"/>
          </a:xfrm>
          <a:prstGeom prst="rect">
            <a:avLst/>
          </a:prstGeom>
          <a:noFill/>
          <a:ln/>
        </p:spPr>
        <p:txBody>
          <a:bodyPr wrap="square" lIns="0" tIns="0" rIns="0" bIns="0" rtlCol="0" anchor="t"/>
          <a:lstStyle/>
          <a:p>
            <a:pPr marL="0" indent="0" algn="l">
              <a:buNone/>
            </a:pPr>
            <a:r>
              <a:rPr lang="en-US" sz="2000" b="1" dirty="0">
                <a:solidFill>
                  <a:srgbClr val="C0591C"/>
                </a:solidFill>
                <a:latin typeface="Times New Roman" pitchFamily="34" charset="0"/>
                <a:ea typeface="Times New Roman" pitchFamily="34" charset="-122"/>
                <a:cs typeface="Times New Roman" pitchFamily="34" charset="-120"/>
              </a:rPr>
              <a:t>Efficiency</a:t>
            </a:r>
            <a:endParaRPr lang="en-US" sz="2000" dirty="0"/>
          </a:p>
        </p:txBody>
      </p:sp>
      <p:sp>
        <p:nvSpPr>
          <p:cNvPr id="8" name="Text 5"/>
          <p:cNvSpPr txBox="1"/>
          <p:nvPr/>
        </p:nvSpPr>
        <p:spPr>
          <a:xfrm>
            <a:off x="548640" y="2331720"/>
            <a:ext cx="2377440" cy="2011680"/>
          </a:xfrm>
          <a:prstGeom prst="rect">
            <a:avLst/>
          </a:prstGeom>
          <a:noFill/>
          <a:ln/>
        </p:spPr>
        <p:txBody>
          <a:bodyPr wrap="square" lIns="25400" tIns="25400" rIns="25400" bIns="25400" rtlCol="0" anchor="t"/>
          <a:lstStyle/>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A fixed n</a:t>
            </a:r>
            <a:r>
              <a:rPr lang="en-US" sz="1600" baseline="-40000" dirty="0">
                <a:solidFill>
                  <a:srgbClr val="1F1F1F"/>
                </a:solidFill>
                <a:latin typeface="Times New Roman" pitchFamily="34" charset="0"/>
                <a:ea typeface="Times New Roman" pitchFamily="34" charset="-122"/>
                <a:cs typeface="Times New Roman" pitchFamily="34" charset="-120"/>
              </a:rPr>
              <a:t>h</a:t>
            </a:r>
            <a:r>
              <a:rPr lang="en-US" sz="1600" dirty="0">
                <a:solidFill>
                  <a:srgbClr val="1F1F1F"/>
                </a:solidFill>
                <a:latin typeface="Times New Roman" pitchFamily="34" charset="0"/>
                <a:ea typeface="Times New Roman" pitchFamily="34" charset="-122"/>
                <a:cs typeface="Times New Roman" pitchFamily="34" charset="-120"/>
              </a:rPr>
              <a:t> pays for the hardest token on every token</a:t>
            </a:r>
            <a:endParaRPr lang="en-US" sz="1600" dirty="0"/>
          </a:p>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Per-token order pays the average instead</a:t>
            </a:r>
            <a:endParaRPr lang="en-US" sz="1600" dirty="0"/>
          </a:p>
        </p:txBody>
      </p:sp>
      <p:sp>
        <p:nvSpPr>
          <p:cNvPr id="9" name="Shape 6"/>
          <p:cNvSpPr/>
          <p:nvPr/>
        </p:nvSpPr>
        <p:spPr>
          <a:xfrm>
            <a:off x="3246120" y="1554480"/>
            <a:ext cx="2651760" cy="2926080"/>
          </a:xfrm>
          <a:prstGeom prst="roundRect">
            <a:avLst>
              <a:gd name="adj" fmla="val 2759"/>
            </a:avLst>
          </a:prstGeom>
          <a:solidFill>
            <a:srgbClr val="F2F4F8"/>
          </a:solidFill>
          <a:ln w="12700">
            <a:solidFill>
              <a:srgbClr val="C9D4EA"/>
            </a:solidFill>
            <a:prstDash val="solid"/>
          </a:ln>
        </p:spPr>
      </p:sp>
      <p:sp>
        <p:nvSpPr>
          <p:cNvPr id="10" name="Text 7"/>
          <p:cNvSpPr txBox="1"/>
          <p:nvPr/>
        </p:nvSpPr>
        <p:spPr>
          <a:xfrm>
            <a:off x="3429000" y="1737360"/>
            <a:ext cx="2286000" cy="457200"/>
          </a:xfrm>
          <a:prstGeom prst="rect">
            <a:avLst/>
          </a:prstGeom>
          <a:noFill/>
          <a:ln/>
        </p:spPr>
        <p:txBody>
          <a:bodyPr wrap="square" lIns="0" tIns="0" rIns="0" bIns="0" rtlCol="0" anchor="t"/>
          <a:lstStyle/>
          <a:p>
            <a:pPr marL="0" indent="0" algn="l">
              <a:buNone/>
            </a:pPr>
            <a:r>
              <a:rPr lang="en-US" sz="2000" b="1" dirty="0">
                <a:solidFill>
                  <a:srgbClr val="C0591C"/>
                </a:solidFill>
                <a:latin typeface="Times New Roman" pitchFamily="34" charset="0"/>
                <a:ea typeface="Times New Roman" pitchFamily="34" charset="-122"/>
                <a:cs typeface="Times New Roman" pitchFamily="34" charset="-120"/>
              </a:rPr>
              <a:t>An unguessable setting</a:t>
            </a:r>
            <a:endParaRPr lang="en-US" sz="2000" dirty="0"/>
          </a:p>
        </p:txBody>
      </p:sp>
      <p:sp>
        <p:nvSpPr>
          <p:cNvPr id="11" name="Text 8"/>
          <p:cNvSpPr txBox="1"/>
          <p:nvPr/>
        </p:nvSpPr>
        <p:spPr>
          <a:xfrm>
            <a:off x="3383280" y="2331720"/>
            <a:ext cx="2377440" cy="2011680"/>
          </a:xfrm>
          <a:prstGeom prst="rect">
            <a:avLst/>
          </a:prstGeom>
          <a:noFill/>
          <a:ln/>
        </p:spPr>
        <p:txBody>
          <a:bodyPr wrap="square" lIns="25400" tIns="25400" rIns="25400" bIns="25400" rtlCol="0" anchor="t"/>
          <a:lstStyle/>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The right n</a:t>
            </a:r>
            <a:r>
              <a:rPr lang="en-US" sz="1600" baseline="-40000" dirty="0">
                <a:solidFill>
                  <a:srgbClr val="1F1F1F"/>
                </a:solidFill>
                <a:latin typeface="Times New Roman" pitchFamily="34" charset="0"/>
                <a:ea typeface="Times New Roman" pitchFamily="34" charset="-122"/>
                <a:cs typeface="Times New Roman" pitchFamily="34" charset="-120"/>
              </a:rPr>
              <a:t>h</a:t>
            </a:r>
            <a:r>
              <a:rPr lang="en-US" sz="1600" dirty="0">
                <a:solidFill>
                  <a:srgbClr val="1F1F1F"/>
                </a:solidFill>
                <a:latin typeface="Times New Roman" pitchFamily="34" charset="0"/>
                <a:ea typeface="Times New Roman" pitchFamily="34" charset="-122"/>
                <a:cs typeface="Times New Roman" pitchFamily="34" charset="-120"/>
              </a:rPr>
              <a:t> depends on the whole input alphabet</a:t>
            </a:r>
            <a:endParaRPr lang="en-US" sz="1600" dirty="0"/>
          </a:p>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Too small fails; too large wastes compute</a:t>
            </a:r>
            <a:endParaRPr lang="en-US" sz="1600" dirty="0"/>
          </a:p>
        </p:txBody>
      </p:sp>
      <p:sp>
        <p:nvSpPr>
          <p:cNvPr id="12" name="Shape 9"/>
          <p:cNvSpPr/>
          <p:nvPr/>
        </p:nvSpPr>
        <p:spPr>
          <a:xfrm>
            <a:off x="6080760" y="1554480"/>
            <a:ext cx="2651760" cy="2926080"/>
          </a:xfrm>
          <a:prstGeom prst="roundRect">
            <a:avLst>
              <a:gd name="adj" fmla="val 2759"/>
            </a:avLst>
          </a:prstGeom>
          <a:solidFill>
            <a:srgbClr val="E3ECF9"/>
          </a:solidFill>
          <a:ln w="12700">
            <a:solidFill>
              <a:srgbClr val="C9D4EA"/>
            </a:solidFill>
            <a:prstDash val="solid"/>
          </a:ln>
        </p:spPr>
      </p:sp>
      <p:sp>
        <p:nvSpPr>
          <p:cNvPr id="13" name="Text 10"/>
          <p:cNvSpPr txBox="1"/>
          <p:nvPr/>
        </p:nvSpPr>
        <p:spPr>
          <a:xfrm>
            <a:off x="6263640" y="1737360"/>
            <a:ext cx="2286000" cy="457200"/>
          </a:xfrm>
          <a:prstGeom prst="rect">
            <a:avLst/>
          </a:prstGeom>
          <a:noFill/>
          <a:ln/>
        </p:spPr>
        <p:txBody>
          <a:bodyPr wrap="square" lIns="0" tIns="0" rIns="0" bIns="0" rtlCol="0" anchor="t"/>
          <a:lstStyle/>
          <a:p>
            <a:pPr marL="0" indent="0" algn="l">
              <a:buNone/>
            </a:pPr>
            <a:r>
              <a:rPr lang="en-US" sz="2000" b="1" dirty="0">
                <a:solidFill>
                  <a:srgbClr val="1F4E96"/>
                </a:solidFill>
                <a:latin typeface="Times New Roman" pitchFamily="34" charset="0"/>
                <a:ea typeface="Times New Roman" pitchFamily="34" charset="-122"/>
                <a:cs typeface="Times New Roman" pitchFamily="34" charset="-120"/>
              </a:rPr>
              <a:t>This project</a:t>
            </a:r>
            <a:endParaRPr lang="en-US" sz="2000" dirty="0"/>
          </a:p>
        </p:txBody>
      </p:sp>
      <p:sp>
        <p:nvSpPr>
          <p:cNvPr id="14" name="Text 11"/>
          <p:cNvSpPr txBox="1"/>
          <p:nvPr/>
        </p:nvSpPr>
        <p:spPr>
          <a:xfrm>
            <a:off x="6217920" y="2331720"/>
            <a:ext cx="2377440" cy="2011680"/>
          </a:xfrm>
          <a:prstGeom prst="rect">
            <a:avLst/>
          </a:prstGeom>
          <a:noFill/>
          <a:ln/>
        </p:spPr>
        <p:txBody>
          <a:bodyPr wrap="square" lIns="25400" tIns="25400" rIns="25400" bIns="25400" rtlCol="0" anchor="t"/>
          <a:lstStyle/>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Find how many factors each token needs</a:t>
            </a:r>
            <a:endParaRPr lang="en-US" sz="1600" dirty="0"/>
          </a:p>
          <a:p>
            <a:pPr marL="342900" indent="-342900">
              <a:spcAft>
                <a:spcPts val="1000"/>
              </a:spcAft>
              <a:buSzPct val="100000"/>
              <a:buChar char="•"/>
            </a:pPr>
            <a:r>
              <a:rPr lang="en-US" sz="1600" dirty="0">
                <a:solidFill>
                  <a:srgbClr val="1F1F1F"/>
                </a:solidFill>
                <a:latin typeface="Times New Roman" pitchFamily="34" charset="0"/>
                <a:ea typeface="Times New Roman" pitchFamily="34" charset="-122"/>
                <a:cs typeface="Times New Roman" pitchFamily="34" charset="-120"/>
              </a:rPr>
              <a:t>Let a learned gate choose it per token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Literature Survey</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5</a:t>
            </a:r>
            <a:endParaRPr lang="en-US" sz="1000" dirty="0"/>
          </a:p>
        </p:txBody>
      </p:sp>
      <p:sp>
        <p:nvSpPr>
          <p:cNvPr id="5" name="Text 2"/>
          <p:cNvSpPr txBox="1"/>
          <p:nvPr/>
        </p:nvSpPr>
        <p:spPr>
          <a:xfrm>
            <a:off x="320040" y="685800"/>
            <a:ext cx="8503920" cy="411480"/>
          </a:xfrm>
          <a:prstGeom prst="rect">
            <a:avLst/>
          </a:prstGeom>
          <a:noFill/>
          <a:ln/>
        </p:spPr>
        <p:txBody>
          <a:bodyPr wrap="square" lIns="0" tIns="0" rIns="0" bIns="0" rtlCol="0" anchor="t"/>
          <a:lstStyle/>
          <a:p>
            <a:pPr marL="0" indent="0" algn="l">
              <a:buNone/>
            </a:pPr>
            <a:r>
              <a:rPr lang="en-US" sz="2200" i="1" dirty="0">
                <a:solidFill>
                  <a:srgbClr val="1F4E96"/>
                </a:solidFill>
                <a:latin typeface="Times New Roman" pitchFamily="34" charset="0"/>
                <a:ea typeface="Times New Roman" pitchFamily="34" charset="-122"/>
                <a:cs typeface="Times New Roman" pitchFamily="34" charset="-120"/>
              </a:rPr>
              <a:t>Linear Attention and the Delta Rule</a:t>
            </a:r>
            <a:endParaRPr lang="en-US" sz="2200" dirty="0"/>
          </a:p>
        </p:txBody>
      </p:sp>
      <p:sp>
        <p:nvSpPr>
          <p:cNvPr id="6" name="Text 3"/>
          <p:cNvSpPr txBox="1"/>
          <p:nvPr/>
        </p:nvSpPr>
        <p:spPr>
          <a:xfrm>
            <a:off x="411480" y="1097280"/>
            <a:ext cx="3657600" cy="365760"/>
          </a:xfrm>
          <a:prstGeom prst="rect">
            <a:avLst/>
          </a:prstGeom>
          <a:noFill/>
          <a:ln/>
        </p:spPr>
        <p:txBody>
          <a:bodyPr wrap="square" lIns="0" tIns="0" rIns="0" bIns="0" rtlCol="0" anchor="t"/>
          <a:lstStyle/>
          <a:p>
            <a:pPr marL="0" indent="0" algn="l">
              <a:buNone/>
            </a:pPr>
            <a:r>
              <a:rPr lang="en-US" sz="2200" b="1" dirty="0">
                <a:solidFill>
                  <a:srgbClr val="C0591C"/>
                </a:solidFill>
                <a:latin typeface="Times New Roman" pitchFamily="34" charset="0"/>
                <a:ea typeface="Times New Roman" pitchFamily="34" charset="-122"/>
                <a:cs typeface="Times New Roman" pitchFamily="34" charset="-120"/>
              </a:rPr>
              <a:t>Key Points</a:t>
            </a:r>
            <a:endParaRPr lang="en-US" sz="2200" dirty="0"/>
          </a:p>
        </p:txBody>
      </p:sp>
      <p:sp>
        <p:nvSpPr>
          <p:cNvPr id="7" name="Text 4"/>
          <p:cNvSpPr txBox="1"/>
          <p:nvPr/>
        </p:nvSpPr>
        <p:spPr>
          <a:xfrm>
            <a:off x="411480" y="1508760"/>
            <a:ext cx="8321040" cy="1600200"/>
          </a:xfrm>
          <a:prstGeom prst="rect">
            <a:avLst/>
          </a:prstGeom>
          <a:noFill/>
          <a:ln/>
        </p:spPr>
        <p:txBody>
          <a:bodyPr wrap="square" lIns="25400" tIns="25400" rIns="25400" bIns="25400" rtlCol="0" anchor="t"/>
          <a:lstStyle/>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Katharopoulos et al. [3]: linear attention is an RNN with a matrix-valued state, but it can only add</a:t>
            </a:r>
          </a:p>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 xml:space="preserve">Schlag et al. [4] introduce the </a:t>
            </a:r>
            <a:r>
              <a:rPr lang="en-US" sz="1800" b="1" dirty="0">
                <a:solidFill>
                  <a:srgbClr val="1F1F1F"/>
                </a:solidFill>
                <a:latin typeface="Times New Roman" pitchFamily="34" charset="0"/>
                <a:ea typeface="Times New Roman" pitchFamily="34" charset="-122"/>
                <a:cs typeface="Times New Roman" pitchFamily="34" charset="-120"/>
              </a:rPr>
              <a:t>delta rule</a:t>
            </a:r>
            <a:r>
              <a:rPr lang="en-US" sz="1800" dirty="0">
                <a:solidFill>
                  <a:srgbClr val="1F1F1F"/>
                </a:solidFill>
                <a:latin typeface="Times New Roman" pitchFamily="34" charset="0"/>
                <a:ea typeface="Times New Roman" pitchFamily="34" charset="-122"/>
                <a:cs typeface="Times New Roman" pitchFamily="34" charset="-120"/>
              </a:rPr>
              <a:t>: erase the old value, then write the new one</a:t>
            </a:r>
          </a:p>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Yang et al. [5] make the delta rule trainable at scale (DeltaNet)</a:t>
            </a:r>
          </a:p>
        </p:txBody>
      </p:sp>
      <p:sp>
        <p:nvSpPr>
          <p:cNvPr id="40" name="Equation card"/>
          <p:cNvSpPr/>
          <p:nvPr/>
        </p:nvSpPr>
        <p:spPr>
          <a:xfrm>
            <a:off x="411480" y="3154680"/>
            <a:ext cx="8321040" cy="1572768"/>
          </a:xfrm>
          <a:prstGeom prst="roundRect">
            <a:avLst>
              <a:gd name="adj" fmla="val 6000"/>
            </a:avLst>
          </a:prstGeom>
          <a:solidFill>
            <a:srgbClr val="F2F4F8"/>
          </a:solidFill>
          <a:ln w="12700">
            <a:solidFill>
              <a:srgbClr val="C9D4EA"/>
            </a:solidFill>
          </a:ln>
        </p:spPr>
        <p:txBody>
          <a:bodyPr wrap="square" lIns="137160" tIns="64008" rIns="91440" bIns="45720" anchor="t"/>
          <a:lstStyle/>
          <a:p>
            <a:pPr>
              <a:spcAft>
                <a:spcPts val="0"/>
              </a:spcAft>
            </a:pPr>
            <a:r>
              <a:rPr lang="en-US" sz="1500" b="1" dirty="0">
                <a:solidFill>
                  <a:srgbClr val="C0591C"/>
                </a:solidFill>
                <a:latin typeface="Times New Roman" pitchFamily="34" charset="0"/>
                <a:ea typeface="Times New Roman" pitchFamily="34" charset="-122"/>
                <a:cs typeface="Times New Roman" pitchFamily="34" charset="-120"/>
              </a:rPr>
              <a:t>The delta rule: memory update for token t</a:t>
            </a:r>
          </a:p>
        </p:txBody>
      </p:sp>
      <p:pic>
        <p:nvPicPr>
          <p:cNvPr id="41" name="The delta rule: memory update for token t equation" descr="The delta rule: memory update for token t equation"/>
          <p:cNvPicPr>
            <a:picLocks noChangeAspect="1"/>
          </p:cNvPicPr>
          <p:nvPr/>
        </p:nvPicPr>
        <p:blipFill>
          <a:blip r:embed="rIdEq1"/>
          <a:stretch>
            <a:fillRect/>
          </a:stretch>
        </p:blipFill>
        <p:spPr>
          <a:xfrm>
            <a:off x="685800" y="3508822"/>
            <a:ext cx="3566160" cy="1157093"/>
          </a:xfrm>
          <a:prstGeom prst="rect">
            <a:avLst/>
          </a:prstGeom>
        </p:spPr>
      </p:pic>
      <p:sp>
        <p:nvSpPr>
          <p:cNvPr id="42" name="Equation key"/>
          <p:cNvSpPr txBox="1"/>
          <p:nvPr/>
        </p:nvSpPr>
        <p:spPr>
          <a:xfrm>
            <a:off x="4572000" y="3429000"/>
            <a:ext cx="4023360" cy="1207008"/>
          </a:xfrm>
          <a:prstGeom prst="rect">
            <a:avLst/>
          </a:prstGeom>
          <a:noFill/>
        </p:spPr>
        <p:txBody>
          <a:bodyPr wrap="square" lIns="45720" tIns="0" rIns="0" bIns="0" anchor="ctr"/>
          <a:lstStyle/>
          <a:p>
            <a:pPr>
              <a:spcAft>
                <a:spcPts val="200"/>
              </a:spcAft>
            </a:pPr>
            <a:r>
              <a:rPr lang="en-US" sz="1400" b="1" i="1" dirty="0">
                <a:solidFill>
                  <a:srgbClr val="1F1F1F"/>
                </a:solidFill>
                <a:latin typeface="Times New Roman" pitchFamily="34" charset="0"/>
                <a:ea typeface="Times New Roman" pitchFamily="34" charset="-122"/>
                <a:cs typeface="Times New Roman" pitchFamily="34" charset="-120"/>
              </a:rPr>
              <a:t>S</a:t>
            </a:r>
            <a:r>
              <a:rPr lang="en-US" sz="1400" dirty="0">
                <a:solidFill>
                  <a:srgbClr val="1F1F1F"/>
                </a:solidFill>
                <a:latin typeface="Times New Roman" pitchFamily="34" charset="0"/>
                <a:ea typeface="Times New Roman" pitchFamily="34" charset="-122"/>
                <a:cs typeface="Times New Roman" pitchFamily="34" charset="-120"/>
              </a:rPr>
              <a:t>: memory state (a matrix)</a:t>
            </a:r>
          </a:p>
          <a:p>
            <a:pPr>
              <a:spcAft>
                <a:spcPts val="200"/>
              </a:spcAft>
            </a:pPr>
            <a:r>
              <a:rPr lang="en-US" sz="1400" b="1" i="1" dirty="0">
                <a:solidFill>
                  <a:srgbClr val="1F1F1F"/>
                </a:solidFill>
                <a:latin typeface="Times New Roman" pitchFamily="34" charset="0"/>
                <a:ea typeface="Times New Roman" pitchFamily="34" charset="-122"/>
                <a:cs typeface="Times New Roman" pitchFamily="34" charset="-120"/>
              </a:rPr>
              <a:t>k</a:t>
            </a:r>
            <a:r>
              <a:rPr lang="en-US" sz="1400" dirty="0">
                <a:solidFill>
                  <a:srgbClr val="1F1F1F"/>
                </a:solidFill>
                <a:latin typeface="Times New Roman" pitchFamily="34" charset="0"/>
                <a:ea typeface="Times New Roman" pitchFamily="34" charset="-122"/>
                <a:cs typeface="Times New Roman" pitchFamily="34" charset="-120"/>
              </a:rPr>
              <a:t>: key, the direction updated</a:t>
            </a:r>
          </a:p>
          <a:p>
            <a:pPr>
              <a:spcAft>
                <a:spcPts val="200"/>
              </a:spcAft>
            </a:pPr>
            <a:r>
              <a:rPr lang="en-US" sz="1400" b="1" i="1" dirty="0">
                <a:solidFill>
                  <a:srgbClr val="1F1F1F"/>
                </a:solidFill>
                <a:latin typeface="Times New Roman" pitchFamily="34" charset="0"/>
                <a:ea typeface="Times New Roman" pitchFamily="34" charset="-122"/>
                <a:cs typeface="Times New Roman" pitchFamily="34" charset="-120"/>
              </a:rPr>
              <a:t>v</a:t>
            </a:r>
            <a:r>
              <a:rPr lang="en-US" sz="1400" dirty="0">
                <a:solidFill>
                  <a:srgbClr val="1F1F1F"/>
                </a:solidFill>
                <a:latin typeface="Times New Roman" pitchFamily="34" charset="0"/>
                <a:ea typeface="Times New Roman" pitchFamily="34" charset="-122"/>
                <a:cs typeface="Times New Roman" pitchFamily="34" charset="-120"/>
              </a:rPr>
              <a:t>: value written into memory</a:t>
            </a:r>
          </a:p>
          <a:p>
            <a:pPr>
              <a:spcAft>
                <a:spcPts val="200"/>
              </a:spcAft>
            </a:pPr>
            <a:r>
              <a:rPr lang="en-US" sz="1400" b="1" i="1" dirty="0">
                <a:solidFill>
                  <a:srgbClr val="1F1F1F"/>
                </a:solidFill>
                <a:latin typeface="Times New Roman" pitchFamily="34" charset="0"/>
                <a:ea typeface="Times New Roman" pitchFamily="34" charset="-122"/>
                <a:cs typeface="Times New Roman" pitchFamily="34" charset="-120"/>
              </a:rPr>
              <a:t>β</a:t>
            </a:r>
            <a:r>
              <a:rPr lang="en-US" sz="1400" dirty="0">
                <a:solidFill>
                  <a:srgbClr val="1F1F1F"/>
                </a:solidFill>
                <a:latin typeface="Times New Roman" pitchFamily="34" charset="0"/>
                <a:ea typeface="Times New Roman" pitchFamily="34" charset="-122"/>
                <a:cs typeface="Times New Roman" pitchFamily="34" charset="-120"/>
              </a:rPr>
              <a:t>: strength of the update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Literature Survey Contd.</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6</a:t>
            </a:r>
            <a:endParaRPr lang="en-US" sz="1000" dirty="0"/>
          </a:p>
        </p:txBody>
      </p:sp>
      <p:sp>
        <p:nvSpPr>
          <p:cNvPr id="5" name="Text 2"/>
          <p:cNvSpPr txBox="1"/>
          <p:nvPr/>
        </p:nvSpPr>
        <p:spPr>
          <a:xfrm>
            <a:off x="320040" y="685800"/>
            <a:ext cx="8503920" cy="411480"/>
          </a:xfrm>
          <a:prstGeom prst="rect">
            <a:avLst/>
          </a:prstGeom>
          <a:noFill/>
          <a:ln/>
        </p:spPr>
        <p:txBody>
          <a:bodyPr wrap="square" lIns="0" tIns="0" rIns="0" bIns="0" rtlCol="0" anchor="t"/>
          <a:lstStyle/>
          <a:p>
            <a:pPr marL="0" indent="0" algn="l">
              <a:buNone/>
            </a:pPr>
            <a:r>
              <a:rPr lang="en-US" sz="2200" i="1" dirty="0">
                <a:solidFill>
                  <a:srgbClr val="1F4E96"/>
                </a:solidFill>
                <a:latin typeface="Times New Roman" pitchFamily="34" charset="0"/>
                <a:ea typeface="Times New Roman" pitchFamily="34" charset="-122"/>
                <a:cs typeface="Times New Roman" pitchFamily="34" charset="-120"/>
              </a:rPr>
              <a:t>Negative Eigenvalues and Householder Products</a:t>
            </a:r>
            <a:endParaRPr lang="en-US" sz="2200" dirty="0"/>
          </a:p>
        </p:txBody>
      </p:sp>
      <p:sp>
        <p:nvSpPr>
          <p:cNvPr id="6" name="Text 3"/>
          <p:cNvSpPr txBox="1"/>
          <p:nvPr/>
        </p:nvSpPr>
        <p:spPr>
          <a:xfrm>
            <a:off x="411480" y="1097280"/>
            <a:ext cx="3657600" cy="365760"/>
          </a:xfrm>
          <a:prstGeom prst="rect">
            <a:avLst/>
          </a:prstGeom>
          <a:noFill/>
          <a:ln/>
        </p:spPr>
        <p:txBody>
          <a:bodyPr wrap="square" lIns="0" tIns="0" rIns="0" bIns="0" rtlCol="0" anchor="t"/>
          <a:lstStyle/>
          <a:p>
            <a:pPr marL="0" indent="0" algn="l">
              <a:buNone/>
            </a:pPr>
            <a:r>
              <a:rPr lang="en-US" sz="2200" b="1" dirty="0">
                <a:solidFill>
                  <a:srgbClr val="C0591C"/>
                </a:solidFill>
                <a:latin typeface="Times New Roman" pitchFamily="34" charset="0"/>
                <a:ea typeface="Times New Roman" pitchFamily="34" charset="-122"/>
                <a:cs typeface="Times New Roman" pitchFamily="34" charset="-120"/>
              </a:rPr>
              <a:t>Key Points</a:t>
            </a:r>
            <a:endParaRPr lang="en-US" sz="2200" dirty="0"/>
          </a:p>
        </p:txBody>
      </p:sp>
      <p:sp>
        <p:nvSpPr>
          <p:cNvPr id="7" name="Text 4"/>
          <p:cNvSpPr txBox="1"/>
          <p:nvPr/>
        </p:nvSpPr>
        <p:spPr>
          <a:xfrm>
            <a:off x="411480" y="1508760"/>
            <a:ext cx="8321040" cy="1600200"/>
          </a:xfrm>
          <a:prstGeom prst="rect">
            <a:avLst/>
          </a:prstGeom>
          <a:noFill/>
          <a:ln/>
        </p:spPr>
        <p:txBody>
          <a:bodyPr wrap="square" lIns="25400" tIns="25400" rIns="25400" bIns="25400" rtlCol="0" anchor="t"/>
          <a:lstStyle/>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Grazzi et al. [2]: letting β reach 2 (a reflection) lets linear RNNs solve parity</a:t>
            </a:r>
          </a:p>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 xml:space="preserve">Siems et al. [1] propose </a:t>
            </a:r>
            <a:r>
              <a:rPr lang="en-US" sz="1800" b="1" dirty="0">
                <a:solidFill>
                  <a:srgbClr val="1F1F1F"/>
                </a:solidFill>
                <a:latin typeface="Times New Roman" pitchFamily="34" charset="0"/>
                <a:ea typeface="Times New Roman" pitchFamily="34" charset="-122"/>
                <a:cs typeface="Times New Roman" pitchFamily="34" charset="-120"/>
              </a:rPr>
              <a:t>DeltaProduct</a:t>
            </a:r>
            <a:r>
              <a:rPr lang="en-US" sz="1800" dirty="0">
                <a:solidFill>
                  <a:srgbClr val="1F1F1F"/>
                </a:solidFill>
                <a:latin typeface="Times New Roman" pitchFamily="34" charset="0"/>
                <a:ea typeface="Times New Roman" pitchFamily="34" charset="-122"/>
                <a:cs typeface="Times New Roman" pitchFamily="34" charset="-120"/>
              </a:rPr>
              <a:t>: n</a:t>
            </a:r>
            <a:r>
              <a:rPr lang="en-US" sz="1800" baseline="-25000" dirty="0">
                <a:solidFill>
                  <a:srgbClr val="1F1F1F"/>
                </a:solidFill>
                <a:latin typeface="Times New Roman" pitchFamily="34" charset="0"/>
                <a:ea typeface="Times New Roman" pitchFamily="34" charset="-122"/>
                <a:cs typeface="Times New Roman" pitchFamily="34" charset="-120"/>
              </a:rPr>
              <a:t>h</a:t>
            </a:r>
            <a:r>
              <a:rPr lang="en-US" sz="1800" dirty="0">
                <a:solidFill>
                  <a:srgbClr val="1F1F1F"/>
                </a:solidFill>
                <a:latin typeface="Times New Roman" pitchFamily="34" charset="0"/>
                <a:ea typeface="Times New Roman" pitchFamily="34" charset="-122"/>
                <a:cs typeface="Times New Roman" pitchFamily="34" charset="-120"/>
              </a:rPr>
              <a:t xml:space="preserve"> Householder factors per token, tracking groups up to S</a:t>
            </a:r>
            <a:r>
              <a:rPr lang="en-US" sz="1800" baseline="-25000" dirty="0">
                <a:solidFill>
                  <a:srgbClr val="1F1F1F"/>
                </a:solidFill>
                <a:latin typeface="Times New Roman" pitchFamily="34" charset="0"/>
                <a:ea typeface="Times New Roman" pitchFamily="34" charset="-122"/>
                <a:cs typeface="Times New Roman" pitchFamily="34" charset="-120"/>
              </a:rPr>
              <a:t>5</a:t>
            </a:r>
          </a:p>
          <a:p>
            <a:pPr marL="342900" indent="-342900">
              <a:spcAft>
                <a:spcPts val="9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n</a:t>
            </a:r>
            <a:r>
              <a:rPr lang="en-US" sz="1800" baseline="-25000" dirty="0">
                <a:solidFill>
                  <a:srgbClr val="1F1F1F"/>
                </a:solidFill>
                <a:latin typeface="Times New Roman" pitchFamily="34" charset="0"/>
                <a:ea typeface="Times New Roman" pitchFamily="34" charset="-122"/>
                <a:cs typeface="Times New Roman" pitchFamily="34" charset="-120"/>
              </a:rPr>
              <a:t>h</a:t>
            </a:r>
            <a:r>
              <a:rPr lang="en-US" sz="1800" dirty="0">
                <a:solidFill>
                  <a:srgbClr val="1F1F1F"/>
                </a:solidFill>
                <a:latin typeface="Times New Roman" pitchFamily="34" charset="0"/>
                <a:ea typeface="Times New Roman" pitchFamily="34" charset="-122"/>
                <a:cs typeface="Times New Roman" pitchFamily="34" charset="-120"/>
              </a:rPr>
              <a:t xml:space="preserve"> is one global setting; the paper lists per-token order as future work</a:t>
            </a:r>
          </a:p>
        </p:txBody>
      </p:sp>
      <p:sp>
        <p:nvSpPr>
          <p:cNvPr id="40" name="Equation card"/>
          <p:cNvSpPr/>
          <p:nvPr/>
        </p:nvSpPr>
        <p:spPr>
          <a:xfrm>
            <a:off x="411480" y="3154680"/>
            <a:ext cx="8321040" cy="1572768"/>
          </a:xfrm>
          <a:prstGeom prst="roundRect">
            <a:avLst>
              <a:gd name="adj" fmla="val 6000"/>
            </a:avLst>
          </a:prstGeom>
          <a:solidFill>
            <a:srgbClr val="F2F4F8"/>
          </a:solidFill>
          <a:ln w="12700">
            <a:solidFill>
              <a:srgbClr val="C9D4EA"/>
            </a:solidFill>
          </a:ln>
        </p:spPr>
        <p:txBody>
          <a:bodyPr wrap="square" lIns="137160" tIns="64008" rIns="91440" bIns="45720" anchor="t"/>
          <a:lstStyle/>
          <a:p>
            <a:pPr>
              <a:spcAft>
                <a:spcPts val="0"/>
              </a:spcAft>
            </a:pPr>
            <a:r>
              <a:rPr lang="en-US" sz="1500" b="1" dirty="0">
                <a:solidFill>
                  <a:srgbClr val="C0591C"/>
                </a:solidFill>
                <a:latin typeface="Times New Roman" pitchFamily="34" charset="0"/>
                <a:ea typeface="Times New Roman" pitchFamily="34" charset="-122"/>
                <a:cs typeface="Times New Roman" pitchFamily="34" charset="-120"/>
              </a:rPr>
              <a:t>DeltaProduct: the transition for token t</a:t>
            </a:r>
          </a:p>
        </p:txBody>
      </p:sp>
      <p:pic>
        <p:nvPicPr>
          <p:cNvPr id="41" name="DeltaProduct: the transition for token t equation" descr="DeltaProduct: the transition for token t equation"/>
          <p:cNvPicPr>
            <a:picLocks noChangeAspect="1"/>
          </p:cNvPicPr>
          <p:nvPr/>
        </p:nvPicPr>
        <p:blipFill>
          <a:blip r:embed="rIdEq1"/>
          <a:stretch>
            <a:fillRect/>
          </a:stretch>
        </p:blipFill>
        <p:spPr>
          <a:xfrm>
            <a:off x="685800" y="3506938"/>
            <a:ext cx="3566160" cy="1160859"/>
          </a:xfrm>
          <a:prstGeom prst="rect">
            <a:avLst/>
          </a:prstGeom>
        </p:spPr>
      </p:pic>
      <p:sp>
        <p:nvSpPr>
          <p:cNvPr id="42" name="Equation key"/>
          <p:cNvSpPr txBox="1"/>
          <p:nvPr/>
        </p:nvSpPr>
        <p:spPr>
          <a:xfrm>
            <a:off x="4572000" y="3429000"/>
            <a:ext cx="4023360" cy="1207008"/>
          </a:xfrm>
          <a:prstGeom prst="rect">
            <a:avLst/>
          </a:prstGeom>
          <a:noFill/>
        </p:spPr>
        <p:txBody>
          <a:bodyPr wrap="square" lIns="45720" tIns="0" rIns="0" bIns="0" anchor="ctr"/>
          <a:lstStyle/>
          <a:p>
            <a:pPr>
              <a:spcAft>
                <a:spcPts val="200"/>
              </a:spcAft>
            </a:pPr>
            <a:r>
              <a:rPr lang="en-US" sz="1400" b="1" dirty="0">
                <a:solidFill>
                  <a:srgbClr val="1F1F1F"/>
                </a:solidFill>
                <a:latin typeface="Times New Roman" pitchFamily="34" charset="0"/>
                <a:ea typeface="Times New Roman" pitchFamily="34" charset="-122"/>
                <a:cs typeface="Times New Roman" pitchFamily="34" charset="-120"/>
              </a:rPr>
              <a:t>β = 0</a:t>
            </a:r>
            <a:r>
              <a:rPr lang="en-US" sz="1400" dirty="0">
                <a:solidFill>
                  <a:srgbClr val="1F1F1F"/>
                </a:solidFill>
                <a:latin typeface="Times New Roman" pitchFamily="34" charset="0"/>
                <a:ea typeface="Times New Roman" pitchFamily="34" charset="-122"/>
                <a:cs typeface="Times New Roman" pitchFamily="34" charset="-120"/>
              </a:rPr>
              <a:t>: identity (does nothing)</a:t>
            </a:r>
          </a:p>
          <a:p>
            <a:pPr>
              <a:spcAft>
                <a:spcPts val="200"/>
              </a:spcAft>
            </a:pPr>
            <a:r>
              <a:rPr lang="en-US" sz="1400" b="1" dirty="0">
                <a:solidFill>
                  <a:srgbClr val="1F1F1F"/>
                </a:solidFill>
                <a:latin typeface="Times New Roman" pitchFamily="34" charset="0"/>
                <a:ea typeface="Times New Roman" pitchFamily="34" charset="-122"/>
                <a:cs typeface="Times New Roman" pitchFamily="34" charset="-120"/>
              </a:rPr>
              <a:t>β = 1</a:t>
            </a:r>
            <a:r>
              <a:rPr lang="en-US" sz="1400" dirty="0">
                <a:solidFill>
                  <a:srgbClr val="1F1F1F"/>
                </a:solidFill>
                <a:latin typeface="Times New Roman" pitchFamily="34" charset="0"/>
                <a:ea typeface="Times New Roman" pitchFamily="34" charset="-122"/>
                <a:cs typeface="Times New Roman" pitchFamily="34" charset="-120"/>
              </a:rPr>
              <a:t>: erase along k</a:t>
            </a:r>
          </a:p>
          <a:p>
            <a:pPr>
              <a:spcAft>
                <a:spcPts val="200"/>
              </a:spcAft>
            </a:pPr>
            <a:r>
              <a:rPr lang="en-US" sz="1400" b="1" dirty="0">
                <a:solidFill>
                  <a:srgbClr val="1F1F1F"/>
                </a:solidFill>
                <a:latin typeface="Times New Roman" pitchFamily="34" charset="0"/>
                <a:ea typeface="Times New Roman" pitchFamily="34" charset="-122"/>
                <a:cs typeface="Times New Roman" pitchFamily="34" charset="-120"/>
              </a:rPr>
              <a:t>β = 2</a:t>
            </a:r>
            <a:r>
              <a:rPr lang="en-US" sz="1400" dirty="0">
                <a:solidFill>
                  <a:srgbClr val="1F1F1F"/>
                </a:solidFill>
                <a:latin typeface="Times New Roman" pitchFamily="34" charset="0"/>
                <a:ea typeface="Times New Roman" pitchFamily="34" charset="-122"/>
                <a:cs typeface="Times New Roman" pitchFamily="34" charset="-120"/>
              </a:rPr>
              <a:t>: reflection (a swap)</a:t>
            </a:r>
          </a:p>
          <a:p>
            <a:pPr>
              <a:spcAft>
                <a:spcPts val="200"/>
              </a:spcAft>
            </a:pPr>
            <a:r>
              <a:rPr lang="en-US" sz="1400" b="1" dirty="0">
                <a:solidFill>
                  <a:srgbClr val="1F1F1F"/>
                </a:solidFill>
                <a:latin typeface="Times New Roman" pitchFamily="34" charset="0"/>
                <a:ea typeface="Times New Roman" pitchFamily="34" charset="-122"/>
                <a:cs typeface="Times New Roman" pitchFamily="34" charset="-120"/>
              </a:rPr>
              <a:t>n</a:t>
            </a:r>
            <a:r>
              <a:rPr lang="en-US" sz="1400" b="1" baseline="-25000" dirty="0">
                <a:solidFill>
                  <a:srgbClr val="1F1F1F"/>
                </a:solidFill>
                <a:latin typeface="Times New Roman" pitchFamily="34" charset="0"/>
                <a:ea typeface="Times New Roman" pitchFamily="34" charset="-122"/>
                <a:cs typeface="Times New Roman" pitchFamily="34" charset="-120"/>
              </a:rPr>
              <a:t>h</a:t>
            </a:r>
            <a:r>
              <a:rPr lang="en-US" sz="1400" dirty="0">
                <a:solidFill>
                  <a:srgbClr val="1F1F1F"/>
                </a:solidFill>
                <a:latin typeface="Times New Roman" pitchFamily="34" charset="0"/>
                <a:ea typeface="Times New Roman" pitchFamily="34" charset="-122"/>
                <a:cs typeface="Times New Roman" pitchFamily="34" charset="-120"/>
              </a:rPr>
              <a:t>: fixed, same for every token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Literature Survey Contd.</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7</a:t>
            </a:r>
            <a:endParaRPr lang="en-US" sz="1000" dirty="0"/>
          </a:p>
        </p:txBody>
      </p:sp>
      <p:sp>
        <p:nvSpPr>
          <p:cNvPr id="5" name="Text 2"/>
          <p:cNvSpPr txBox="1"/>
          <p:nvPr/>
        </p:nvSpPr>
        <p:spPr>
          <a:xfrm>
            <a:off x="320040" y="685800"/>
            <a:ext cx="8503920" cy="411480"/>
          </a:xfrm>
          <a:prstGeom prst="rect">
            <a:avLst/>
          </a:prstGeom>
          <a:noFill/>
          <a:ln/>
        </p:spPr>
        <p:txBody>
          <a:bodyPr wrap="square" lIns="0" tIns="0" rIns="0" bIns="0" rtlCol="0" anchor="t"/>
          <a:lstStyle/>
          <a:p>
            <a:pPr marL="0" indent="0" algn="l">
              <a:buNone/>
            </a:pPr>
            <a:r>
              <a:rPr lang="en-US" sz="2200" i="1" dirty="0">
                <a:solidFill>
                  <a:srgbClr val="1F4E96"/>
                </a:solidFill>
                <a:latin typeface="Times New Roman" pitchFamily="34" charset="0"/>
                <a:ea typeface="Times New Roman" pitchFamily="34" charset="-122"/>
                <a:cs typeface="Times New Roman" pitchFamily="34" charset="-120"/>
              </a:rPr>
              <a:t>Theory of State Tracking and Representation</a:t>
            </a:r>
            <a:endParaRPr lang="en-US" sz="2200" dirty="0"/>
          </a:p>
        </p:txBody>
      </p:sp>
      <p:sp>
        <p:nvSpPr>
          <p:cNvPr id="6" name="Text 3"/>
          <p:cNvSpPr txBox="1"/>
          <p:nvPr/>
        </p:nvSpPr>
        <p:spPr>
          <a:xfrm>
            <a:off x="411480" y="1417320"/>
            <a:ext cx="3657600" cy="365760"/>
          </a:xfrm>
          <a:prstGeom prst="rect">
            <a:avLst/>
          </a:prstGeom>
          <a:noFill/>
          <a:ln/>
        </p:spPr>
        <p:txBody>
          <a:bodyPr wrap="square" lIns="0" tIns="0" rIns="0" bIns="0" rtlCol="0" anchor="t"/>
          <a:lstStyle/>
          <a:p>
            <a:pPr marL="0" indent="0" algn="l">
              <a:buNone/>
            </a:pPr>
            <a:r>
              <a:rPr lang="en-US" sz="2200" b="1" dirty="0">
                <a:solidFill>
                  <a:srgbClr val="C0591C"/>
                </a:solidFill>
                <a:latin typeface="Times New Roman" pitchFamily="34" charset="0"/>
                <a:ea typeface="Times New Roman" pitchFamily="34" charset="-122"/>
                <a:cs typeface="Times New Roman" pitchFamily="34" charset="-120"/>
              </a:rPr>
              <a:t>Key Points</a:t>
            </a:r>
            <a:endParaRPr lang="en-US" sz="2200" dirty="0"/>
          </a:p>
        </p:txBody>
      </p:sp>
      <p:sp>
        <p:nvSpPr>
          <p:cNvPr id="7" name="Text 4"/>
          <p:cNvSpPr txBox="1"/>
          <p:nvPr/>
        </p:nvSpPr>
        <p:spPr>
          <a:xfrm>
            <a:off x="411480" y="1874520"/>
            <a:ext cx="8321040" cy="2834640"/>
          </a:xfrm>
          <a:prstGeom prst="rect">
            <a:avLst/>
          </a:prstGeom>
          <a:noFill/>
          <a:ln/>
        </p:spPr>
        <p:txBody>
          <a:bodyPr wrap="square" lIns="25400" tIns="25400" rIns="25400" bIns="25400" rtlCol="0" anchor="t"/>
          <a:lstStyle/>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Merrill et al. [6] prove that common state-space models cannot solve the S</a:t>
            </a:r>
            <a:r>
              <a:rPr lang="en-US" sz="2000" baseline="-40000" dirty="0">
                <a:solidFill>
                  <a:srgbClr val="1F1F1F"/>
                </a:solidFill>
                <a:latin typeface="Times New Roman" pitchFamily="34" charset="0"/>
                <a:ea typeface="Times New Roman" pitchFamily="34" charset="-122"/>
                <a:cs typeface="Times New Roman" pitchFamily="34" charset="-120"/>
              </a:rPr>
              <a:t>5</a:t>
            </a:r>
            <a:r>
              <a:rPr lang="en-US" sz="2000" dirty="0">
                <a:solidFill>
                  <a:srgbClr val="1F1F1F"/>
                </a:solidFill>
                <a:latin typeface="Times New Roman" pitchFamily="34" charset="0"/>
                <a:ea typeface="Times New Roman" pitchFamily="34" charset="-122"/>
                <a:cs typeface="Times New Roman" pitchFamily="34" charset="-120"/>
              </a:rPr>
              <a:t> word problem</a:t>
            </a:r>
            <a:endParaRPr lang="en-US" sz="2000" dirty="0"/>
          </a:p>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Shakerinava et al. [7] find that diagonal models often fail to learn what they can represent</a:t>
            </a:r>
            <a:endParaRPr lang="en-US" sz="2000" dirty="0"/>
          </a:p>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Howe [8] and Larson [9] relate the resources a model needs to the representation of the task</a:t>
            </a:r>
            <a:endParaRPr lang="en-US" sz="2000" dirty="0"/>
          </a:p>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Our analysis differs: the requirement is set per token, by the group the whole alphabet generates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Literature Survey Contd.</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8</a:t>
            </a:r>
            <a:endParaRPr lang="en-US" sz="1000" dirty="0"/>
          </a:p>
        </p:txBody>
      </p:sp>
      <p:sp>
        <p:nvSpPr>
          <p:cNvPr id="5" name="Text 2"/>
          <p:cNvSpPr txBox="1"/>
          <p:nvPr/>
        </p:nvSpPr>
        <p:spPr>
          <a:xfrm>
            <a:off x="320040" y="685800"/>
            <a:ext cx="8503920" cy="411480"/>
          </a:xfrm>
          <a:prstGeom prst="rect">
            <a:avLst/>
          </a:prstGeom>
          <a:noFill/>
          <a:ln/>
        </p:spPr>
        <p:txBody>
          <a:bodyPr wrap="square" lIns="0" tIns="0" rIns="0" bIns="0" rtlCol="0" anchor="t"/>
          <a:lstStyle/>
          <a:p>
            <a:pPr marL="0" indent="0" algn="l">
              <a:buNone/>
            </a:pPr>
            <a:r>
              <a:rPr lang="en-US" sz="2200" i="1" dirty="0">
                <a:solidFill>
                  <a:srgbClr val="1F4E96"/>
                </a:solidFill>
                <a:latin typeface="Times New Roman" pitchFamily="34" charset="0"/>
                <a:ea typeface="Times New Roman" pitchFamily="34" charset="-122"/>
                <a:cs typeface="Times New Roman" pitchFamily="34" charset="-120"/>
              </a:rPr>
              <a:t>Adaptive Computation and Entity Tracking</a:t>
            </a:r>
            <a:endParaRPr lang="en-US" sz="2200" dirty="0"/>
          </a:p>
        </p:txBody>
      </p:sp>
      <p:sp>
        <p:nvSpPr>
          <p:cNvPr id="6" name="Text 3"/>
          <p:cNvSpPr txBox="1"/>
          <p:nvPr/>
        </p:nvSpPr>
        <p:spPr>
          <a:xfrm>
            <a:off x="411480" y="1417320"/>
            <a:ext cx="3657600" cy="365760"/>
          </a:xfrm>
          <a:prstGeom prst="rect">
            <a:avLst/>
          </a:prstGeom>
          <a:noFill/>
          <a:ln/>
        </p:spPr>
        <p:txBody>
          <a:bodyPr wrap="square" lIns="0" tIns="0" rIns="0" bIns="0" rtlCol="0" anchor="t"/>
          <a:lstStyle/>
          <a:p>
            <a:pPr marL="0" indent="0" algn="l">
              <a:buNone/>
            </a:pPr>
            <a:r>
              <a:rPr lang="en-US" sz="2200" b="1" dirty="0">
                <a:solidFill>
                  <a:srgbClr val="C0591C"/>
                </a:solidFill>
                <a:latin typeface="Times New Roman" pitchFamily="34" charset="0"/>
                <a:ea typeface="Times New Roman" pitchFamily="34" charset="-122"/>
                <a:cs typeface="Times New Roman" pitchFamily="34" charset="-120"/>
              </a:rPr>
              <a:t>Key Points</a:t>
            </a:r>
            <a:endParaRPr lang="en-US" sz="2200" dirty="0"/>
          </a:p>
        </p:txBody>
      </p:sp>
      <p:sp>
        <p:nvSpPr>
          <p:cNvPr id="7" name="Text 4"/>
          <p:cNvSpPr txBox="1"/>
          <p:nvPr/>
        </p:nvSpPr>
        <p:spPr>
          <a:xfrm>
            <a:off x="411480" y="1874520"/>
            <a:ext cx="8321040" cy="2834640"/>
          </a:xfrm>
          <a:prstGeom prst="rect">
            <a:avLst/>
          </a:prstGeom>
          <a:noFill/>
          <a:ln/>
        </p:spPr>
        <p:txBody>
          <a:bodyPr wrap="square" lIns="25400" tIns="25400" rIns="25400" bIns="25400" rtlCol="0" anchor="t"/>
          <a:lstStyle/>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Graves [10] introduces Adaptive Computation Time: a learned halting unit plus a penalty on steps</a:t>
            </a:r>
            <a:endParaRPr lang="en-US" sz="2000" dirty="0"/>
          </a:p>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Banino et al. [11] propose PonderNet, a probabilistic halting rule that trains more stably</a:t>
            </a:r>
            <a:endParaRPr lang="en-US" sz="2000" dirty="0"/>
          </a:p>
          <a:p>
            <a:pPr marL="342900" indent="-342900">
              <a:spcAft>
                <a:spcPts val="1200"/>
              </a:spcAft>
              <a:buSzPct val="100000"/>
              <a:buChar char="•"/>
            </a:pPr>
            <a:r>
              <a:rPr lang="en-US" sz="2000" dirty="0">
                <a:solidFill>
                  <a:srgbClr val="1F1F1F"/>
                </a:solidFill>
                <a:latin typeface="Times New Roman" pitchFamily="34" charset="0"/>
                <a:ea typeface="Times New Roman" pitchFamily="34" charset="-122"/>
                <a:cs typeface="Times New Roman" pitchFamily="34" charset="-120"/>
              </a:rPr>
              <a:t>Kim and Schuster [12] introduce the Boxes dataset: track box contents through text instructions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Outcome of Literature Survey</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777240"/>
          <a:ext cx="8229600" cy="2560320"/>
        </p:xfrm>
        <a:graphic>
          <a:graphicData uri="http://schemas.openxmlformats.org/drawingml/2006/table">
            <a:tbl>
              <a:tblPr/>
              <a:tblGrid>
                <a:gridCol w="23774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65760">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Method</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Transition per token</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Order per token</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Allocation</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65760">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Linear attention [3]</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Identity (additive only)</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365760">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DeltaNet [5]</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One Householder factor</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Fixed, 1</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65760">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Negative eigenvalues [2]</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Householder, β ∈ [0, 2]</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Fixed</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365760">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DeltaProduct [1]</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t>
                      </a:r>
                      <a:r>
                        <a:rPr lang="en-US" sz="1500" baseline="-40000" dirty="0">
                          <a:solidFill>
                            <a:srgbClr val="1F1F1F"/>
                          </a:solidFill>
                          <a:latin typeface="Times New Roman" pitchFamily="34" charset="0"/>
                          <a:ea typeface="Times New Roman" pitchFamily="34" charset="-122"/>
                          <a:cs typeface="Times New Roman" pitchFamily="34" charset="-120"/>
                        </a:rPr>
                        <a:t>h</a:t>
                      </a:r>
                      <a:r>
                        <a:rPr lang="en-US" sz="1500" dirty="0">
                          <a:solidFill>
                            <a:srgbClr val="1F1F1F"/>
                          </a:solidFill>
                          <a:latin typeface="Times New Roman" pitchFamily="34" charset="0"/>
                          <a:ea typeface="Times New Roman" pitchFamily="34" charset="-122"/>
                          <a:cs typeface="Times New Roman" pitchFamily="34" charset="-120"/>
                        </a:rPr>
                        <a:t> Householder factors</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Fixed, global</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Hand-chosen</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65760">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ACT / PonderNet [10, 11]</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N/A (network depth)</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Variable</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500" dirty="0">
                          <a:solidFill>
                            <a:srgbClr val="1F1F1F"/>
                          </a:solidFill>
                          <a:latin typeface="Times New Roman" pitchFamily="34" charset="0"/>
                          <a:ea typeface="Times New Roman" pitchFamily="34" charset="-122"/>
                          <a:cs typeface="Times New Roman" pitchFamily="34" charset="-120"/>
                        </a:rPr>
                        <a:t>Learned halting</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5"/>
                  </a:ext>
                </a:extLst>
              </a:tr>
              <a:tr h="365760">
                <a:tc>
                  <a:txBody>
                    <a:bodyPr/>
                    <a:lstStyle/>
                    <a:p>
                      <a:pPr marL="0" indent="0" algn="l">
                        <a:buNone/>
                      </a:pPr>
                      <a:r>
                        <a:rPr lang="en-US" sz="1500" b="1" dirty="0">
                          <a:solidFill>
                            <a:srgbClr val="1F1F1F"/>
                          </a:solidFill>
                          <a:latin typeface="Times New Roman" pitchFamily="34" charset="0"/>
                          <a:ea typeface="Times New Roman" pitchFamily="34" charset="-122"/>
                          <a:cs typeface="Times New Roman" pitchFamily="34" charset="-120"/>
                        </a:rPr>
                        <a:t>This work</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b="1" dirty="0">
                          <a:solidFill>
                            <a:srgbClr val="1F1F1F"/>
                          </a:solidFill>
                          <a:latin typeface="Times New Roman" pitchFamily="34" charset="0"/>
                          <a:ea typeface="Times New Roman" pitchFamily="34" charset="-122"/>
                          <a:cs typeface="Times New Roman" pitchFamily="34" charset="-120"/>
                        </a:rPr>
                        <a:t>≤ n</a:t>
                      </a:r>
                      <a:r>
                        <a:rPr lang="en-US" sz="1500" b="1" baseline="-40000" dirty="0">
                          <a:solidFill>
                            <a:srgbClr val="1F1F1F"/>
                          </a:solidFill>
                          <a:latin typeface="Times New Roman" pitchFamily="34" charset="0"/>
                          <a:ea typeface="Times New Roman" pitchFamily="34" charset="-122"/>
                          <a:cs typeface="Times New Roman" pitchFamily="34" charset="-120"/>
                        </a:rPr>
                        <a:t>h</a:t>
                      </a:r>
                      <a:r>
                        <a:rPr lang="en-US" sz="1500" b="1" dirty="0">
                          <a:solidFill>
                            <a:srgbClr val="1F1F1F"/>
                          </a:solidFill>
                          <a:latin typeface="Times New Roman" pitchFamily="34" charset="0"/>
                          <a:ea typeface="Times New Roman" pitchFamily="34" charset="-122"/>
                          <a:cs typeface="Times New Roman" pitchFamily="34" charset="-120"/>
                        </a:rPr>
                        <a:t> Householder factors</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b="1" dirty="0">
                          <a:solidFill>
                            <a:srgbClr val="1F1F1F"/>
                          </a:solidFill>
                          <a:latin typeface="Times New Roman" pitchFamily="34" charset="0"/>
                          <a:ea typeface="Times New Roman" pitchFamily="34" charset="-122"/>
                          <a:cs typeface="Times New Roman" pitchFamily="34" charset="-120"/>
                        </a:rPr>
                        <a:t>Variable</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500" b="1" dirty="0">
                          <a:solidFill>
                            <a:srgbClr val="1F1F1F"/>
                          </a:solidFill>
                          <a:latin typeface="Times New Roman" pitchFamily="34" charset="0"/>
                          <a:ea typeface="Times New Roman" pitchFamily="34" charset="-122"/>
                          <a:cs typeface="Times New Roman" pitchFamily="34" charset="-120"/>
                        </a:rPr>
                        <a:t>Learned halting</a:t>
                      </a:r>
                      <a:endParaRPr lang="en-US" sz="15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457200" y="3703320"/>
            <a:ext cx="8229600" cy="731520"/>
          </a:xfrm>
          <a:prstGeom prst="rect">
            <a:avLst/>
          </a:prstGeom>
          <a:noFill/>
          <a:ln/>
        </p:spPr>
        <p:txBody>
          <a:bodyPr wrap="square" lIns="0" tIns="0" rIns="0" bIns="0" rtlCol="0" anchor="t"/>
          <a:lstStyle/>
          <a:p>
            <a:pPr marL="0" indent="0" algn="l">
              <a:buNone/>
            </a:pPr>
            <a:r>
              <a:rPr lang="en-US" sz="1800" b="1" dirty="0">
                <a:solidFill>
                  <a:srgbClr val="1F1F1F"/>
                </a:solidFill>
                <a:latin typeface="Times New Roman" pitchFamily="34" charset="0"/>
                <a:ea typeface="Times New Roman" pitchFamily="34" charset="-122"/>
                <a:cs typeface="Times New Roman" pitchFamily="34" charset="-120"/>
              </a:rPr>
              <a:t>Gap:</a:t>
            </a:r>
            <a:r>
              <a:rPr lang="en-US" sz="1800" dirty="0">
                <a:solidFill>
                  <a:srgbClr val="1F1F1F"/>
                </a:solidFill>
                <a:latin typeface="Times New Roman" pitchFamily="34" charset="0"/>
                <a:ea typeface="Times New Roman" pitchFamily="34" charset="-122"/>
                <a:cs typeface="Times New Roman" pitchFamily="34" charset="-120"/>
              </a:rPr>
              <a:t> adaptive computation exists for network depth, but the number of Householder factors is always a fixed global constant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Problem Statement and Objectives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10</a:t>
            </a:r>
            <a:endParaRPr lang="en-US" sz="1000" dirty="0"/>
          </a:p>
        </p:txBody>
      </p:sp>
      <p:sp>
        <p:nvSpPr>
          <p:cNvPr id="5" name="Text 2"/>
          <p:cNvSpPr txBox="1"/>
          <p:nvPr/>
        </p:nvSpPr>
        <p:spPr>
          <a:xfrm>
            <a:off x="411480" y="658368"/>
            <a:ext cx="4572000" cy="365760"/>
          </a:xfrm>
          <a:prstGeom prst="rect">
            <a:avLst/>
          </a:prstGeom>
          <a:noFill/>
          <a:ln/>
        </p:spPr>
        <p:txBody>
          <a:bodyPr wrap="square" lIns="0" tIns="0" rIns="0" bIns="0" rtlCol="0" anchor="t"/>
          <a:lstStyle/>
          <a:p>
            <a:pPr marL="0" indent="0" algn="l">
              <a:buNone/>
            </a:pPr>
            <a:r>
              <a:rPr lang="en-US" sz="2000" b="1" dirty="0">
                <a:solidFill>
                  <a:srgbClr val="1F1F1F"/>
                </a:solidFill>
                <a:latin typeface="Times New Roman" pitchFamily="34" charset="0"/>
                <a:ea typeface="Times New Roman" pitchFamily="34" charset="-122"/>
                <a:cs typeface="Times New Roman" pitchFamily="34" charset="-120"/>
              </a:rPr>
              <a:t>Problem Statement</a:t>
            </a:r>
            <a:endParaRPr lang="en-US" sz="2000" dirty="0"/>
          </a:p>
        </p:txBody>
      </p:sp>
      <p:sp>
        <p:nvSpPr>
          <p:cNvPr id="6" name="Text 3"/>
          <p:cNvSpPr txBox="1"/>
          <p:nvPr/>
        </p:nvSpPr>
        <p:spPr>
          <a:xfrm>
            <a:off x="685800" y="1005840"/>
            <a:ext cx="8046720" cy="685800"/>
          </a:xfrm>
          <a:prstGeom prst="rect">
            <a:avLst/>
          </a:prstGeom>
          <a:noFill/>
          <a:ln/>
        </p:spPr>
        <p:txBody>
          <a:bodyPr wrap="square" lIns="0" tIns="0" rIns="0" bIns="0" rtlCol="0" anchor="t"/>
          <a:lstStyle/>
          <a:p>
            <a:pPr marL="0" indent="0" algn="l">
              <a:buNone/>
            </a:pPr>
            <a:r>
              <a:rPr lang="en-US" sz="1700" dirty="0">
                <a:solidFill>
                  <a:srgbClr val="1F1F1F"/>
                </a:solidFill>
                <a:latin typeface="Times New Roman" pitchFamily="34" charset="0"/>
                <a:ea typeface="Times New Roman" pitchFamily="34" charset="-122"/>
                <a:cs typeface="Times New Roman" pitchFamily="34" charset="-120"/>
              </a:rPr>
              <a:t>DeltaProduct applies the same number of Householder factors to every token. How many each token needs has not been characterised, and no mechanism allocates them per token.</a:t>
            </a:r>
            <a:endParaRPr lang="en-US" sz="1700" dirty="0"/>
          </a:p>
        </p:txBody>
      </p:sp>
      <p:sp>
        <p:nvSpPr>
          <p:cNvPr id="7" name="Text 4"/>
          <p:cNvSpPr txBox="1"/>
          <p:nvPr/>
        </p:nvSpPr>
        <p:spPr>
          <a:xfrm>
            <a:off x="411480" y="1783080"/>
            <a:ext cx="4572000" cy="365760"/>
          </a:xfrm>
          <a:prstGeom prst="rect">
            <a:avLst/>
          </a:prstGeom>
          <a:noFill/>
          <a:ln/>
        </p:spPr>
        <p:txBody>
          <a:bodyPr wrap="square" lIns="0" tIns="0" rIns="0" bIns="0" rtlCol="0" anchor="t"/>
          <a:lstStyle/>
          <a:p>
            <a:pPr marL="0" indent="0" algn="l">
              <a:buNone/>
            </a:pPr>
            <a:r>
              <a:rPr lang="en-US" sz="2000" b="1" dirty="0">
                <a:solidFill>
                  <a:srgbClr val="1F1F1F"/>
                </a:solidFill>
                <a:latin typeface="Times New Roman" pitchFamily="34" charset="0"/>
                <a:ea typeface="Times New Roman" pitchFamily="34" charset="-122"/>
                <a:cs typeface="Times New Roman" pitchFamily="34" charset="-120"/>
              </a:rPr>
              <a:t>Objectives</a:t>
            </a:r>
            <a:endParaRPr lang="en-US" sz="2000" dirty="0"/>
          </a:p>
        </p:txBody>
      </p:sp>
      <p:sp>
        <p:nvSpPr>
          <p:cNvPr id="8" name="Text 5"/>
          <p:cNvSpPr txBox="1"/>
          <p:nvPr/>
        </p:nvSpPr>
        <p:spPr>
          <a:xfrm>
            <a:off x="685800" y="2148840"/>
            <a:ext cx="8046720" cy="2743200"/>
          </a:xfrm>
          <a:prstGeom prst="rect">
            <a:avLst/>
          </a:prstGeom>
          <a:noFill/>
          <a:ln/>
        </p:spPr>
        <p:txBody>
          <a:bodyPr wrap="square" lIns="25400" tIns="25400" rIns="25400" bIns="25400" rtlCol="0" anchor="t"/>
          <a:lstStyle/>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Reproduce DeltaProduct on group word problems</a:t>
            </a:r>
            <a:endParaRPr lang="en-US" sz="1700" dirty="0"/>
          </a:p>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Characterise and verify the minimal number of factors per token</a:t>
            </a:r>
            <a:endParaRPr lang="en-US" sz="1700" dirty="0"/>
          </a:p>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Measure per-token allocation at matched compute</a:t>
            </a:r>
            <a:endParaRPr lang="en-US" sz="1700" dirty="0"/>
          </a:p>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Design and train a monotone halting gate with a compute budget</a:t>
            </a:r>
            <a:endParaRPr lang="en-US" sz="1700" dirty="0"/>
          </a:p>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Evaluate trainability and reliability over repeated runs</a:t>
            </a:r>
            <a:endParaRPr lang="en-US" sz="1700" dirty="0"/>
          </a:p>
          <a:p>
            <a:pPr marL="342900" indent="-342900">
              <a:spcAft>
                <a:spcPts val="400"/>
              </a:spcAft>
              <a:buSzPct val="100000"/>
              <a:buFont typeface="+mj-lt"/>
              <a:buAutoNum type="arabicPeriod"/>
            </a:pPr>
            <a:r>
              <a:rPr lang="en-US" sz="1700" dirty="0">
                <a:solidFill>
                  <a:srgbClr val="1F1F1F"/>
                </a:solidFill>
                <a:latin typeface="Times New Roman" pitchFamily="34" charset="0"/>
                <a:ea typeface="Times New Roman" pitchFamily="34" charset="-122"/>
                <a:cs typeface="Times New Roman" pitchFamily="34" charset="-120"/>
              </a:rPr>
              <a:t>Evaluate on natural-language entity tracking (Boxes and beyond)</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Methodology: System Overview</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11</a:t>
            </a:r>
            <a:endParaRPr lang="en-US" sz="1000" dirty="0"/>
          </a:p>
        </p:txBody>
      </p:sp>
      <p:pic>
        <p:nvPicPr>
          <p:cNvPr id="5" name="Image 1" descr="/tmp/claude-0/-home-claude/23da7219-ccd0-5cfb-a54f-b2b098f81b46/scratchpad/ppt/img/pipeline.png"/>
          <p:cNvPicPr>
            <a:picLocks noChangeAspect="1"/>
          </p:cNvPicPr>
          <p:nvPr/>
        </p:nvPicPr>
        <p:blipFill>
          <a:blip r:embed="rId4"/>
          <a:stretch>
            <a:fillRect/>
          </a:stretch>
        </p:blipFill>
        <p:spPr>
          <a:xfrm>
            <a:off x="954771" y="658368"/>
            <a:ext cx="7234458" cy="2788920"/>
          </a:xfrm>
          <a:prstGeom prst="rect">
            <a:avLst/>
          </a:prstGeom>
        </p:spPr>
      </p:pic>
      <p:sp>
        <p:nvSpPr>
          <p:cNvPr id="6" name="Text 2"/>
          <p:cNvSpPr txBox="1"/>
          <p:nvPr/>
        </p:nvSpPr>
        <p:spPr>
          <a:xfrm>
            <a:off x="411480" y="3584448"/>
            <a:ext cx="8321040" cy="1188720"/>
          </a:xfrm>
          <a:prstGeom prst="rect">
            <a:avLst/>
          </a:prstGeom>
          <a:noFill/>
          <a:ln/>
        </p:spPr>
        <p:txBody>
          <a:bodyPr wrap="square" lIns="25400" tIns="25400" rIns="25400" bIns="25400" rtlCol="0" anchor="t"/>
          <a:lstStyle/>
          <a:p>
            <a:pPr marL="342900" indent="-342900">
              <a:spcAft>
                <a:spcPts val="6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The order of the layer is set three ways: </a:t>
            </a:r>
            <a:r>
              <a:rPr lang="en-US" sz="1700" b="1" dirty="0">
                <a:solidFill>
                  <a:srgbClr val="1F1F1F"/>
                </a:solidFill>
                <a:latin typeface="Times New Roman" pitchFamily="34" charset="0"/>
                <a:ea typeface="Times New Roman" pitchFamily="34" charset="-122"/>
                <a:cs typeface="Times New Roman" pitchFamily="34" charset="-120"/>
              </a:rPr>
              <a:t>fixed</a:t>
            </a:r>
            <a:r>
              <a:rPr lang="en-US" sz="1700" dirty="0">
                <a:solidFill>
                  <a:srgbClr val="1F1F1F"/>
                </a:solidFill>
                <a:latin typeface="Times New Roman" pitchFamily="34" charset="0"/>
                <a:ea typeface="Times New Roman" pitchFamily="34" charset="-122"/>
                <a:cs typeface="Times New Roman" pitchFamily="34" charset="-120"/>
              </a:rPr>
              <a:t> n</a:t>
            </a:r>
            <a:r>
              <a:rPr lang="en-US" sz="1700" baseline="-40000" dirty="0">
                <a:solidFill>
                  <a:srgbClr val="1F1F1F"/>
                </a:solidFill>
                <a:latin typeface="Times New Roman" pitchFamily="34" charset="0"/>
                <a:ea typeface="Times New Roman" pitchFamily="34" charset="-122"/>
                <a:cs typeface="Times New Roman" pitchFamily="34" charset="-120"/>
              </a:rPr>
              <a:t>h</a:t>
            </a:r>
            <a:r>
              <a:rPr lang="en-US" sz="1700" dirty="0">
                <a:solidFill>
                  <a:srgbClr val="1F1F1F"/>
                </a:solidFill>
                <a:latin typeface="Times New Roman" pitchFamily="34" charset="0"/>
                <a:ea typeface="Times New Roman" pitchFamily="34" charset="-122"/>
                <a:cs typeface="Times New Roman" pitchFamily="34" charset="-120"/>
              </a:rPr>
              <a:t>, a </a:t>
            </a:r>
            <a:r>
              <a:rPr lang="en-US" sz="1700" b="1" dirty="0">
                <a:solidFill>
                  <a:srgbClr val="1F1F1F"/>
                </a:solidFill>
                <a:latin typeface="Times New Roman" pitchFamily="34" charset="0"/>
                <a:ea typeface="Times New Roman" pitchFamily="34" charset="-122"/>
                <a:cs typeface="Times New Roman" pitchFamily="34" charset="-120"/>
              </a:rPr>
              <a:t>reference allocation</a:t>
            </a:r>
            <a:r>
              <a:rPr lang="en-US" sz="1700" dirty="0">
                <a:solidFill>
                  <a:srgbClr val="1F1F1F"/>
                </a:solidFill>
                <a:latin typeface="Times New Roman" pitchFamily="34" charset="0"/>
                <a:ea typeface="Times New Roman" pitchFamily="34" charset="-122"/>
                <a:cs typeface="Times New Roman" pitchFamily="34" charset="-120"/>
              </a:rPr>
              <a:t> from theory, or a </a:t>
            </a:r>
            <a:r>
              <a:rPr lang="en-US" sz="1700" b="1" dirty="0">
                <a:solidFill>
                  <a:srgbClr val="1F1F1F"/>
                </a:solidFill>
                <a:latin typeface="Times New Roman" pitchFamily="34" charset="0"/>
                <a:ea typeface="Times New Roman" pitchFamily="34" charset="-122"/>
                <a:cs typeface="Times New Roman" pitchFamily="34" charset="-120"/>
              </a:rPr>
              <a:t>learned gate</a:t>
            </a:r>
            <a:endParaRPr lang="en-US" sz="1700" dirty="0"/>
          </a:p>
          <a:p>
            <a:pPr marL="342900" indent="-342900">
              <a:spcAft>
                <a:spcPts val="6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Theory (dashed) is used only for reference and evaluation, never as a training target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Methodology: How Many Factors Does a Token Need?</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12</a:t>
            </a:r>
            <a:endParaRPr lang="en-US" sz="1000" dirty="0"/>
          </a:p>
        </p:txBody>
      </p:sp>
      <p:sp>
        <p:nvSpPr>
          <p:cNvPr id="5" name="Text 2"/>
          <p:cNvSpPr txBox="1"/>
          <p:nvPr/>
        </p:nvSpPr>
        <p:spPr>
          <a:xfrm>
            <a:off x="411480" y="731520"/>
            <a:ext cx="4480560" cy="2103120"/>
          </a:xfrm>
          <a:prstGeom prst="rect">
            <a:avLst/>
          </a:prstGeom>
          <a:noFill/>
          <a:ln/>
        </p:spPr>
        <p:txBody>
          <a:bodyPr wrap="square" lIns="25400" tIns="25400" rIns="25400" bIns="25400" rtlCol="0" anchor="t"/>
          <a:lstStyle/>
          <a:p>
            <a:pPr marL="342900" indent="-342900">
              <a:spcAft>
                <a:spcPts val="1200"/>
              </a:spcAft>
              <a:buSzPct val="100000"/>
              <a:buChar char="•"/>
            </a:pPr>
            <a:r>
              <a:rPr lang="en-US" sz="1700" b="1">
                <a:solidFill>
                  <a:srgbClr val="1F1F1F"/>
                </a:solidFill>
                <a:latin typeface="Times New Roman" pitchFamily="34" charset="0"/>
                <a:ea typeface="Times New Roman" pitchFamily="34" charset="-122"/>
                <a:cs typeface="Times New Roman" pitchFamily="34" charset="-120"/>
              </a:rPr>
              <a:t>Rank bound:</a:t>
            </a:r>
            <a:r>
              <a:rPr lang="en-US" sz="1700">
                <a:solidFill>
                  <a:srgbClr val="1F1F1F"/>
                </a:solidFill>
                <a:latin typeface="Times New Roman" pitchFamily="34" charset="0"/>
                <a:ea typeface="Times New Roman" pitchFamily="34" charset="-122"/>
                <a:cs typeface="Times New Roman" pitchFamily="34" charset="-120"/>
              </a:rPr>
              <a:t> K factors can change at most K directions, so K ≥ ℓ(g), the transposition length</a:t>
            </a:r>
            <a:endParaRPr lang="en-US" sz="1700"/>
          </a:p>
          <a:p>
            <a:pPr marL="342900" indent="-342900">
              <a:spcAft>
                <a:spcPts val="1200"/>
              </a:spcAft>
              <a:buSzPct val="100000"/>
              <a:buChar char="•"/>
            </a:pPr>
            <a:r>
              <a:rPr lang="en-US" sz="1700" b="1">
                <a:solidFill>
                  <a:srgbClr val="1F1F1F"/>
                </a:solidFill>
                <a:latin typeface="Times New Roman" pitchFamily="34" charset="0"/>
                <a:ea typeface="Times New Roman" pitchFamily="34" charset="-122"/>
                <a:cs typeface="Times New Roman" pitchFamily="34" charset="-120"/>
              </a:rPr>
              <a:t>Parity:</a:t>
            </a:r>
            <a:r>
              <a:rPr lang="en-US" sz="1700">
                <a:solidFill>
                  <a:srgbClr val="1F1F1F"/>
                </a:solidFill>
                <a:latin typeface="Times New Roman" pitchFamily="34" charset="0"/>
                <a:ea typeface="Times New Roman" pitchFamily="34" charset="-122"/>
                <a:cs typeface="Times New Roman" pitchFamily="34" charset="-120"/>
              </a:rPr>
              <a:t> with β fixed at 2 only K ≡ ℓ (mod 2) is reachable, so the gate must scale β</a:t>
            </a:r>
            <a:endParaRPr lang="en-US" sz="1700"/>
          </a:p>
          <a:p>
            <a:pPr marL="342900" indent="-342900">
              <a:spcAft>
                <a:spcPts val="1200"/>
              </a:spcAft>
              <a:buSzPct val="100000"/>
              <a:buChar char="•"/>
            </a:pPr>
            <a:r>
              <a:rPr lang="en-US" sz="1700" b="1">
                <a:solidFill>
                  <a:srgbClr val="1F1F1F"/>
                </a:solidFill>
                <a:latin typeface="Times New Roman" pitchFamily="34" charset="0"/>
                <a:ea typeface="Times New Roman" pitchFamily="34" charset="-122"/>
                <a:cs typeface="Times New Roman" pitchFamily="34" charset="-120"/>
              </a:rPr>
              <a:t>Requirement:</a:t>
            </a:r>
            <a:r>
              <a:rPr lang="en-US" sz="1700">
                <a:solidFill>
                  <a:srgbClr val="1F1F1F"/>
                </a:solidFill>
                <a:latin typeface="Times New Roman" pitchFamily="34" charset="0"/>
                <a:ea typeface="Times New Roman" pitchFamily="34" charset="-122"/>
                <a:cs typeface="Times New Roman" pitchFamily="34" charset="-120"/>
              </a:rPr>
              <a:t> D(g) = min over faithful representations ρ of rank(ρ(g) − I)</a:t>
            </a:r>
            <a:endParaRPr lang="en-US" sz="1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20640" y="822960"/>
          <a:ext cx="3657600" cy="1463040"/>
        </p:xfrm>
        <a:graphic>
          <a:graphicData uri="http://schemas.openxmlformats.org/drawingml/2006/table">
            <a:tbl>
              <a:tblPr/>
              <a:tblGrid>
                <a:gridCol w="17373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Element</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In S</a:t>
                      </a:r>
                      <a:r>
                        <a:rPr lang="en-US" sz="1400" b="1" baseline="-40000" dirty="0">
                          <a:solidFill>
                            <a:srgbClr val="FFFFFF"/>
                          </a:solidFill>
                          <a:latin typeface="Times New Roman" pitchFamily="34" charset="0"/>
                          <a:ea typeface="Times New Roman" pitchFamily="34" charset="-122"/>
                          <a:cs typeface="Times New Roman" pitchFamily="34" charset="-120"/>
                        </a:rPr>
                        <a:t>5</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In A</a:t>
                      </a:r>
                      <a:r>
                        <a:rPr lang="en-US" sz="1400" b="1" baseline="-40000" dirty="0">
                          <a:solidFill>
                            <a:srgbClr val="FFFFFF"/>
                          </a:solidFill>
                          <a:latin typeface="Times New Roman" pitchFamily="34" charset="0"/>
                          <a:ea typeface="Times New Roman" pitchFamily="34" charset="-122"/>
                          <a:cs typeface="Times New Roman" pitchFamily="34" charset="-120"/>
                        </a:rPr>
                        <a:t>5</a:t>
                      </a:r>
                      <a:r>
                        <a:rPr lang="en-US" sz="1400" b="1" dirty="0">
                          <a:solidFill>
                            <a:srgbClr val="FFFFFF"/>
                          </a:solidFill>
                          <a:latin typeface="Times New Roman" pitchFamily="34" charset="0"/>
                          <a:ea typeface="Times New Roman" pitchFamily="34" charset="-122"/>
                          <a:cs typeface="Times New Roman" pitchFamily="34" charset="-120"/>
                        </a:rPr>
                        <a:t> (3-D)</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65760">
                <a:tc>
                  <a:txBody>
                    <a:bodyPr/>
                    <a:lstStyle/>
                    <a:p>
                      <a:pPr marL="0" indent="0" algn="l">
                        <a:buNone/>
                      </a:pPr>
                      <a:r>
                        <a:rPr lang="en-US" sz="1400" dirty="0">
                          <a:solidFill>
                            <a:srgbClr val="1F1F1F"/>
                          </a:solidFill>
                          <a:latin typeface="Times New Roman" pitchFamily="34" charset="0"/>
                          <a:ea typeface="Times New Roman" pitchFamily="34" charset="-122"/>
                          <a:cs typeface="Times New Roman" pitchFamily="34" charset="-120"/>
                        </a:rPr>
                        <a:t>Double transposition</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400" dirty="0">
                          <a:solidFill>
                            <a:srgbClr val="1F1F1F"/>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400" dirty="0">
                          <a:solidFill>
                            <a:srgbClr val="1F1F1F"/>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365760">
                <a:tc>
                  <a:txBody>
                    <a:bodyPr/>
                    <a:lstStyle/>
                    <a:p>
                      <a:pPr marL="0" indent="0" algn="l">
                        <a:buNone/>
                      </a:pPr>
                      <a:r>
                        <a:rPr lang="en-US" sz="1400" dirty="0">
                          <a:solidFill>
                            <a:srgbClr val="1F1F1F"/>
                          </a:solidFill>
                          <a:latin typeface="Times New Roman" pitchFamily="34" charset="0"/>
                          <a:ea typeface="Times New Roman" pitchFamily="34" charset="-122"/>
                          <a:cs typeface="Times New Roman" pitchFamily="34" charset="-120"/>
                        </a:rPr>
                        <a:t>3-cycle</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400" dirty="0">
                          <a:solidFill>
                            <a:srgbClr val="1F1F1F"/>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400" dirty="0">
                          <a:solidFill>
                            <a:srgbClr val="1F1F1F"/>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65760">
                <a:tc>
                  <a:txBody>
                    <a:bodyPr/>
                    <a:lstStyle/>
                    <a:p>
                      <a:pPr marL="0" indent="0" algn="l">
                        <a:buNone/>
                      </a:pPr>
                      <a:r>
                        <a:rPr lang="en-US" sz="1400" b="1" dirty="0">
                          <a:solidFill>
                            <a:srgbClr val="1F1F1F"/>
                          </a:solidFill>
                          <a:latin typeface="Times New Roman" pitchFamily="34" charset="0"/>
                          <a:ea typeface="Times New Roman" pitchFamily="34" charset="-122"/>
                          <a:cs typeface="Times New Roman" pitchFamily="34" charset="-120"/>
                        </a:rPr>
                        <a:t>5-cycle</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400" b="1" dirty="0">
                          <a:solidFill>
                            <a:srgbClr val="1F1F1F"/>
                          </a:solidFill>
                          <a:latin typeface="Times New Roman" pitchFamily="34" charset="0"/>
                          <a:ea typeface="Times New Roman" pitchFamily="34" charset="-122"/>
                          <a:cs typeface="Times New Roman" pitchFamily="34" charset="-120"/>
                        </a:rPr>
                        <a:t>4</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400" b="1" dirty="0">
                          <a:solidFill>
                            <a:srgbClr val="1F1F1F"/>
                          </a:solidFill>
                          <a:latin typeface="Times New Roman" pitchFamily="34" charset="0"/>
                          <a:ea typeface="Times New Roman" pitchFamily="34" charset="-122"/>
                          <a:cs typeface="Times New Roman" pitchFamily="34" charset="-120"/>
                        </a:rPr>
                        <a:t>2</a:t>
                      </a:r>
                      <a:endParaRPr lang="en-US" sz="14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bl>
          </a:graphicData>
        </a:graphic>
      </p:graphicFrame>
      <p:sp>
        <p:nvSpPr>
          <p:cNvPr id="7" name="Text 3"/>
          <p:cNvSpPr txBox="1"/>
          <p:nvPr/>
        </p:nvSpPr>
        <p:spPr>
          <a:xfrm>
            <a:off x="5120640" y="2331720"/>
            <a:ext cx="3657600" cy="274320"/>
          </a:xfrm>
          <a:prstGeom prst="rect">
            <a:avLst/>
          </a:prstGeom>
          <a:noFill/>
          <a:ln/>
        </p:spPr>
        <p:txBody>
          <a:bodyPr wrap="square" lIns="0" tIns="0" rIns="0" bIns="0" rtlCol="0" anchor="t"/>
          <a:lstStyle/>
          <a:p>
            <a:pPr marL="0" indent="0" algn="ctr">
              <a:buNone/>
            </a:pPr>
            <a:r>
              <a:rPr lang="en-US" sz="1100" i="1" dirty="0">
                <a:solidFill>
                  <a:srgbClr val="5A5A5A"/>
                </a:solidFill>
                <a:latin typeface="Times New Roman" pitchFamily="34" charset="0"/>
                <a:ea typeface="Times New Roman" pitchFamily="34" charset="-122"/>
                <a:cs typeface="Times New Roman" pitchFamily="34" charset="-120"/>
              </a:rPr>
              <a:t>Factors needed per element class</a:t>
            </a:r>
            <a:endParaRPr lang="en-US" sz="1100" dirty="0"/>
          </a:p>
        </p:txBody>
      </p:sp>
      <p:sp>
        <p:nvSpPr>
          <p:cNvPr id="8" name="Shape 4"/>
          <p:cNvSpPr/>
          <p:nvPr/>
        </p:nvSpPr>
        <p:spPr>
          <a:xfrm>
            <a:off x="5120640" y="2743200"/>
            <a:ext cx="3657600" cy="1280160"/>
          </a:xfrm>
          <a:prstGeom prst="roundRect">
            <a:avLst>
              <a:gd name="adj" fmla="val 5000"/>
            </a:avLst>
          </a:prstGeom>
          <a:solidFill>
            <a:srgbClr val="E3ECF9"/>
          </a:solidFill>
          <a:ln w="12700">
            <a:solidFill>
              <a:srgbClr val="C9D4EA"/>
            </a:solidFill>
            <a:prstDash val="solid"/>
          </a:ln>
        </p:spPr>
      </p:sp>
      <p:sp>
        <p:nvSpPr>
          <p:cNvPr id="9" name="Text 5"/>
          <p:cNvSpPr txBox="1"/>
          <p:nvPr/>
        </p:nvSpPr>
        <p:spPr>
          <a:xfrm>
            <a:off x="5257800" y="2788920"/>
            <a:ext cx="3383280" cy="1188720"/>
          </a:xfrm>
          <a:prstGeom prst="rect">
            <a:avLst/>
          </a:prstGeom>
          <a:noFill/>
          <a:ln/>
        </p:spPr>
        <p:txBody>
          <a:bodyPr wrap="square" lIns="0" tIns="0" rIns="0" bIns="0" rtlCol="0" anchor="ctr"/>
          <a:lstStyle/>
          <a:p>
            <a:pPr marL="0" indent="0" algn="l">
              <a:buNone/>
            </a:pPr>
            <a:r>
              <a:rPr lang="en-US" sz="1600" dirty="0">
                <a:solidFill>
                  <a:srgbClr val="1F4E96"/>
                </a:solidFill>
                <a:latin typeface="Times New Roman" pitchFamily="34" charset="0"/>
                <a:ea typeface="Times New Roman" pitchFamily="34" charset="-122"/>
                <a:cs typeface="Times New Roman" pitchFamily="34" charset="-120"/>
              </a:rPr>
              <a:t>The same 5-cycle costs 4 factors in S</a:t>
            </a:r>
            <a:r>
              <a:rPr lang="en-US" sz="1600" baseline="-40000" dirty="0">
                <a:solidFill>
                  <a:srgbClr val="1F4E96"/>
                </a:solidFill>
                <a:latin typeface="Times New Roman" pitchFamily="34" charset="0"/>
                <a:ea typeface="Times New Roman" pitchFamily="34" charset="-122"/>
                <a:cs typeface="Times New Roman" pitchFamily="34" charset="-120"/>
              </a:rPr>
              <a:t>5</a:t>
            </a:r>
            <a:r>
              <a:rPr lang="en-US" sz="1600" dirty="0">
                <a:solidFill>
                  <a:srgbClr val="1F4E96"/>
                </a:solidFill>
                <a:latin typeface="Times New Roman" pitchFamily="34" charset="0"/>
                <a:ea typeface="Times New Roman" pitchFamily="34" charset="-122"/>
                <a:cs typeface="Times New Roman" pitchFamily="34" charset="-120"/>
              </a:rPr>
              <a:t> but 2 in A</a:t>
            </a:r>
            <a:r>
              <a:rPr lang="en-US" sz="1600" baseline="-40000" dirty="0">
                <a:solidFill>
                  <a:srgbClr val="1F4E96"/>
                </a:solidFill>
                <a:latin typeface="Times New Roman" pitchFamily="34" charset="0"/>
                <a:ea typeface="Times New Roman" pitchFamily="34" charset="-122"/>
                <a:cs typeface="Times New Roman" pitchFamily="34" charset="-120"/>
              </a:rPr>
              <a:t>5</a:t>
            </a:r>
            <a:r>
              <a:rPr lang="en-US" sz="1600" dirty="0">
                <a:solidFill>
                  <a:srgbClr val="1F4E96"/>
                </a:solidFill>
                <a:latin typeface="Times New Roman" pitchFamily="34" charset="0"/>
                <a:ea typeface="Times New Roman" pitchFamily="34" charset="-122"/>
                <a:cs typeface="Times New Roman" pitchFamily="34" charset="-120"/>
              </a:rPr>
              <a:t>: the cost depends on the </a:t>
            </a:r>
            <a:r>
              <a:rPr lang="en-US" sz="1600" b="1" dirty="0">
                <a:solidFill>
                  <a:srgbClr val="1F4E96"/>
                </a:solidFill>
                <a:latin typeface="Times New Roman" pitchFamily="34" charset="0"/>
                <a:ea typeface="Times New Roman" pitchFamily="34" charset="-122"/>
                <a:cs typeface="Times New Roman" pitchFamily="34" charset="-120"/>
              </a:rPr>
              <a:t>whole alphabet</a:t>
            </a:r>
            <a:r>
              <a:rPr lang="en-US" sz="1600" dirty="0">
                <a:solidFill>
                  <a:srgbClr val="1F4E96"/>
                </a:solidFill>
                <a:latin typeface="Times New Roman" pitchFamily="34" charset="0"/>
                <a:ea typeface="Times New Roman" pitchFamily="34" charset="-122"/>
                <a:cs typeface="Times New Roman" pitchFamily="34" charset="-120"/>
              </a:rPr>
              <a:t>, not the token</a:t>
            </a:r>
            <a:endParaRPr lang="en-US" sz="1600" dirty="0"/>
          </a:p>
        </p:txBody>
      </p:sp>
      <p:sp>
        <p:nvSpPr>
          <p:cNvPr id="30" name="A5 explanation"/>
          <p:cNvSpPr/>
          <p:nvPr/>
        </p:nvSpPr>
        <p:spPr>
          <a:xfrm>
            <a:off x="411480" y="2743200"/>
            <a:ext cx="4480560" cy="1783080"/>
          </a:xfrm>
          <a:prstGeom prst="roundRect">
            <a:avLst>
              <a:gd name="adj" fmla="val 5000"/>
            </a:avLst>
          </a:prstGeom>
          <a:solidFill>
            <a:srgbClr val="F2F4F8"/>
          </a:solidFill>
          <a:ln w="12700">
            <a:solidFill>
              <a:srgbClr val="C9D4EA"/>
            </a:solidFill>
          </a:ln>
        </p:spPr>
        <p:txBody>
          <a:bodyPr wrap="square" lIns="137160" tIns="91440" rIns="137160" bIns="91440" anchor="t">
            <a:normAutofit/>
          </a:bodyPr>
          <a:lstStyle/>
          <a:p>
            <a:pPr>
              <a:spcAft>
                <a:spcPts val="600"/>
              </a:spcAft>
            </a:pPr>
            <a:r>
              <a:rPr lang="en-US" sz="1600" b="1" dirty="0">
                <a:solidFill>
                  <a:srgbClr val="C0591C"/>
                </a:solidFill>
                <a:latin typeface="Times New Roman" pitchFamily="34" charset="0"/>
                <a:ea typeface="Times New Roman" pitchFamily="34" charset="-122"/>
                <a:cs typeface="Times New Roman" pitchFamily="34" charset="-120"/>
              </a:rPr>
              <a:t>Why is A</a:t>
            </a:r>
            <a:r>
              <a:rPr lang="en-US" sz="1600" b="1" baseline="-25000" dirty="0">
                <a:solidFill>
                  <a:srgbClr val="C0591C"/>
                </a:solidFill>
                <a:latin typeface="Times New Roman" pitchFamily="34" charset="0"/>
                <a:ea typeface="Times New Roman" pitchFamily="34" charset="-122"/>
                <a:cs typeface="Times New Roman" pitchFamily="34" charset="-120"/>
              </a:rPr>
              <a:t>5</a:t>
            </a:r>
            <a:r>
              <a:rPr lang="en-US" sz="1600" b="1" dirty="0">
                <a:solidFill>
                  <a:srgbClr val="C0591C"/>
                </a:solidFill>
                <a:latin typeface="Times New Roman" pitchFamily="34" charset="0"/>
                <a:ea typeface="Times New Roman" pitchFamily="34" charset="-122"/>
                <a:cs typeface="Times New Roman" pitchFamily="34" charset="-120"/>
              </a:rPr>
              <a:t xml:space="preserve"> cheaper?</a:t>
            </a:r>
          </a:p>
          <a:p>
            <a:pPr marL="285750" indent="-28575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 xml:space="preserve">Only 5-cycles → only even rearrangements: the group </a:t>
            </a:r>
            <a:r>
              <a:rPr lang="en-US" sz="1500" b="1" dirty="0">
                <a:solidFill>
                  <a:srgbClr val="1F1F1F"/>
                </a:solidFill>
                <a:latin typeface="Times New Roman" pitchFamily="34" charset="0"/>
                <a:ea typeface="Times New Roman" pitchFamily="34" charset="-122"/>
                <a:cs typeface="Times New Roman" pitchFamily="34" charset="-120"/>
              </a:rPr>
              <a:t>A</a:t>
            </a:r>
            <a:r>
              <a:rPr lang="en-US" sz="1500" b="1" baseline="-25000" dirty="0">
                <a:solidFill>
                  <a:srgbClr val="1F1F1F"/>
                </a:solidFill>
                <a:latin typeface="Times New Roman" pitchFamily="34" charset="0"/>
                <a:ea typeface="Times New Roman" pitchFamily="34" charset="-122"/>
                <a:cs typeface="Times New Roman" pitchFamily="34" charset="-120"/>
              </a:rPr>
              <a:t>5</a:t>
            </a:r>
            <a:r>
              <a:rPr lang="en-US" sz="1500" dirty="0">
                <a:solidFill>
                  <a:srgbClr val="1F1F1F"/>
                </a:solidFill>
                <a:latin typeface="Times New Roman" pitchFamily="34" charset="0"/>
                <a:ea typeface="Times New Roman" pitchFamily="34" charset="-122"/>
                <a:cs typeface="Times New Roman" pitchFamily="34" charset="-120"/>
              </a:rPr>
              <a:t xml:space="preserve"> (60 elements)</a:t>
            </a:r>
          </a:p>
          <a:p>
            <a:pPr marL="285750" indent="-28575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A</a:t>
            </a:r>
            <a:r>
              <a:rPr lang="en-US" sz="1500" baseline="-25000" dirty="0">
                <a:solidFill>
                  <a:srgbClr val="1F1F1F"/>
                </a:solidFill>
                <a:latin typeface="Times New Roman" pitchFamily="34" charset="0"/>
                <a:ea typeface="Times New Roman" pitchFamily="34" charset="-122"/>
                <a:cs typeface="Times New Roman" pitchFamily="34" charset="-120"/>
              </a:rPr>
              <a:t>5</a:t>
            </a:r>
            <a:r>
              <a:rPr lang="en-US" sz="1500" dirty="0">
                <a:solidFill>
                  <a:srgbClr val="1F1F1F"/>
                </a:solidFill>
                <a:latin typeface="Times New Roman" pitchFamily="34" charset="0"/>
                <a:ea typeface="Times New Roman" pitchFamily="34" charset="-122"/>
                <a:cs typeface="Times New Roman" pitchFamily="34" charset="-120"/>
              </a:rPr>
              <a:t xml:space="preserve"> = the </a:t>
            </a:r>
            <a:r>
              <a:rPr lang="en-US" sz="1500" b="1" dirty="0">
                <a:solidFill>
                  <a:srgbClr val="1F1F1F"/>
                </a:solidFill>
                <a:latin typeface="Times New Roman" pitchFamily="34" charset="0"/>
                <a:ea typeface="Times New Roman" pitchFamily="34" charset="-122"/>
                <a:cs typeface="Times New Roman" pitchFamily="34" charset="-120"/>
              </a:rPr>
              <a:t>rotations of an icosahedron</a:t>
            </a:r>
            <a:r>
              <a:rPr lang="en-US" sz="1500" dirty="0">
                <a:solidFill>
                  <a:srgbClr val="1F1F1F"/>
                </a:solidFill>
                <a:latin typeface="Times New Roman" pitchFamily="34" charset="0"/>
                <a:ea typeface="Times New Roman" pitchFamily="34" charset="-122"/>
                <a:cs typeface="Times New Roman" pitchFamily="34" charset="-120"/>
              </a:rPr>
              <a:t>, a 3-D encoding</a:t>
            </a:r>
          </a:p>
          <a:p>
            <a:pPr marL="285750" indent="-28575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 xml:space="preserve">Every 3-D rotation changes 2 directions and is built from </a:t>
            </a:r>
            <a:r>
              <a:rPr lang="en-US" sz="1500" b="1" dirty="0">
                <a:solidFill>
                  <a:srgbClr val="1F1F1F"/>
                </a:solidFill>
                <a:latin typeface="Times New Roman" pitchFamily="34" charset="0"/>
                <a:ea typeface="Times New Roman" pitchFamily="34" charset="-122"/>
                <a:cs typeface="Times New Roman" pitchFamily="34" charset="-120"/>
              </a:rPr>
              <a:t>2 mirrors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Methodology: The Adaptive-Order Layer</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13</a:t>
            </a:r>
            <a:endParaRPr lang="en-US" sz="1000" dirty="0"/>
          </a:p>
        </p:txBody>
      </p:sp>
      <p:sp>
        <p:nvSpPr>
          <p:cNvPr id="5" name="Text 2"/>
          <p:cNvSpPr txBox="1"/>
          <p:nvPr/>
        </p:nvSpPr>
        <p:spPr>
          <a:xfrm>
            <a:off x="411480" y="731520"/>
            <a:ext cx="4206240" cy="4023360"/>
          </a:xfrm>
          <a:prstGeom prst="rect">
            <a:avLst/>
          </a:prstGeom>
          <a:noFill/>
          <a:ln/>
        </p:spPr>
        <p:txBody>
          <a:bodyPr wrap="square" lIns="25400" tIns="25400" rIns="25400" bIns="25400" rtlCol="0" anchor="t"/>
          <a:lstStyle/>
          <a:p>
            <a:pPr marL="342900" indent="-342900">
              <a:spcAft>
                <a:spcPts val="10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A small MLP reads each token and outputs K continue probabilities</a:t>
            </a:r>
            <a:endParaRPr lang="en-US" sz="1700" dirty="0"/>
          </a:p>
          <a:p>
            <a:pPr marL="342900" indent="-342900">
              <a:spcAft>
                <a:spcPts val="10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Cumulative product gives </a:t>
            </a:r>
            <a:r>
              <a:rPr lang="en-US" sz="1700" b="1" dirty="0">
                <a:solidFill>
                  <a:srgbClr val="1F1F1F"/>
                </a:solidFill>
                <a:latin typeface="Times New Roman" pitchFamily="34" charset="0"/>
                <a:ea typeface="Times New Roman" pitchFamily="34" charset="-122"/>
                <a:cs typeface="Times New Roman" pitchFamily="34" charset="-120"/>
              </a:rPr>
              <a:t>monotone gates</a:t>
            </a:r>
            <a:r>
              <a:rPr lang="en-US" sz="1700" dirty="0">
                <a:solidFill>
                  <a:srgbClr val="1F1F1F"/>
                </a:solidFill>
                <a:latin typeface="Times New Roman" pitchFamily="34" charset="0"/>
                <a:ea typeface="Times New Roman" pitchFamily="34" charset="-122"/>
                <a:cs typeface="Times New Roman" pitchFamily="34" charset="-120"/>
              </a:rPr>
              <a:t> g</a:t>
            </a:r>
            <a:r>
              <a:rPr lang="en-US" sz="1700" baseline="-40000" dirty="0">
                <a:solidFill>
                  <a:srgbClr val="1F1F1F"/>
                </a:solidFill>
                <a:latin typeface="Times New Roman" pitchFamily="34" charset="0"/>
                <a:ea typeface="Times New Roman" pitchFamily="34" charset="-122"/>
                <a:cs typeface="Times New Roman" pitchFamily="34" charset="-120"/>
              </a:rPr>
              <a:t>1</a:t>
            </a:r>
            <a:r>
              <a:rPr lang="en-US" sz="1700" dirty="0">
                <a:solidFill>
                  <a:srgbClr val="1F1F1F"/>
                </a:solidFill>
                <a:latin typeface="Times New Roman" pitchFamily="34" charset="0"/>
                <a:ea typeface="Times New Roman" pitchFamily="34" charset="-122"/>
                <a:cs typeface="Times New Roman" pitchFamily="34" charset="-120"/>
              </a:rPr>
              <a:t> ≥ … ≥ g</a:t>
            </a:r>
            <a:r>
              <a:rPr lang="en-US" sz="1700" baseline="-40000" dirty="0">
                <a:solidFill>
                  <a:srgbClr val="1F1F1F"/>
                </a:solidFill>
                <a:latin typeface="Times New Roman" pitchFamily="34" charset="0"/>
                <a:ea typeface="Times New Roman" pitchFamily="34" charset="-122"/>
                <a:cs typeface="Times New Roman" pitchFamily="34" charset="-120"/>
              </a:rPr>
              <a:t>K</a:t>
            </a:r>
            <a:r>
              <a:rPr lang="en-US" sz="1700" dirty="0">
                <a:solidFill>
                  <a:srgbClr val="1F1F1F"/>
                </a:solidFill>
                <a:latin typeface="Times New Roman" pitchFamily="34" charset="0"/>
                <a:ea typeface="Times New Roman" pitchFamily="34" charset="-122"/>
                <a:cs typeface="Times New Roman" pitchFamily="34" charset="-120"/>
              </a:rPr>
              <a:t>; order n</a:t>
            </a:r>
            <a:r>
              <a:rPr lang="en-US" sz="1700" baseline="-40000" dirty="0">
                <a:solidFill>
                  <a:srgbClr val="1F1F1F"/>
                </a:solidFill>
                <a:latin typeface="Times New Roman" pitchFamily="34" charset="0"/>
                <a:ea typeface="Times New Roman" pitchFamily="34" charset="-122"/>
                <a:cs typeface="Times New Roman" pitchFamily="34" charset="-120"/>
              </a:rPr>
              <a:t>t</a:t>
            </a:r>
            <a:r>
              <a:rPr lang="en-US" sz="1700" dirty="0">
                <a:solidFill>
                  <a:srgbClr val="1F1F1F"/>
                </a:solidFill>
                <a:latin typeface="Times New Roman" pitchFamily="34" charset="0"/>
                <a:ea typeface="Times New Roman" pitchFamily="34" charset="-122"/>
                <a:cs typeface="Times New Roman" pitchFamily="34" charset="-120"/>
              </a:rPr>
              <a:t> = Σ g</a:t>
            </a:r>
            <a:endParaRPr lang="en-US" sz="1700" dirty="0"/>
          </a:p>
          <a:p>
            <a:pPr marL="342900" indent="-342900">
              <a:spcAft>
                <a:spcPts val="10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Each gate </a:t>
            </a:r>
            <a:r>
              <a:rPr lang="en-US" sz="1700" b="1" dirty="0">
                <a:solidFill>
                  <a:srgbClr val="1F1F1F"/>
                </a:solidFill>
                <a:latin typeface="Times New Roman" pitchFamily="34" charset="0"/>
                <a:ea typeface="Times New Roman" pitchFamily="34" charset="-122"/>
                <a:cs typeface="Times New Roman" pitchFamily="34" charset="-120"/>
              </a:rPr>
              <a:t>scales a factor’s strength</a:t>
            </a:r>
            <a:r>
              <a:rPr lang="en-US" sz="1700" dirty="0">
                <a:solidFill>
                  <a:srgbClr val="1F1F1F"/>
                </a:solidFill>
                <a:latin typeface="Times New Roman" pitchFamily="34" charset="0"/>
                <a:ea typeface="Times New Roman" pitchFamily="34" charset="-122"/>
                <a:cs typeface="Times New Roman" pitchFamily="34" charset="-120"/>
              </a:rPr>
              <a:t>; g = 0 makes it the identity</a:t>
            </a:r>
            <a:endParaRPr lang="en-US" sz="1700" dirty="0"/>
          </a:p>
          <a:p>
            <a:pPr marL="342900" indent="-342900">
              <a:spcAft>
                <a:spcPts val="10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Loss = task loss + γ · mean order, switched on after a warm-up</a:t>
            </a:r>
            <a:endParaRPr lang="en-US" sz="1700" dirty="0"/>
          </a:p>
          <a:p>
            <a:pPr marL="342900" indent="-342900">
              <a:spcAft>
                <a:spcPts val="10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Gate computed in float32 so it can still receive gradient</a:t>
            </a:r>
            <a:endParaRPr lang="en-US" sz="1700" dirty="0"/>
          </a:p>
        </p:txBody>
      </p:sp>
      <p:pic>
        <p:nvPicPr>
          <p:cNvPr id="6" name="Image 1" descr="/tmp/claude-0/-home-claude/23da7219-ccd0-5cfb-a54f-b2b098f81b46/scratchpad/ppt/img/layer.png"/>
          <p:cNvPicPr>
            <a:picLocks noChangeAspect="1"/>
          </p:cNvPicPr>
          <p:nvPr/>
        </p:nvPicPr>
        <p:blipFill>
          <a:blip r:embed="rId4"/>
          <a:stretch>
            <a:fillRect/>
          </a:stretch>
        </p:blipFill>
        <p:spPr>
          <a:xfrm>
            <a:off x="4754880" y="1012718"/>
            <a:ext cx="4114800" cy="32323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Experimental Results: Reproduction and Matched Compute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14</a:t>
            </a:r>
            <a:endParaRPr lang="en-US" sz="1000" dirty="0"/>
          </a:p>
        </p:txBody>
      </p:sp>
      <p:sp>
        <p:nvSpPr>
          <p:cNvPr id="5" name="Text 2"/>
          <p:cNvSpPr txBox="1"/>
          <p:nvPr/>
        </p:nvSpPr>
        <p:spPr>
          <a:xfrm>
            <a:off x="320040" y="658368"/>
            <a:ext cx="4114800" cy="365760"/>
          </a:xfrm>
          <a:prstGeom prst="rect">
            <a:avLst/>
          </a:prstGeom>
          <a:noFill/>
          <a:ln/>
        </p:spPr>
        <p:txBody>
          <a:bodyPr wrap="square" lIns="0" tIns="0" rIns="0" bIns="0" rtlCol="0" anchor="t"/>
          <a:lstStyle/>
          <a:p>
            <a:pPr marL="0" indent="0" algn="l">
              <a:buNone/>
            </a:pPr>
            <a:r>
              <a:rPr lang="en-US" sz="1800" b="1" dirty="0">
                <a:solidFill>
                  <a:srgbClr val="1F4E96"/>
                </a:solidFill>
                <a:latin typeface="Times New Roman" pitchFamily="34" charset="0"/>
                <a:ea typeface="Times New Roman" pitchFamily="34" charset="-122"/>
                <a:cs typeface="Times New Roman" pitchFamily="34" charset="-120"/>
              </a:rPr>
              <a:t>Reproduction of DeltaProduct</a:t>
            </a:r>
            <a:endParaRPr lang="en-US" sz="1800" dirty="0"/>
          </a:p>
        </p:txBody>
      </p:sp>
      <p:pic>
        <p:nvPicPr>
          <p:cNvPr id="6" name="Image 1" descr="/tmp/claude-0/-home-claude/23da7219-ccd0-5cfb-a54f-b2b098f81b46/scratchpad/ppt/img/fig1_length_extrapolation.png"/>
          <p:cNvPicPr>
            <a:picLocks noChangeAspect="1"/>
          </p:cNvPicPr>
          <p:nvPr/>
        </p:nvPicPr>
        <p:blipFill>
          <a:blip r:embed="rId4"/>
          <a:stretch>
            <a:fillRect/>
          </a:stretch>
        </p:blipFill>
        <p:spPr>
          <a:xfrm>
            <a:off x="357736" y="1024128"/>
            <a:ext cx="4039408" cy="2423160"/>
          </a:xfrm>
          <a:prstGeom prst="rect">
            <a:avLst/>
          </a:prstGeom>
        </p:spPr>
      </p:pic>
      <p:sp>
        <p:nvSpPr>
          <p:cNvPr id="7" name="Text 3"/>
          <p:cNvSpPr txBox="1"/>
          <p:nvPr/>
        </p:nvSpPr>
        <p:spPr>
          <a:xfrm>
            <a:off x="320040" y="3566160"/>
            <a:ext cx="4114800" cy="1280160"/>
          </a:xfrm>
          <a:prstGeom prst="rect">
            <a:avLst/>
          </a:prstGeom>
          <a:noFill/>
          <a:ln/>
        </p:spPr>
        <p:txBody>
          <a:bodyPr wrap="square" lIns="25400" tIns="25400" rIns="25400" bIns="25400" rtlCol="0" anchor="t"/>
          <a:lstStyle/>
          <a:p>
            <a:pPr marL="342900" indent="-34290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S</a:t>
            </a:r>
            <a:r>
              <a:rPr lang="en-US" sz="1500" baseline="-40000" dirty="0">
                <a:solidFill>
                  <a:srgbClr val="1F1F1F"/>
                </a:solidFill>
                <a:latin typeface="Times New Roman" pitchFamily="34" charset="0"/>
                <a:ea typeface="Times New Roman" pitchFamily="34" charset="-122"/>
                <a:cs typeface="Times New Roman" pitchFamily="34" charset="-120"/>
              </a:rPr>
              <a:t>3</a:t>
            </a:r>
            <a:r>
              <a:rPr lang="en-US" sz="1500" dirty="0">
                <a:solidFill>
                  <a:srgbClr val="1F1F1F"/>
                </a:solidFill>
                <a:latin typeface="Times New Roman" pitchFamily="34" charset="0"/>
                <a:ea typeface="Times New Roman" pitchFamily="34" charset="-122"/>
                <a:cs typeface="Times New Roman" pitchFamily="34" charset="-120"/>
              </a:rPr>
              <a:t>: 2 factors solve it, 1 factor fails (as published)</a:t>
            </a:r>
            <a:endParaRPr lang="en-US" sz="1500" dirty="0"/>
          </a:p>
          <a:p>
            <a:pPr marL="342900" indent="-34290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S</a:t>
            </a:r>
            <a:r>
              <a:rPr lang="en-US" sz="1500" baseline="-40000" dirty="0">
                <a:solidFill>
                  <a:srgbClr val="1F1F1F"/>
                </a:solidFill>
                <a:latin typeface="Times New Roman" pitchFamily="34" charset="0"/>
                <a:ea typeface="Times New Roman" pitchFamily="34" charset="-122"/>
                <a:cs typeface="Times New Roman" pitchFamily="34" charset="-120"/>
              </a:rPr>
              <a:t>5</a:t>
            </a:r>
            <a:r>
              <a:rPr lang="en-US" sz="1500" dirty="0">
                <a:solidFill>
                  <a:srgbClr val="1F1F1F"/>
                </a:solidFill>
                <a:latin typeface="Times New Roman" pitchFamily="34" charset="0"/>
                <a:ea typeface="Times New Roman" pitchFamily="34" charset="-122"/>
                <a:cs typeface="Times New Roman" pitchFamily="34" charset="-120"/>
              </a:rPr>
              <a:t>: 99.8% of sequences exact at training length 128; token accuracy 0.864 at 512</a:t>
            </a:r>
            <a:endParaRPr lang="en-US" sz="1500" dirty="0"/>
          </a:p>
        </p:txBody>
      </p:sp>
      <p:sp>
        <p:nvSpPr>
          <p:cNvPr id="8" name="Text 4"/>
          <p:cNvSpPr txBox="1"/>
          <p:nvPr/>
        </p:nvSpPr>
        <p:spPr>
          <a:xfrm>
            <a:off x="4663440" y="658368"/>
            <a:ext cx="4206240" cy="365760"/>
          </a:xfrm>
          <a:prstGeom prst="rect">
            <a:avLst/>
          </a:prstGeom>
          <a:noFill/>
          <a:ln/>
        </p:spPr>
        <p:txBody>
          <a:bodyPr wrap="square" lIns="0" tIns="0" rIns="0" bIns="0" rtlCol="0" anchor="t"/>
          <a:lstStyle/>
          <a:p>
            <a:pPr marL="0" indent="0" algn="l">
              <a:buNone/>
            </a:pPr>
            <a:r>
              <a:rPr lang="en-US" sz="1800" b="1" dirty="0">
                <a:solidFill>
                  <a:srgbClr val="1F4E96"/>
                </a:solidFill>
                <a:latin typeface="Times New Roman" pitchFamily="34" charset="0"/>
                <a:ea typeface="Times New Roman" pitchFamily="34" charset="-122"/>
                <a:cs typeface="Times New Roman" pitchFamily="34" charset="-120"/>
              </a:rPr>
              <a:t>Per-token allocation at matched compute</a:t>
            </a:r>
            <a:endParaRPr lang="en-US" sz="1800" dirty="0"/>
          </a:p>
        </p:txBody>
      </p:sp>
      <p:pic>
        <p:nvPicPr>
          <p:cNvPr id="9" name="Image 2" descr="/tmp/claude-0/-home-claude/23da7219-ccd0-5cfb-a54f-b2b098f81b46/scratchpad/ppt/img/fig2_matched_compute.png"/>
          <p:cNvPicPr>
            <a:picLocks noChangeAspect="1"/>
          </p:cNvPicPr>
          <p:nvPr/>
        </p:nvPicPr>
        <p:blipFill>
          <a:blip r:embed="rId5"/>
          <a:stretch>
            <a:fillRect/>
          </a:stretch>
        </p:blipFill>
        <p:spPr>
          <a:xfrm>
            <a:off x="4663440" y="1298071"/>
            <a:ext cx="4206240" cy="1875274"/>
          </a:xfrm>
          <a:prstGeom prst="rect">
            <a:avLst/>
          </a:prstGeom>
        </p:spPr>
      </p:pic>
      <p:sp>
        <p:nvSpPr>
          <p:cNvPr id="10" name="Text 5"/>
          <p:cNvSpPr txBox="1"/>
          <p:nvPr/>
        </p:nvSpPr>
        <p:spPr>
          <a:xfrm>
            <a:off x="4663440" y="3566160"/>
            <a:ext cx="4206240" cy="1280160"/>
          </a:xfrm>
          <a:prstGeom prst="rect">
            <a:avLst/>
          </a:prstGeom>
          <a:noFill/>
          <a:ln/>
        </p:spPr>
        <p:txBody>
          <a:bodyPr wrap="square" lIns="25400" tIns="25400" rIns="25400" bIns="25400" rtlCol="0" anchor="t"/>
          <a:lstStyle/>
          <a:p>
            <a:pPr marL="342900" indent="-34290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Reference allocation matches 4-factor accuracy at </a:t>
            </a:r>
            <a:r>
              <a:rPr lang="en-US" sz="1500" b="1" dirty="0">
                <a:solidFill>
                  <a:srgbClr val="1F1F1F"/>
                </a:solidFill>
                <a:latin typeface="Times New Roman" pitchFamily="34" charset="0"/>
                <a:ea typeface="Times New Roman" pitchFamily="34" charset="-122"/>
                <a:cs typeface="Times New Roman" pitchFamily="34" charset="-120"/>
              </a:rPr>
              <a:t>1.15 / 1.30 / 1.75</a:t>
            </a:r>
            <a:r>
              <a:rPr lang="en-US" sz="1500" dirty="0">
                <a:solidFill>
                  <a:srgbClr val="1F1F1F"/>
                </a:solidFill>
                <a:latin typeface="Times New Roman" pitchFamily="34" charset="0"/>
                <a:ea typeface="Times New Roman" pitchFamily="34" charset="-122"/>
                <a:cs typeface="Times New Roman" pitchFamily="34" charset="-120"/>
              </a:rPr>
              <a:t> factors per token</a:t>
            </a:r>
            <a:endParaRPr lang="en-US" sz="1500" dirty="0"/>
          </a:p>
          <a:p>
            <a:pPr marL="342900" indent="-342900">
              <a:spcAft>
                <a:spcPts val="6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Savings are in required factors; wall-clock time is unchanged so far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Experimental Results: Alphabet Closure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15</a:t>
            </a:r>
            <a:endParaRPr lang="en-US" sz="1000" dirty="0"/>
          </a:p>
        </p:txBody>
      </p:sp>
      <p:pic>
        <p:nvPicPr>
          <p:cNvPr id="5" name="Image 1" descr="/tmp/claude-0/-home-claude/23da7219-ccd0-5cfb-a54f-b2b098f81b46/scratchpad/ppt/img/fig4_escape_census.png"/>
          <p:cNvPicPr>
            <a:picLocks noChangeAspect="1"/>
          </p:cNvPicPr>
          <p:nvPr/>
        </p:nvPicPr>
        <p:blipFill>
          <a:blip r:embed="rId4"/>
          <a:stretch>
            <a:fillRect/>
          </a:stretch>
        </p:blipFill>
        <p:spPr>
          <a:xfrm>
            <a:off x="228600" y="1370238"/>
            <a:ext cx="5760720" cy="2288725"/>
          </a:xfrm>
          <a:prstGeom prst="rect">
            <a:avLst/>
          </a:prstGeom>
        </p:spPr>
      </p:pic>
      <p:sp>
        <p:nvSpPr>
          <p:cNvPr id="6" name="Text 2"/>
          <p:cNvSpPr txBox="1"/>
          <p:nvPr/>
        </p:nvSpPr>
        <p:spPr>
          <a:xfrm>
            <a:off x="228600" y="3750402"/>
            <a:ext cx="5760720" cy="274320"/>
          </a:xfrm>
          <a:prstGeom prst="rect">
            <a:avLst/>
          </a:prstGeom>
          <a:noFill/>
          <a:ln/>
        </p:spPr>
        <p:txBody>
          <a:bodyPr wrap="square" lIns="0" tIns="0" rIns="0" bIns="0" rtlCol="0" anchor="t"/>
          <a:lstStyle/>
          <a:p>
            <a:pPr marL="0" indent="0" algn="ctr">
              <a:buNone/>
            </a:pPr>
            <a:r>
              <a:rPr lang="en-US" sz="1100" i="1" dirty="0">
                <a:solidFill>
                  <a:srgbClr val="5A5A5A"/>
                </a:solidFill>
                <a:latin typeface="Times New Roman" pitchFamily="34" charset="0"/>
                <a:ea typeface="Times New Roman" pitchFamily="34" charset="-122"/>
                <a:cs typeface="Times New Roman" pitchFamily="34" charset="-120"/>
              </a:rPr>
              <a:t>Fraction of 10 runs that escape the failure plateau (95% intervals)</a:t>
            </a:r>
            <a:endParaRPr lang="en-US" sz="1100" dirty="0"/>
          </a:p>
        </p:txBody>
      </p:sp>
      <p:sp>
        <p:nvSpPr>
          <p:cNvPr id="7" name="Text 3"/>
          <p:cNvSpPr txBox="1"/>
          <p:nvPr/>
        </p:nvSpPr>
        <p:spPr>
          <a:xfrm>
            <a:off x="6126480" y="822960"/>
            <a:ext cx="2743200" cy="3840480"/>
          </a:xfrm>
          <a:prstGeom prst="rect">
            <a:avLst/>
          </a:prstGeom>
          <a:noFill/>
          <a:ln/>
        </p:spPr>
        <p:txBody>
          <a:bodyPr wrap="square" lIns="25400" tIns="25400" rIns="25400" bIns="25400" rtlCol="0" anchor="t"/>
          <a:lstStyle/>
          <a:p>
            <a:pPr marL="342900" indent="-342900">
              <a:spcAft>
                <a:spcPts val="14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5-cycle alphabets that generate A</a:t>
            </a:r>
            <a:r>
              <a:rPr lang="en-US" sz="1700" baseline="-40000" dirty="0">
                <a:solidFill>
                  <a:srgbClr val="1F1F1F"/>
                </a:solidFill>
                <a:latin typeface="Times New Roman" pitchFamily="34" charset="0"/>
                <a:ea typeface="Times New Roman" pitchFamily="34" charset="-122"/>
                <a:cs typeface="Times New Roman" pitchFamily="34" charset="-120"/>
              </a:rPr>
              <a:t>5</a:t>
            </a:r>
            <a:r>
              <a:rPr lang="en-US" sz="1700" dirty="0">
                <a:solidFill>
                  <a:srgbClr val="1F1F1F"/>
                </a:solidFill>
                <a:latin typeface="Times New Roman" pitchFamily="34" charset="0"/>
                <a:ea typeface="Times New Roman" pitchFamily="34" charset="-122"/>
                <a:cs typeface="Times New Roman" pitchFamily="34" charset="-120"/>
              </a:rPr>
              <a:t> are learned with </a:t>
            </a:r>
            <a:r>
              <a:rPr lang="en-US" sz="1700" b="1" dirty="0">
                <a:solidFill>
                  <a:srgbClr val="1F1F1F"/>
                </a:solidFill>
                <a:latin typeface="Times New Roman" pitchFamily="34" charset="0"/>
                <a:ea typeface="Times New Roman" pitchFamily="34" charset="-122"/>
                <a:cs typeface="Times New Roman" pitchFamily="34" charset="-120"/>
              </a:rPr>
              <a:t>2 factors</a:t>
            </a:r>
            <a:r>
              <a:rPr lang="en-US" sz="1700" dirty="0">
                <a:solidFill>
                  <a:srgbClr val="1F1F1F"/>
                </a:solidFill>
                <a:latin typeface="Times New Roman" pitchFamily="34" charset="0"/>
                <a:ea typeface="Times New Roman" pitchFamily="34" charset="-122"/>
                <a:cs typeface="Times New Roman" pitchFamily="34" charset="-120"/>
              </a:rPr>
              <a:t>, not 4</a:t>
            </a:r>
            <a:endParaRPr lang="en-US" sz="1700" dirty="0"/>
          </a:p>
          <a:p>
            <a:pPr marL="342900" indent="-342900">
              <a:spcAft>
                <a:spcPts val="14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Training is </a:t>
            </a:r>
            <a:r>
              <a:rPr lang="en-US" sz="1700" b="1" dirty="0">
                <a:solidFill>
                  <a:srgbClr val="1F1F1F"/>
                </a:solidFill>
                <a:latin typeface="Times New Roman" pitchFamily="34" charset="0"/>
                <a:ea typeface="Times New Roman" pitchFamily="34" charset="-122"/>
                <a:cs typeface="Times New Roman" pitchFamily="34" charset="-120"/>
              </a:rPr>
              <a:t>bistable</a:t>
            </a:r>
            <a:r>
              <a:rPr lang="en-US" sz="1700" dirty="0">
                <a:solidFill>
                  <a:srgbClr val="1F1F1F"/>
                </a:solidFill>
                <a:latin typeface="Times New Roman" pitchFamily="34" charset="0"/>
                <a:ea typeface="Times New Roman" pitchFamily="34" charset="-122"/>
                <a:cs typeface="Times New Roman" pitchFamily="34" charset="-120"/>
              </a:rPr>
              <a:t>: identical runs reached 0.96 and 0.12</a:t>
            </a:r>
            <a:endParaRPr lang="en-US" sz="1700" dirty="0"/>
          </a:p>
          <a:p>
            <a:pPr marL="342900" indent="-342900">
              <a:spcAft>
                <a:spcPts val="14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So results are reported as successes out of 10 runs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Experimental Results: The Learned Gate</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16</a:t>
            </a:r>
            <a:endParaRPr lang="en-US" sz="1000" dirty="0"/>
          </a:p>
        </p:txBody>
      </p:sp>
      <p:pic>
        <p:nvPicPr>
          <p:cNvPr id="5" name="Image 1" descr="/tmp/claude-0/-home-claude/23da7219-ccd0-5cfb-a54f-b2b098f81b46/scratchpad/ppt/img/fig7_gate_allocation.png"/>
          <p:cNvPicPr>
            <a:picLocks noChangeAspect="1"/>
          </p:cNvPicPr>
          <p:nvPr/>
        </p:nvPicPr>
        <p:blipFill>
          <a:blip r:embed="rId4"/>
          <a:stretch>
            <a:fillRect/>
          </a:stretch>
        </p:blipFill>
        <p:spPr>
          <a:xfrm>
            <a:off x="274320" y="776600"/>
            <a:ext cx="5120640" cy="2561601"/>
          </a:xfrm>
          <a:prstGeom prst="rect">
            <a:avLst/>
          </a:prstGeom>
        </p:spPr>
      </p:pic>
      <p:sp>
        <p:nvSpPr>
          <p:cNvPr id="6" name="Text 2"/>
          <p:cNvSpPr txBox="1"/>
          <p:nvPr/>
        </p:nvSpPr>
        <p:spPr>
          <a:xfrm>
            <a:off x="274320" y="3429000"/>
            <a:ext cx="5120640" cy="274320"/>
          </a:xfrm>
          <a:prstGeom prst="rect">
            <a:avLst/>
          </a:prstGeom>
          <a:noFill/>
          <a:ln/>
        </p:spPr>
        <p:txBody>
          <a:bodyPr wrap="square" lIns="0" tIns="0" rIns="0" bIns="0" rtlCol="0" anchor="t"/>
          <a:lstStyle/>
          <a:p>
            <a:pPr marL="0" indent="0" algn="ctr">
              <a:buNone/>
            </a:pPr>
            <a:r>
              <a:rPr lang="en-US" sz="1100" i="1" dirty="0">
                <a:solidFill>
                  <a:srgbClr val="5A5A5A"/>
                </a:solidFill>
                <a:latin typeface="Times New Roman" pitchFamily="34" charset="0"/>
                <a:ea typeface="Times New Roman" pitchFamily="34" charset="-122"/>
                <a:cs typeface="Times New Roman" pitchFamily="34" charset="-120"/>
              </a:rPr>
              <a:t>Mean factors per token in each run of the learned gate</a:t>
            </a:r>
            <a:endParaRPr lang="en-US" sz="1100" dirty="0"/>
          </a:p>
        </p:txBody>
      </p:sp>
      <p:sp>
        <p:nvSpPr>
          <p:cNvPr id="7" name="Text 3"/>
          <p:cNvSpPr txBox="1"/>
          <p:nvPr/>
        </p:nvSpPr>
        <p:spPr>
          <a:xfrm>
            <a:off x="411480" y="3794760"/>
            <a:ext cx="5029200" cy="109728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No supervision on the allocation; accuracy ≥ 0.998 in every run</a:t>
            </a:r>
            <a:endParaRPr lang="en-US" sz="1500" dirty="0"/>
          </a:p>
          <a:p>
            <a:pPr marL="342900" indent="-342900">
              <a:spcAft>
                <a:spcPts val="4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Remaining runs keep all or nearly all factors</a:t>
            </a:r>
            <a:endParaRPr lang="en-US" sz="1500" dirty="0"/>
          </a:p>
        </p:txBody>
      </p:sp>
      <p:sp>
        <p:nvSpPr>
          <p:cNvPr id="8" name="Shape 4"/>
          <p:cNvSpPr/>
          <p:nvPr/>
        </p:nvSpPr>
        <p:spPr>
          <a:xfrm>
            <a:off x="5669280" y="777240"/>
            <a:ext cx="3108960" cy="1143000"/>
          </a:xfrm>
          <a:prstGeom prst="roundRect">
            <a:avLst>
              <a:gd name="adj" fmla="val 6400"/>
            </a:avLst>
          </a:prstGeom>
          <a:solidFill>
            <a:srgbClr val="EEF2FA"/>
          </a:solidFill>
          <a:ln w="12700">
            <a:solidFill>
              <a:srgbClr val="C9D4EA"/>
            </a:solidFill>
            <a:prstDash val="solid"/>
          </a:ln>
        </p:spPr>
      </p:sp>
      <p:sp>
        <p:nvSpPr>
          <p:cNvPr id="9" name="Text 5"/>
          <p:cNvSpPr txBox="1"/>
          <p:nvPr/>
        </p:nvSpPr>
        <p:spPr>
          <a:xfrm>
            <a:off x="5669280" y="850392"/>
            <a:ext cx="3108960" cy="571500"/>
          </a:xfrm>
          <a:prstGeom prst="rect">
            <a:avLst/>
          </a:prstGeom>
          <a:noFill/>
          <a:ln/>
        </p:spPr>
        <p:txBody>
          <a:bodyPr wrap="square" lIns="0" tIns="0" rIns="0" bIns="0" rtlCol="0" anchor="ctr"/>
          <a:lstStyle/>
          <a:p>
            <a:pPr marL="0" indent="0" algn="ctr">
              <a:buNone/>
            </a:pPr>
            <a:r>
              <a:rPr lang="en-US" sz="3000" b="1" dirty="0">
                <a:solidFill>
                  <a:srgbClr val="1F4E96"/>
                </a:solidFill>
                <a:latin typeface="Times New Roman" pitchFamily="34" charset="0"/>
                <a:ea typeface="Times New Roman" pitchFamily="34" charset="-122"/>
                <a:cs typeface="Times New Roman" pitchFamily="34" charset="-120"/>
              </a:rPr>
              <a:t>3 / 10</a:t>
            </a:r>
            <a:endParaRPr lang="en-US" sz="3000" dirty="0"/>
          </a:p>
        </p:txBody>
      </p:sp>
      <p:sp>
        <p:nvSpPr>
          <p:cNvPr id="10" name="Text 6"/>
          <p:cNvSpPr txBox="1"/>
          <p:nvPr/>
        </p:nvSpPr>
        <p:spPr>
          <a:xfrm>
            <a:off x="5779008" y="1371600"/>
            <a:ext cx="2889504" cy="514350"/>
          </a:xfrm>
          <a:prstGeom prst="rect">
            <a:avLst/>
          </a:prstGeom>
          <a:noFill/>
          <a:ln/>
        </p:spPr>
        <p:txBody>
          <a:bodyPr wrap="square" lIns="0" tIns="0" rIns="0" bIns="0" rtlCol="0" anchor="t"/>
          <a:lstStyle/>
          <a:p>
            <a:pPr marL="0" indent="0" algn="ctr">
              <a:buNone/>
            </a:pPr>
            <a:r>
              <a:rPr lang="en-US" sz="1300" dirty="0">
                <a:solidFill>
                  <a:srgbClr val="5A5A5A"/>
                </a:solidFill>
                <a:latin typeface="Times New Roman" pitchFamily="34" charset="0"/>
                <a:ea typeface="Times New Roman" pitchFamily="34" charset="-122"/>
                <a:cs typeface="Times New Roman" pitchFamily="34" charset="-120"/>
              </a:rPr>
              <a:t>runs recover the demand structure</a:t>
            </a:r>
            <a:endParaRPr lang="en-US" sz="1300" dirty="0"/>
          </a:p>
        </p:txBody>
      </p:sp>
      <p:sp>
        <p:nvSpPr>
          <p:cNvPr id="11" name="Shape 7"/>
          <p:cNvSpPr/>
          <p:nvPr/>
        </p:nvSpPr>
        <p:spPr>
          <a:xfrm>
            <a:off x="5669280" y="2057400"/>
            <a:ext cx="3108960" cy="1143000"/>
          </a:xfrm>
          <a:prstGeom prst="roundRect">
            <a:avLst>
              <a:gd name="adj" fmla="val 6400"/>
            </a:avLst>
          </a:prstGeom>
          <a:solidFill>
            <a:srgbClr val="EEF2FA"/>
          </a:solidFill>
          <a:ln w="12700">
            <a:solidFill>
              <a:srgbClr val="C9D4EA"/>
            </a:solidFill>
            <a:prstDash val="solid"/>
          </a:ln>
        </p:spPr>
      </p:sp>
      <p:sp>
        <p:nvSpPr>
          <p:cNvPr id="12" name="Text 8"/>
          <p:cNvSpPr txBox="1"/>
          <p:nvPr/>
        </p:nvSpPr>
        <p:spPr>
          <a:xfrm>
            <a:off x="5669280" y="2130552"/>
            <a:ext cx="3108960" cy="571500"/>
          </a:xfrm>
          <a:prstGeom prst="rect">
            <a:avLst/>
          </a:prstGeom>
          <a:noFill/>
          <a:ln/>
        </p:spPr>
        <p:txBody>
          <a:bodyPr wrap="square" lIns="0" tIns="0" rIns="0" bIns="0" rtlCol="0" anchor="ctr"/>
          <a:lstStyle/>
          <a:p>
            <a:pPr marL="0" indent="0" algn="ctr">
              <a:buNone/>
            </a:pPr>
            <a:r>
              <a:rPr lang="en-US" sz="3000" b="1" dirty="0">
                <a:solidFill>
                  <a:srgbClr val="1F4E96"/>
                </a:solidFill>
                <a:latin typeface="Times New Roman" pitchFamily="34" charset="0"/>
                <a:ea typeface="Times New Roman" pitchFamily="34" charset="-122"/>
                <a:cs typeface="Times New Roman" pitchFamily="34" charset="-120"/>
              </a:rPr>
              <a:t>2.20</a:t>
            </a:r>
            <a:endParaRPr lang="en-US" sz="3000" dirty="0"/>
          </a:p>
        </p:txBody>
      </p:sp>
      <p:sp>
        <p:nvSpPr>
          <p:cNvPr id="13" name="Text 9"/>
          <p:cNvSpPr txBox="1"/>
          <p:nvPr/>
        </p:nvSpPr>
        <p:spPr>
          <a:xfrm>
            <a:off x="5779008" y="2651760"/>
            <a:ext cx="2889504" cy="514350"/>
          </a:xfrm>
          <a:prstGeom prst="rect">
            <a:avLst/>
          </a:prstGeom>
          <a:noFill/>
          <a:ln/>
        </p:spPr>
        <p:txBody>
          <a:bodyPr wrap="square" lIns="0" tIns="0" rIns="0" bIns="0" rtlCol="0" anchor="t"/>
          <a:lstStyle/>
          <a:p>
            <a:pPr marL="0" indent="0" algn="ctr">
              <a:buNone/>
            </a:pPr>
            <a:r>
              <a:rPr lang="en-US" sz="1300" dirty="0">
                <a:solidFill>
                  <a:srgbClr val="5A5A5A"/>
                </a:solidFill>
                <a:latin typeface="Times New Roman" pitchFamily="34" charset="0"/>
                <a:ea typeface="Times New Roman" pitchFamily="34" charset="-122"/>
                <a:cs typeface="Times New Roman" pitchFamily="34" charset="-120"/>
              </a:rPr>
              <a:t>factors per token at token accuracy 0.9998</a:t>
            </a:r>
            <a:endParaRPr lang="en-US" sz="1300" dirty="0"/>
          </a:p>
        </p:txBody>
      </p:sp>
      <p:sp>
        <p:nvSpPr>
          <p:cNvPr id="14" name="Shape 10"/>
          <p:cNvSpPr/>
          <p:nvPr/>
        </p:nvSpPr>
        <p:spPr>
          <a:xfrm>
            <a:off x="5669280" y="3337560"/>
            <a:ext cx="3108960" cy="1143000"/>
          </a:xfrm>
          <a:prstGeom prst="roundRect">
            <a:avLst>
              <a:gd name="adj" fmla="val 6400"/>
            </a:avLst>
          </a:prstGeom>
          <a:solidFill>
            <a:srgbClr val="EEF2FA"/>
          </a:solidFill>
          <a:ln w="12700">
            <a:solidFill>
              <a:srgbClr val="C9D4EA"/>
            </a:solidFill>
            <a:prstDash val="solid"/>
          </a:ln>
        </p:spPr>
      </p:sp>
      <p:sp>
        <p:nvSpPr>
          <p:cNvPr id="15" name="Text 11"/>
          <p:cNvSpPr txBox="1"/>
          <p:nvPr/>
        </p:nvSpPr>
        <p:spPr>
          <a:xfrm>
            <a:off x="5669280" y="3410712"/>
            <a:ext cx="3108960" cy="571500"/>
          </a:xfrm>
          <a:prstGeom prst="rect">
            <a:avLst/>
          </a:prstGeom>
          <a:noFill/>
          <a:ln/>
        </p:spPr>
        <p:txBody>
          <a:bodyPr wrap="square" lIns="0" tIns="0" rIns="0" bIns="0" rtlCol="0" anchor="ctr"/>
          <a:lstStyle/>
          <a:p>
            <a:pPr marL="0" indent="0" algn="ctr">
              <a:buNone/>
            </a:pPr>
            <a:r>
              <a:rPr lang="en-US" sz="3000" b="1" dirty="0">
                <a:solidFill>
                  <a:srgbClr val="C0591C"/>
                </a:solidFill>
                <a:latin typeface="Times New Roman" pitchFamily="34" charset="0"/>
                <a:ea typeface="Times New Roman" pitchFamily="34" charset="-122"/>
                <a:cs typeface="Times New Roman" pitchFamily="34" charset="-120"/>
              </a:rPr>
              <a:t>0</a:t>
            </a:r>
            <a:endParaRPr lang="en-US" sz="3000" dirty="0"/>
          </a:p>
        </p:txBody>
      </p:sp>
      <p:sp>
        <p:nvSpPr>
          <p:cNvPr id="16" name="Text 12"/>
          <p:cNvSpPr txBox="1"/>
          <p:nvPr/>
        </p:nvSpPr>
        <p:spPr>
          <a:xfrm>
            <a:off x="5779008" y="3931920"/>
            <a:ext cx="2889504" cy="514350"/>
          </a:xfrm>
          <a:prstGeom prst="rect">
            <a:avLst/>
          </a:prstGeom>
          <a:noFill/>
          <a:ln/>
        </p:spPr>
        <p:txBody>
          <a:bodyPr wrap="square" lIns="0" tIns="0" rIns="0" bIns="0" rtlCol="0" anchor="t"/>
          <a:lstStyle/>
          <a:p>
            <a:pPr marL="0" indent="0" algn="ctr">
              <a:buNone/>
            </a:pPr>
            <a:r>
              <a:rPr lang="en-US" sz="1300" dirty="0">
                <a:solidFill>
                  <a:srgbClr val="5A5A5A"/>
                </a:solidFill>
                <a:latin typeface="Times New Roman" pitchFamily="34" charset="0"/>
                <a:ea typeface="Times New Roman" pitchFamily="34" charset="-122"/>
                <a:cs typeface="Times New Roman" pitchFamily="34" charset="-120"/>
              </a:rPr>
              <a:t>tokens given too few factors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Experimental Results: Entity Tracking in Text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18</a:t>
            </a:r>
            <a:endParaRPr lang="en-US" sz="1000" dirty="0"/>
          </a:p>
        </p:txBody>
      </p:sp>
      <p:pic>
        <p:nvPicPr>
          <p:cNvPr id="5" name="Image 1" descr="/tmp/claude-0/-home-claude/23da7219-ccd0-5cfb-a54f-b2b098f81b46/scratchpad/ppt/img/fig10_boxes_entity_tracking.png"/>
          <p:cNvPicPr>
            <a:picLocks noChangeAspect="1"/>
          </p:cNvPicPr>
          <p:nvPr/>
        </p:nvPicPr>
        <p:blipFill>
          <a:blip r:embed="rId4"/>
          <a:stretch>
            <a:fillRect/>
          </a:stretch>
        </p:blipFill>
        <p:spPr>
          <a:xfrm>
            <a:off x="274320" y="873455"/>
            <a:ext cx="5486400" cy="2367890"/>
          </a:xfrm>
          <a:prstGeom prst="rect">
            <a:avLst/>
          </a:prstGeom>
        </p:spPr>
      </p:pic>
      <p:sp>
        <p:nvSpPr>
          <p:cNvPr id="6" name="Text 2"/>
          <p:cNvSpPr txBox="1"/>
          <p:nvPr/>
        </p:nvSpPr>
        <p:spPr>
          <a:xfrm>
            <a:off x="274320" y="3429000"/>
            <a:ext cx="5486400" cy="274320"/>
          </a:xfrm>
          <a:prstGeom prst="rect">
            <a:avLst/>
          </a:prstGeom>
          <a:noFill/>
          <a:ln/>
        </p:spPr>
        <p:txBody>
          <a:bodyPr wrap="square" lIns="0" tIns="0" rIns="0" bIns="0" rtlCol="0" anchor="t"/>
          <a:lstStyle/>
          <a:p>
            <a:pPr marL="0" indent="0" algn="ctr">
              <a:buNone/>
            </a:pPr>
            <a:r>
              <a:rPr lang="en-US" sz="1100" i="1" dirty="0">
                <a:solidFill>
                  <a:srgbClr val="5A5A5A"/>
                </a:solidFill>
                <a:latin typeface="Times New Roman" pitchFamily="34" charset="0"/>
                <a:ea typeface="Times New Roman" pitchFamily="34" charset="-122"/>
                <a:cs typeface="Times New Roman" pitchFamily="34" charset="-120"/>
              </a:rPr>
              <a:t>Boxes dataset: exact-match accuracy vs number of operations (3 seeds)</a:t>
            </a:r>
            <a:endParaRPr lang="en-US" sz="1100" dirty="0"/>
          </a:p>
        </p:txBody>
      </p:sp>
      <p:sp>
        <p:nvSpPr>
          <p:cNvPr id="7" name="Text 3"/>
          <p:cNvSpPr txBox="1"/>
          <p:nvPr/>
        </p:nvSpPr>
        <p:spPr>
          <a:xfrm>
            <a:off x="411480" y="3794760"/>
            <a:ext cx="5394960" cy="1097280"/>
          </a:xfrm>
          <a:prstGeom prst="rect">
            <a:avLst/>
          </a:prstGeom>
          <a:noFill/>
          <a:ln/>
        </p:spPr>
        <p:txBody>
          <a:bodyPr wrap="square" lIns="25400" tIns="25400" rIns="25400" bIns="25400" rtlCol="0" anchor="t"/>
          <a:lstStyle/>
          <a:p>
            <a:pPr marL="342900" indent="-342900">
              <a:spcAft>
                <a:spcPts val="4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Trained on ≤ 2 operations; still 0.818 at 5 or more</a:t>
            </a:r>
            <a:endParaRPr lang="en-US" sz="1500" dirty="0"/>
          </a:p>
          <a:p>
            <a:pPr marL="342900" indent="-342900">
              <a:spcAft>
                <a:spcPts val="400"/>
              </a:spcAft>
              <a:buSzPct val="100000"/>
              <a:buChar char="•"/>
            </a:pPr>
            <a:r>
              <a:rPr lang="en-US" sz="1500" dirty="0">
                <a:solidFill>
                  <a:srgbClr val="1F1F1F"/>
                </a:solidFill>
                <a:latin typeface="Times New Roman" pitchFamily="34" charset="0"/>
                <a:ea typeface="Times New Roman" pitchFamily="34" charset="-122"/>
                <a:cs typeface="Times New Roman" pitchFamily="34" charset="-120"/>
              </a:rPr>
              <a:t>Mixing attention with DeltaProduct does not help</a:t>
            </a:r>
            <a:endParaRPr lang="en-US" sz="1500" dirty="0"/>
          </a:p>
        </p:txBody>
      </p:sp>
      <p:sp>
        <p:nvSpPr>
          <p:cNvPr id="8" name="Shape 4"/>
          <p:cNvSpPr/>
          <p:nvPr/>
        </p:nvSpPr>
        <p:spPr>
          <a:xfrm>
            <a:off x="5989320" y="822960"/>
            <a:ext cx="2834640" cy="1188720"/>
          </a:xfrm>
          <a:prstGeom prst="roundRect">
            <a:avLst>
              <a:gd name="adj" fmla="val 6154"/>
            </a:avLst>
          </a:prstGeom>
          <a:solidFill>
            <a:srgbClr val="EEF2FA"/>
          </a:solidFill>
          <a:ln w="12700">
            <a:solidFill>
              <a:srgbClr val="C9D4EA"/>
            </a:solidFill>
            <a:prstDash val="solid"/>
          </a:ln>
        </p:spPr>
      </p:sp>
      <p:sp>
        <p:nvSpPr>
          <p:cNvPr id="9" name="Text 5"/>
          <p:cNvSpPr txBox="1"/>
          <p:nvPr/>
        </p:nvSpPr>
        <p:spPr>
          <a:xfrm>
            <a:off x="5989320" y="896112"/>
            <a:ext cx="2834640" cy="594360"/>
          </a:xfrm>
          <a:prstGeom prst="rect">
            <a:avLst/>
          </a:prstGeom>
          <a:noFill/>
          <a:ln/>
        </p:spPr>
        <p:txBody>
          <a:bodyPr wrap="square" lIns="0" tIns="0" rIns="0" bIns="0" rtlCol="0" anchor="ctr"/>
          <a:lstStyle/>
          <a:p>
            <a:pPr marL="0" indent="0" algn="ctr">
              <a:buNone/>
            </a:pPr>
            <a:r>
              <a:rPr lang="en-US" sz="3000" b="1" dirty="0">
                <a:solidFill>
                  <a:srgbClr val="1F4E96"/>
                </a:solidFill>
                <a:latin typeface="Times New Roman" pitchFamily="34" charset="0"/>
                <a:ea typeface="Times New Roman" pitchFamily="34" charset="-122"/>
                <a:cs typeface="Times New Roman" pitchFamily="34" charset="-120"/>
              </a:rPr>
              <a:t>0.968</a:t>
            </a:r>
            <a:endParaRPr lang="en-US" sz="3000" dirty="0"/>
          </a:p>
        </p:txBody>
      </p:sp>
      <p:sp>
        <p:nvSpPr>
          <p:cNvPr id="10" name="Text 6"/>
          <p:cNvSpPr txBox="1"/>
          <p:nvPr/>
        </p:nvSpPr>
        <p:spPr>
          <a:xfrm>
            <a:off x="6099048" y="1441094"/>
            <a:ext cx="2615184" cy="534924"/>
          </a:xfrm>
          <a:prstGeom prst="rect">
            <a:avLst/>
          </a:prstGeom>
          <a:noFill/>
          <a:ln/>
        </p:spPr>
        <p:txBody>
          <a:bodyPr wrap="square" lIns="0" tIns="0" rIns="0" bIns="0" rtlCol="0" anchor="t"/>
          <a:lstStyle/>
          <a:p>
            <a:pPr marL="0" indent="0" algn="ctr">
              <a:buNone/>
            </a:pPr>
            <a:r>
              <a:rPr lang="en-US" sz="1300" dirty="0">
                <a:solidFill>
                  <a:srgbClr val="5A5A5A"/>
                </a:solidFill>
                <a:latin typeface="Times New Roman" pitchFamily="34" charset="0"/>
                <a:ea typeface="Times New Roman" pitchFamily="34" charset="-122"/>
                <a:cs typeface="Times New Roman" pitchFamily="34" charset="-120"/>
              </a:rPr>
              <a:t>DeltaProduct after one operation</a:t>
            </a:r>
            <a:endParaRPr lang="en-US" sz="1300" dirty="0"/>
          </a:p>
        </p:txBody>
      </p:sp>
      <p:sp>
        <p:nvSpPr>
          <p:cNvPr id="11" name="Shape 7"/>
          <p:cNvSpPr/>
          <p:nvPr/>
        </p:nvSpPr>
        <p:spPr>
          <a:xfrm>
            <a:off x="5989320" y="2194560"/>
            <a:ext cx="2834640" cy="1188720"/>
          </a:xfrm>
          <a:prstGeom prst="roundRect">
            <a:avLst>
              <a:gd name="adj" fmla="val 6154"/>
            </a:avLst>
          </a:prstGeom>
          <a:solidFill>
            <a:srgbClr val="EEF2FA"/>
          </a:solidFill>
          <a:ln w="12700">
            <a:solidFill>
              <a:srgbClr val="C9D4EA"/>
            </a:solidFill>
            <a:prstDash val="solid"/>
          </a:ln>
        </p:spPr>
      </p:sp>
      <p:sp>
        <p:nvSpPr>
          <p:cNvPr id="12" name="Text 8"/>
          <p:cNvSpPr txBox="1"/>
          <p:nvPr/>
        </p:nvSpPr>
        <p:spPr>
          <a:xfrm>
            <a:off x="5989320" y="2267712"/>
            <a:ext cx="2834640" cy="594360"/>
          </a:xfrm>
          <a:prstGeom prst="rect">
            <a:avLst/>
          </a:prstGeom>
          <a:noFill/>
          <a:ln/>
        </p:spPr>
        <p:txBody>
          <a:bodyPr wrap="square" lIns="0" tIns="0" rIns="0" bIns="0" rtlCol="0" anchor="ctr"/>
          <a:lstStyle/>
          <a:p>
            <a:pPr marL="0" indent="0" algn="ctr">
              <a:buNone/>
            </a:pPr>
            <a:r>
              <a:rPr lang="en-US" sz="3000" b="1" dirty="0">
                <a:solidFill>
                  <a:srgbClr val="C0591C"/>
                </a:solidFill>
                <a:latin typeface="Times New Roman" pitchFamily="34" charset="0"/>
                <a:ea typeface="Times New Roman" pitchFamily="34" charset="-122"/>
                <a:cs typeface="Times New Roman" pitchFamily="34" charset="-120"/>
              </a:rPr>
              <a:t>0.312</a:t>
            </a:r>
            <a:endParaRPr lang="en-US" sz="3000" dirty="0"/>
          </a:p>
        </p:txBody>
      </p:sp>
      <p:sp>
        <p:nvSpPr>
          <p:cNvPr id="13" name="Text 9"/>
          <p:cNvSpPr txBox="1"/>
          <p:nvPr/>
        </p:nvSpPr>
        <p:spPr>
          <a:xfrm>
            <a:off x="6099048" y="2812694"/>
            <a:ext cx="2615184" cy="534924"/>
          </a:xfrm>
          <a:prstGeom prst="rect">
            <a:avLst/>
          </a:prstGeom>
          <a:noFill/>
          <a:ln/>
        </p:spPr>
        <p:txBody>
          <a:bodyPr wrap="square" lIns="0" tIns="0" rIns="0" bIns="0" rtlCol="0" anchor="t"/>
          <a:lstStyle/>
          <a:p>
            <a:pPr marL="0" indent="0" algn="ctr">
              <a:buNone/>
            </a:pPr>
            <a:r>
              <a:rPr lang="en-US" sz="1300" dirty="0">
                <a:solidFill>
                  <a:srgbClr val="5A5A5A"/>
                </a:solidFill>
                <a:latin typeface="Times New Roman" pitchFamily="34" charset="0"/>
                <a:ea typeface="Times New Roman" pitchFamily="34" charset="-122"/>
                <a:cs typeface="Times New Roman" pitchFamily="34" charset="-120"/>
              </a:rPr>
              <a:t>attention of the same size</a:t>
            </a:r>
            <a:endParaRPr lang="en-US" sz="1300" dirty="0"/>
          </a:p>
        </p:txBody>
      </p:sp>
      <p:sp>
        <p:nvSpPr>
          <p:cNvPr id="14" name="Text 10"/>
          <p:cNvSpPr txBox="1"/>
          <p:nvPr/>
        </p:nvSpPr>
        <p:spPr>
          <a:xfrm>
            <a:off x="5989320" y="3611880"/>
            <a:ext cx="2834640" cy="822960"/>
          </a:xfrm>
          <a:prstGeom prst="rect">
            <a:avLst/>
          </a:prstGeom>
          <a:noFill/>
          <a:ln/>
        </p:spPr>
        <p:txBody>
          <a:bodyPr wrap="square" lIns="0" tIns="0" rIns="0" bIns="0" rtlCol="0" anchor="t"/>
          <a:lstStyle/>
          <a:p>
            <a:pPr marL="0" indent="0" algn="l">
              <a:buNone/>
            </a:pPr>
            <a:r>
              <a:rPr lang="en-US" sz="1400" i="1" dirty="0">
                <a:solidFill>
                  <a:srgbClr val="5A5A5A"/>
                </a:solidFill>
                <a:latin typeface="Times New Roman" pitchFamily="34" charset="0"/>
                <a:ea typeface="Times New Roman" pitchFamily="34" charset="-122"/>
                <a:cs typeface="Times New Roman" pitchFamily="34" charset="-120"/>
              </a:rPr>
              <a:t>Fixed order n</a:t>
            </a:r>
            <a:r>
              <a:rPr lang="en-US" sz="1400" i="1" baseline="-40000" dirty="0">
                <a:solidFill>
                  <a:srgbClr val="5A5A5A"/>
                </a:solidFill>
                <a:latin typeface="Times New Roman" pitchFamily="34" charset="0"/>
                <a:ea typeface="Times New Roman" pitchFamily="34" charset="-122"/>
                <a:cs typeface="Times New Roman" pitchFamily="34" charset="-120"/>
              </a:rPr>
              <a:t>h</a:t>
            </a:r>
            <a:r>
              <a:rPr lang="en-US" sz="1400" i="1" dirty="0">
                <a:solidFill>
                  <a:srgbClr val="5A5A5A"/>
                </a:solidFill>
                <a:latin typeface="Times New Roman" pitchFamily="34" charset="0"/>
                <a:ea typeface="Times New Roman" pitchFamily="34" charset="-122"/>
                <a:cs typeface="Times New Roman" pitchFamily="34" charset="-120"/>
              </a:rPr>
              <a:t> = 2 only; adaptive order on text is next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Conclusion and Future Work</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19</a:t>
            </a:r>
            <a:endParaRPr lang="en-US" sz="1000" dirty="0"/>
          </a:p>
        </p:txBody>
      </p:sp>
      <p:sp>
        <p:nvSpPr>
          <p:cNvPr id="5" name="Shape 2"/>
          <p:cNvSpPr/>
          <p:nvPr/>
        </p:nvSpPr>
        <p:spPr>
          <a:xfrm>
            <a:off x="365760" y="731520"/>
            <a:ext cx="4114800" cy="4023360"/>
          </a:xfrm>
          <a:prstGeom prst="roundRect">
            <a:avLst>
              <a:gd name="adj" fmla="val 1818"/>
            </a:avLst>
          </a:prstGeom>
          <a:solidFill>
            <a:srgbClr val="F2F4F8"/>
          </a:solidFill>
          <a:ln w="12700">
            <a:solidFill>
              <a:srgbClr val="C9D4EA"/>
            </a:solidFill>
            <a:prstDash val="solid"/>
          </a:ln>
        </p:spPr>
      </p:sp>
      <p:sp>
        <p:nvSpPr>
          <p:cNvPr id="6" name="Text 3"/>
          <p:cNvSpPr txBox="1"/>
          <p:nvPr/>
        </p:nvSpPr>
        <p:spPr>
          <a:xfrm>
            <a:off x="594360" y="868680"/>
            <a:ext cx="3657600" cy="411480"/>
          </a:xfrm>
          <a:prstGeom prst="rect">
            <a:avLst/>
          </a:prstGeom>
          <a:noFill/>
          <a:ln/>
        </p:spPr>
        <p:txBody>
          <a:bodyPr wrap="square" lIns="0" tIns="0" rIns="0" bIns="0" rtlCol="0" anchor="t"/>
          <a:lstStyle/>
          <a:p>
            <a:pPr marL="0" indent="0" algn="l">
              <a:buNone/>
            </a:pPr>
            <a:r>
              <a:rPr lang="en-US" sz="2200" b="1" dirty="0">
                <a:solidFill>
                  <a:srgbClr val="1F4E96"/>
                </a:solidFill>
                <a:latin typeface="Times New Roman" pitchFamily="34" charset="0"/>
                <a:ea typeface="Times New Roman" pitchFamily="34" charset="-122"/>
                <a:cs typeface="Times New Roman" pitchFamily="34" charset="-120"/>
              </a:rPr>
              <a:t>Conclusion</a:t>
            </a:r>
            <a:endParaRPr lang="en-US" sz="2200" dirty="0"/>
          </a:p>
        </p:txBody>
      </p:sp>
      <p:sp>
        <p:nvSpPr>
          <p:cNvPr id="7" name="Text 4"/>
          <p:cNvSpPr txBox="1"/>
          <p:nvPr/>
        </p:nvSpPr>
        <p:spPr>
          <a:xfrm>
            <a:off x="548640" y="1371600"/>
            <a:ext cx="3749040" cy="3291840"/>
          </a:xfrm>
          <a:prstGeom prst="rect">
            <a:avLst/>
          </a:prstGeom>
          <a:noFill/>
          <a:ln/>
        </p:spPr>
        <p:txBody>
          <a:bodyPr wrap="square" lIns="25400" tIns="25400" rIns="25400" bIns="25400" rtlCol="0" anchor="t"/>
          <a:lstStyle/>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A token’s cost is set by its whole alphabet, not the token</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Per-token order: same accuracy with 2.3–3.5× fewer factors</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Learned gate recovers the structure in 3 of 10 runs, no accuracy loss</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DeltaProduct tracks state in text where attention fails</a:t>
            </a:r>
            <a:endParaRPr lang="en-US" sz="1700" dirty="0"/>
          </a:p>
        </p:txBody>
      </p:sp>
      <p:sp>
        <p:nvSpPr>
          <p:cNvPr id="8" name="Shape 5"/>
          <p:cNvSpPr/>
          <p:nvPr/>
        </p:nvSpPr>
        <p:spPr>
          <a:xfrm>
            <a:off x="4663440" y="731520"/>
            <a:ext cx="4114800" cy="4023360"/>
          </a:xfrm>
          <a:prstGeom prst="roundRect">
            <a:avLst>
              <a:gd name="adj" fmla="val 1818"/>
            </a:avLst>
          </a:prstGeom>
          <a:solidFill>
            <a:srgbClr val="F2F4F8"/>
          </a:solidFill>
          <a:ln w="12700">
            <a:solidFill>
              <a:srgbClr val="C9D4EA"/>
            </a:solidFill>
            <a:prstDash val="solid"/>
          </a:ln>
        </p:spPr>
      </p:sp>
      <p:sp>
        <p:nvSpPr>
          <p:cNvPr id="9" name="Text 6"/>
          <p:cNvSpPr txBox="1"/>
          <p:nvPr/>
        </p:nvSpPr>
        <p:spPr>
          <a:xfrm>
            <a:off x="4892040" y="868680"/>
            <a:ext cx="3657600" cy="411480"/>
          </a:xfrm>
          <a:prstGeom prst="rect">
            <a:avLst/>
          </a:prstGeom>
          <a:noFill/>
          <a:ln/>
        </p:spPr>
        <p:txBody>
          <a:bodyPr wrap="square" lIns="0" tIns="0" rIns="0" bIns="0" rtlCol="0" anchor="t"/>
          <a:lstStyle/>
          <a:p>
            <a:pPr marL="0" indent="0" algn="l">
              <a:buNone/>
            </a:pPr>
            <a:r>
              <a:rPr lang="en-US" sz="2200" b="1" dirty="0">
                <a:solidFill>
                  <a:srgbClr val="C0591C"/>
                </a:solidFill>
                <a:latin typeface="Times New Roman" pitchFamily="34" charset="0"/>
                <a:ea typeface="Times New Roman" pitchFamily="34" charset="-122"/>
                <a:cs typeface="Times New Roman" pitchFamily="34" charset="-120"/>
              </a:rPr>
              <a:t>Future Work</a:t>
            </a:r>
            <a:endParaRPr lang="en-US" sz="2200" dirty="0"/>
          </a:p>
        </p:txBody>
      </p:sp>
      <p:sp>
        <p:nvSpPr>
          <p:cNvPr id="10" name="Text 7"/>
          <p:cNvSpPr txBox="1"/>
          <p:nvPr/>
        </p:nvSpPr>
        <p:spPr>
          <a:xfrm>
            <a:off x="4846320" y="1371600"/>
            <a:ext cx="3749040" cy="3291840"/>
          </a:xfrm>
          <a:prstGeom prst="rect">
            <a:avLst/>
          </a:prstGeom>
          <a:noFill/>
          <a:ln/>
        </p:spPr>
        <p:txBody>
          <a:bodyPr wrap="square" lIns="25400" tIns="25400" rIns="25400" bIns="25400" rtlCol="0" anchor="t"/>
          <a:lstStyle/>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Make gate training reliable</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Execute only the allocated factors for a real speedup</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Alphabets needing 1, 2, 3 and 4 factors</a:t>
            </a:r>
            <a:endParaRPr lang="en-US" sz="1700" dirty="0"/>
          </a:p>
          <a:p>
            <a:pPr marL="342900" indent="-342900">
              <a:spcAft>
                <a:spcPts val="12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Adaptive order on Boxes, SCONE, ProPara and NPN-Cooking</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Key References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20</a:t>
            </a:r>
            <a:endParaRPr lang="en-US" sz="1000" dirty="0"/>
          </a:p>
        </p:txBody>
      </p:sp>
      <p:sp>
        <p:nvSpPr>
          <p:cNvPr id="5" name="Text 2"/>
          <p:cNvSpPr txBox="1"/>
          <p:nvPr/>
        </p:nvSpPr>
        <p:spPr>
          <a:xfrm>
            <a:off x="365760" y="731520"/>
            <a:ext cx="8412480" cy="4023360"/>
          </a:xfrm>
          <a:prstGeom prst="rect">
            <a:avLst/>
          </a:prstGeom>
          <a:noFill/>
          <a:ln/>
        </p:spPr>
        <p:txBody>
          <a:bodyPr wrap="square" lIns="25400" tIns="25400" rIns="25400" bIns="25400" rtlCol="0" anchor="t"/>
          <a:lstStyle/>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[1] J. Siems, T. Carstensen, A. Zela, F. Hutter, M. Pontil, and R. Grazzi, "DeltaProduct: Improving State-Tracking in Linear RNNs via Householder Products," in Proc. NeurIPS, 2025.</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[2] R. Grazzi, J. Siems, A. Zela, J. K. H. Franke, F. Hutter, and M. Pontil, "Unlocking State-Tracking in Linear RNNs Through Negative Eigenvalues," in Proc. ICLR, 2025.</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[3] A. Katharopoulos, A. Vyas, N. Pappas, and F. Fleuret, "Transformers are RNNs: Fast Autoregressive Transformers with Linear Attention," in Proc. ICML, pp. 5156–5165, 2020.</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[4] I. Schlag, K. Irie, and J. Schmidhuber, "Linear Transformers Are Secretly Fast Weight Programmers," in Proc. ICML, pp. 9355–9366, 2021.</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[5] S. Yang, B. Wang, Y. Zhang, Y. Shen, and Y. Kim, "Parallelizing Linear Transformers with the Delta Rule over Sequence Length," in Proc. NeurIPS, 2024.</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[6] W. Merrill, J. Petty, and A. Sabharwal, "The Illusion of State in State-Space Models," in Proc. ICML, 2024.</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Key References</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21</a:t>
            </a:r>
            <a:endParaRPr lang="en-US" sz="1000" dirty="0"/>
          </a:p>
        </p:txBody>
      </p:sp>
      <p:sp>
        <p:nvSpPr>
          <p:cNvPr id="5" name="Text 2"/>
          <p:cNvSpPr txBox="1"/>
          <p:nvPr/>
        </p:nvSpPr>
        <p:spPr>
          <a:xfrm>
            <a:off x="365760" y="731520"/>
            <a:ext cx="8412480" cy="4023360"/>
          </a:xfrm>
          <a:prstGeom prst="rect">
            <a:avLst/>
          </a:prstGeom>
          <a:noFill/>
          <a:ln/>
        </p:spPr>
        <p:txBody>
          <a:bodyPr wrap="square" lIns="25400" tIns="25400" rIns="25400" bIns="25400" rtlCol="0" anchor="t"/>
          <a:lstStyle/>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[7] M. Shakerinava, B. Khavari, S. Ravanbakhsh, and S. Chandar, "The Expressive Limits of Diagonal SSMs for State-Tracking," in Proc. ICLR, 2026.</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[8] G. L. Howe, "The Automaton Underneath: The Additive Input Pathway Is a Parasitic Attractor for State Tracking in Householder Linear RNNs," arXiv:2609.18966, 2026.</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[9] S. Larson, "The Rank the Task Demands: A Causal Rank Law for Matrix Memories Trained on Group Composition," arXiv:2609.12259, 2026.</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[10] A. Graves, "Adaptive Computation Time for Recurrent Neural Networks," arXiv:1603.08983, 2016.</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[11] A. Banino, J. Balaguer, and C. Blundell, "PonderNet: Learning to Ponder," in 8th ICML Workshop on Automated Machine Learning, 2021.</a:t>
            </a:r>
            <a:endParaRPr lang="en-US" sz="1400" dirty="0"/>
          </a:p>
          <a:p>
            <a:pPr marL="0" indent="0" algn="just">
              <a:spcAft>
                <a:spcPts val="900"/>
              </a:spcAft>
              <a:buNone/>
            </a:pPr>
            <a:r>
              <a:rPr lang="en-US" sz="1400" dirty="0">
                <a:solidFill>
                  <a:srgbClr val="1F1F1F"/>
                </a:solidFill>
                <a:latin typeface="Times New Roman" pitchFamily="34" charset="0"/>
                <a:ea typeface="Times New Roman" pitchFamily="34" charset="-122"/>
                <a:cs typeface="Times New Roman" pitchFamily="34" charset="-120"/>
              </a:rPr>
              <a:t>[12] N. Kim and S. Schuster, "Entity Tracking in Language Models," in Proc. ACL, pp. 3835–3855, 2023.</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Timeline of the Project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22</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731520"/>
          <a:ext cx="8229600" cy="4104640"/>
        </p:xfrm>
        <a:graphic>
          <a:graphicData uri="http://schemas.openxmlformats.org/drawingml/2006/table">
            <a:tbl>
              <a:tblPr/>
              <a:tblGrid>
                <a:gridCol w="18288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Period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Activity</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Status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Jul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Problem identification and selection of the research direction</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Completed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Aug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Literature survey</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Completed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Sep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Reproduction; order-requirement analysis; matched-compute and closure experiments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Completed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Sep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Halting gate implementation and training; entity tracking on Boxes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Completed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Oct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Reliability of the learned gate; order sweep on Boxes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5"/>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Nov 2026</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Alphabets with multiple requirement levels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Dec 2026 – Jan 2027</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Execute only the allocated factors; wall-clock measurement</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7"/>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Feb 2027</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High-requirement regime; replication of headline results</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Mar 2027</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Adaptive order on Boxes, SCONE, ProPara and NPN-Cooking</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10009"/>
                  </a:ext>
                </a:extLst>
              </a:tr>
              <a:tr h="365760">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Apr 2027</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l">
                        <a:buNone/>
                      </a:pPr>
                      <a:r>
                        <a:rPr lang="en-US" sz="1300" dirty="0">
                          <a:solidFill>
                            <a:srgbClr val="1F1F1F"/>
                          </a:solidFill>
                          <a:latin typeface="Times New Roman" pitchFamily="34" charset="0"/>
                          <a:ea typeface="Times New Roman" pitchFamily="34" charset="-122"/>
                          <a:cs typeface="Times New Roman" pitchFamily="34" charset="-120"/>
                        </a:rPr>
                        <a:t>Final report and presentation</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marL="0" indent="0" algn="ctr">
                        <a:buNone/>
                      </a:pPr>
                      <a:r>
                        <a:rPr lang="en-US" sz="1300" dirty="0">
                          <a:solidFill>
                            <a:srgbClr val="1F1F1F"/>
                          </a:solidFill>
                          <a:latin typeface="Times New Roman" pitchFamily="34" charset="0"/>
                          <a:ea typeface="Times New Roman" pitchFamily="34" charset="-122"/>
                          <a:cs typeface="Times New Roman" pitchFamily="34" charset="-120"/>
                        </a:rPr>
                        <a:t>Planned</a:t>
                      </a:r>
                      <a:endParaRPr lang="en-US" sz="1300" dirty="0">
                        <a:latin typeface="Times New Roman" charset="0"/>
                        <a:ea typeface="Times New Roman" charset="0"/>
                        <a:cs typeface="Times New Roman" charset="0"/>
                      </a:endParaRPr>
                    </a:p>
                  </a:txBody>
                  <a:tcPr marL="63500" marR="635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23da7219-ccd0-5cfb-a54f-b2b098f81b46/scratchpad/ppt/img/bar.png"/>
          <p:cNvPicPr>
            <a:picLocks noChangeAspect="1"/>
          </p:cNvPicPr>
          <p:nvPr/>
        </p:nvPicPr>
        <p:blipFill>
          <a:blip r:embed="rId3"/>
          <a:stretch>
            <a:fillRect/>
          </a:stretch>
        </p:blipFill>
        <p:spPr>
          <a:xfrm>
            <a:off x="0" y="0"/>
            <a:ext cx="9144000" cy="512064"/>
          </a:xfrm>
          <a:prstGeom prst="rect">
            <a:avLst/>
          </a:prstGeom>
        </p:spPr>
      </p:pic>
      <p:sp>
        <p:nvSpPr>
          <p:cNvPr id="3" name="Text 0"/>
          <p:cNvSpPr txBox="1"/>
          <p:nvPr/>
        </p:nvSpPr>
        <p:spPr>
          <a:xfrm>
            <a:off x="274320" y="0"/>
            <a:ext cx="8595360" cy="512064"/>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itchFamily="34" charset="0"/>
                <a:ea typeface="Times New Roman" pitchFamily="34" charset="-122"/>
                <a:cs typeface="Times New Roman" pitchFamily="34" charset="-120"/>
              </a:rPr>
              <a:t>Experimental Results: The Boxes Dataset</a:t>
            </a:r>
            <a:endParaRPr lang="en-US" sz="2600" dirty="0"/>
          </a:p>
        </p:txBody>
      </p:sp>
      <p:sp>
        <p:nvSpPr>
          <p:cNvPr id="4" name="Text 1"/>
          <p:cNvSpPr txBox="1"/>
          <p:nvPr/>
        </p:nvSpPr>
        <p:spPr>
          <a:xfrm>
            <a:off x="8503920" y="4800600"/>
            <a:ext cx="457200" cy="274320"/>
          </a:xfrm>
          <a:prstGeom prst="rect">
            <a:avLst/>
          </a:prstGeom>
          <a:noFill/>
          <a:ln/>
        </p:spPr>
        <p:txBody>
          <a:bodyPr wrap="square" lIns="0" tIns="0" rIns="0" bIns="0" rtlCol="0" anchor="ctr"/>
          <a:lstStyle/>
          <a:p>
            <a:pPr marL="0" indent="0" algn="r">
              <a:buNone/>
            </a:pPr>
            <a:r>
              <a:rPr lang="en-US" sz="1000" dirty="0">
                <a:solidFill>
                  <a:srgbClr val="8A8A8A"/>
                </a:solidFill>
                <a:latin typeface="Times New Roman" pitchFamily="34" charset="0"/>
                <a:ea typeface="Times New Roman" pitchFamily="34" charset="-122"/>
                <a:cs typeface="Times New Roman" pitchFamily="34" charset="-120"/>
              </a:rPr>
              <a:t>17</a:t>
            </a:r>
            <a:endParaRPr lang="en-US" sz="1000" dirty="0"/>
          </a:p>
        </p:txBody>
      </p:sp>
      <p:sp>
        <p:nvSpPr>
          <p:cNvPr id="60" name="TextBox 60"/>
          <p:cNvSpPr txBox="1"/>
          <p:nvPr/>
        </p:nvSpPr>
        <p:spPr>
          <a:xfrm>
            <a:off x="411480" y="731520"/>
            <a:ext cx="4480560" cy="3931920"/>
          </a:xfrm>
          <a:prstGeom prst="rect">
            <a:avLst/>
          </a:prstGeom>
          <a:noFill/>
        </p:spPr>
        <p:txBody>
          <a:bodyPr wrap="square" lIns="45720" tIns="27432" rIns="45720" bIns="27432" anchor="t"/>
          <a:lstStyle/>
          <a:p>
            <a:pPr marL="285750" indent="-285750">
              <a:spcAft>
                <a:spcPts val="9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Introduced by Kim and Schuster [12] to test entity tracking in text</a:t>
            </a:r>
          </a:p>
          <a:p>
            <a:pPr marL="285750" indent="-285750">
              <a:spcAft>
                <a:spcPts val="9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Each example: a description of 7 boxes, a few operations (move, remove, put), and a query about one box</a:t>
            </a:r>
          </a:p>
          <a:p>
            <a:pPr marL="285750" indent="-285750">
              <a:spcAft>
                <a:spcPts val="9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The model must write the contents of the queried box; scored by exact match</a:t>
            </a:r>
          </a:p>
          <a:p>
            <a:pPr marL="285750" indent="-285750">
              <a:spcAft>
                <a:spcPts val="9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Training: at most 2 operations (78,402 examples)</a:t>
            </a:r>
          </a:p>
          <a:p>
            <a:pPr marL="285750" indent="-285750">
              <a:spcAft>
                <a:spcPts val="900"/>
              </a:spcAft>
              <a:buSzPct val="100000"/>
              <a:buChar char="•"/>
            </a:pPr>
            <a:r>
              <a:rPr lang="en-US" sz="1700" dirty="0">
                <a:solidFill>
                  <a:srgbClr val="1F1F1F"/>
                </a:solidFill>
                <a:latin typeface="Times New Roman" pitchFamily="34" charset="0"/>
                <a:ea typeface="Times New Roman" pitchFamily="34" charset="-122"/>
                <a:cs typeface="Times New Roman" pitchFamily="34" charset="-120"/>
              </a:rPr>
              <a:t>Testing: 0 to 5+ operations; 3 or more are never seen in training</a:t>
            </a:r>
          </a:p>
        </p:txBody>
      </p:sp>
      <p:sp>
        <p:nvSpPr>
          <p:cNvPr id="61" name="TextBox 61"/>
          <p:cNvSpPr txBox="1"/>
          <p:nvPr/>
        </p:nvSpPr>
        <p:spPr>
          <a:xfrm>
            <a:off x="5166360" y="731520"/>
            <a:ext cx="3566160" cy="365760"/>
          </a:xfrm>
          <a:prstGeom prst="rect">
            <a:avLst/>
          </a:prstGeom>
          <a:noFill/>
        </p:spPr>
        <p:txBody>
          <a:bodyPr wrap="square" lIns="45720" tIns="27432" rIns="45720" bIns="27432" anchor="t"/>
          <a:lstStyle/>
          <a:p>
            <a:pPr algn="l">
              <a:spcAft>
                <a:spcPts val="0"/>
              </a:spcAft>
            </a:pPr>
            <a:r>
              <a:rPr lang="en-US" sz="1800" b="1" dirty="0">
                <a:solidFill>
                  <a:srgbClr val="1F1F1F"/>
                </a:solidFill>
                <a:latin typeface="Times New Roman" pitchFamily="34" charset="0"/>
                <a:ea typeface="Times New Roman" pitchFamily="34" charset="-122"/>
                <a:cs typeface="Times New Roman" pitchFamily="34" charset="-120"/>
              </a:rPr>
              <a:t>Example</a:t>
            </a:r>
          </a:p>
        </p:txBody>
      </p:sp>
      <p:sp>
        <p:nvSpPr>
          <p:cNvPr id="62" name="TextBox 62"/>
          <p:cNvSpPr txBox="1"/>
          <p:nvPr/>
        </p:nvSpPr>
        <p:spPr>
          <a:xfrm>
            <a:off x="5166360" y="1143000"/>
            <a:ext cx="3566160" cy="2286000"/>
          </a:xfrm>
          <a:prstGeom prst="rect">
            <a:avLst/>
          </a:prstGeom>
          <a:noFill/>
          <a:ln w="9525">
            <a:solidFill>
              <a:srgbClr val="7F7F7F"/>
            </a:solidFill>
          </a:ln>
        </p:spPr>
        <p:txBody>
          <a:bodyPr wrap="square" lIns="109728" tIns="91440" rIns="109728" bIns="91440" anchor="t"/>
          <a:lstStyle/>
          <a:p>
            <a:pPr algn="l">
              <a:spcAft>
                <a:spcPts val="600"/>
              </a:spcAft>
            </a:pPr>
            <a:r>
              <a:rPr lang="en-US" sz="1500" b="1" dirty="0">
                <a:solidFill>
                  <a:srgbClr val="1F1F1F"/>
                </a:solidFill>
                <a:latin typeface="Times New Roman" pitchFamily="34" charset="0"/>
                <a:ea typeface="Times New Roman" pitchFamily="34" charset="-122"/>
                <a:cs typeface="Times New Roman" pitchFamily="34" charset="-120"/>
              </a:rPr>
              <a:t xml:space="preserve">Description: </a:t>
            </a:r>
            <a:r>
              <a:rPr lang="en-US" sz="1500" dirty="0">
                <a:solidFill>
                  <a:srgbClr val="1F1F1F"/>
                </a:solidFill>
                <a:latin typeface="Times New Roman" pitchFamily="34" charset="0"/>
                <a:ea typeface="Times New Roman" pitchFamily="34" charset="-122"/>
                <a:cs typeface="Times New Roman" pitchFamily="34" charset="-120"/>
              </a:rPr>
              <a:t>Box 0 contains the branch and the cheese, Box 1 contains the egg, Box 2 contains the disk and the tie, …</a:t>
            </a:r>
          </a:p>
          <a:p>
            <a:pPr algn="l">
              <a:spcAft>
                <a:spcPts val="600"/>
              </a:spcAft>
            </a:pPr>
            <a:r>
              <a:rPr lang="en-US" sz="1500" b="1" dirty="0">
                <a:solidFill>
                  <a:srgbClr val="1F1F1F"/>
                </a:solidFill>
                <a:latin typeface="Times New Roman" pitchFamily="34" charset="0"/>
                <a:ea typeface="Times New Roman" pitchFamily="34" charset="-122"/>
                <a:cs typeface="Times New Roman" pitchFamily="34" charset="-120"/>
              </a:rPr>
              <a:t xml:space="preserve">Operations: </a:t>
            </a:r>
            <a:r>
              <a:rPr lang="en-US" sz="1500" dirty="0">
                <a:solidFill>
                  <a:srgbClr val="1F1F1F"/>
                </a:solidFill>
                <a:latin typeface="Times New Roman" pitchFamily="34" charset="0"/>
                <a:ea typeface="Times New Roman" pitchFamily="34" charset="-122"/>
                <a:cs typeface="Times New Roman" pitchFamily="34" charset="-120"/>
              </a:rPr>
              <a:t>Move the tie from Box 2 to Box 1. Remove the bone from Box 6.</a:t>
            </a:r>
          </a:p>
          <a:p>
            <a:pPr algn="l">
              <a:spcAft>
                <a:spcPts val="600"/>
              </a:spcAft>
            </a:pPr>
            <a:r>
              <a:rPr lang="en-US" sz="1500" b="1" dirty="0">
                <a:solidFill>
                  <a:srgbClr val="1F1F1F"/>
                </a:solidFill>
                <a:latin typeface="Times New Roman" pitchFamily="34" charset="0"/>
                <a:ea typeface="Times New Roman" pitchFamily="34" charset="-122"/>
                <a:cs typeface="Times New Roman" pitchFamily="34" charset="-120"/>
              </a:rPr>
              <a:t xml:space="preserve">Query: </a:t>
            </a:r>
            <a:r>
              <a:rPr lang="en-US" sz="1500" dirty="0">
                <a:solidFill>
                  <a:srgbClr val="1F1F1F"/>
                </a:solidFill>
                <a:latin typeface="Times New Roman" pitchFamily="34" charset="0"/>
                <a:ea typeface="Times New Roman" pitchFamily="34" charset="-122"/>
                <a:cs typeface="Times New Roman" pitchFamily="34" charset="-120"/>
              </a:rPr>
              <a:t>Box 1</a:t>
            </a:r>
          </a:p>
          <a:p>
            <a:pPr algn="l">
              <a:spcAft>
                <a:spcPts val="0"/>
              </a:spcAft>
            </a:pPr>
            <a:r>
              <a:rPr lang="en-US" sz="1500" b="1" dirty="0">
                <a:solidFill>
                  <a:srgbClr val="1F1F1F"/>
                </a:solidFill>
                <a:latin typeface="Times New Roman" pitchFamily="34" charset="0"/>
                <a:ea typeface="Times New Roman" pitchFamily="34" charset="-122"/>
                <a:cs typeface="Times New Roman" pitchFamily="34" charset="-120"/>
              </a:rPr>
              <a:t xml:space="preserve">Answer: </a:t>
            </a:r>
            <a:r>
              <a:rPr lang="en-US" sz="1500" dirty="0">
                <a:solidFill>
                  <a:srgbClr val="1F1F1F"/>
                </a:solidFill>
                <a:latin typeface="Times New Roman" pitchFamily="34" charset="0"/>
                <a:ea typeface="Times New Roman" pitchFamily="34" charset="-122"/>
                <a:cs typeface="Times New Roman" pitchFamily="34" charset="-120"/>
              </a:rPr>
              <a:t>contains the egg and the tie.</a:t>
            </a:r>
          </a:p>
        </p:txBody>
      </p:sp>
      <p:sp>
        <p:nvSpPr>
          <p:cNvPr id="63" name="TextBox 63"/>
          <p:cNvSpPr txBox="1"/>
          <p:nvPr/>
        </p:nvSpPr>
        <p:spPr>
          <a:xfrm>
            <a:off x="5166360" y="3493008"/>
            <a:ext cx="3566160" cy="320040"/>
          </a:xfrm>
          <a:prstGeom prst="rect">
            <a:avLst/>
          </a:prstGeom>
          <a:noFill/>
        </p:spPr>
        <p:txBody>
          <a:bodyPr wrap="square" lIns="45720" tIns="27432" rIns="45720" bIns="27432" anchor="t"/>
          <a:lstStyle/>
          <a:p>
            <a:pPr algn="ctr">
              <a:spcAft>
                <a:spcPts val="0"/>
              </a:spcAft>
            </a:pPr>
            <a:r>
              <a:rPr lang="en-US" sz="1100" i="1" dirty="0">
                <a:solidFill>
                  <a:srgbClr val="5A5A5A"/>
                </a:solidFill>
                <a:latin typeface="Times New Roman" pitchFamily="34" charset="0"/>
                <a:ea typeface="Times New Roman" pitchFamily="34" charset="-122"/>
                <a:cs typeface="Times New Roman" pitchFamily="34" charset="-120"/>
              </a:rPr>
              <a:t>An example in the dataset’s format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2013</Words>
  <Application>Microsoft Office PowerPoint</Application>
  <PresentationFormat>On-screen Show (16:9)</PresentationFormat>
  <Paragraphs>264</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Adaptive-Order State Transitions in Linear RNNs</dc:title>
  <dc:subject>PptxGenJS Presentation</dc:subject>
  <dc:creator>PptxGenJS</dc:creator>
  <cp:lastModifiedBy>Utkarsh Shukla</cp:lastModifiedBy>
  <cp:revision>9</cp:revision>
  <dcterms:created xsi:type="dcterms:W3CDTF">2026-09-21T08:31:59Z</dcterms:created>
  <dcterms:modified xsi:type="dcterms:W3CDTF">2026-09-21T10:58:14Z</dcterms:modified>
</cp:coreProperties>
</file>