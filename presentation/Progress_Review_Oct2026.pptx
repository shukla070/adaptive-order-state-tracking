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review covering the work done between the mid-semester review on 1 October and 14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of this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done since 1 October in one table. The first three rows are about training the gate, the next two about turning its saving into time without losing accuracy, then the first test on real text, and the experiment that is running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recap for the guide. DeltaProduct updates its memory with a product of Householder factors at every token. Our gate decides per token how many to use. On the S5 task the ideal is 1 factor for swaps and 4 for 5-cycles, which averages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training result. With the new recipe, 13 of 20 runs find the exact allocation without supervision; before, the best setup managed about 1 in 20. All seven failures look the same and are already visible at step 500, which is the basis of the restart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wrote the threshold down before the 20-run study so the result could not move the goalposts. 13 is below 15, so we applied the rule and moved the main effort to turning the gate's saving into measured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analysis says the cost of a 5-cycle depends on the whole alphabet: 4 factors under S5, only 2 under A5. Fixed-order runs show 2 is enough, though rarely learned. The learned gate trimmed greedily and stopped at 3 in its best run, so the prediction is not confirmed for the gate with this recipe.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now the saving was only a count, because the normal layer still runs all four factors. The new path drops the switched-off factors before the recurrence and packs what is left. We checked that it gives the same output as the normal layer within bf16 rounding.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fair comparison: the baseline is the faster of two ordinary 4-factor layers, the original code and our version without its avoidable copying, and the new path's time includes the gate. At batch 32 it takes about three quarters of the baseline's time. On small inputs the GPU is mostly idle and the packing overhead makes it slower.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recurrence, the expensive part, falls from 35 to 13 milliseconds, close to what the allocation predicts. The remaining gap is overhead: packing, the GPU waiting on the CPU, and projections still computed for all four factors. These are the targets for later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matters only at equal accuracy, so we checked trained models. On both models that learned the task, token accuracy is unchanged within 0.0002 and over 99.9% of predictions are identical. Sequence accuracy drops a little because one changed token fails a whole sequence. The untrained model disagrees more, but only on near-ties.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test on real text, using Shashwat's Boxes setup with only the number of factors changed and the model size held fixed. Two factors beat one on the harder examples in every run; three added nothing. By the rule written before the runs, the learned gate goes on Boxes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from runs we already had: every fixed-order run recorded its training time. They are times for layers built with a fixed number of factors, not for the adaptive layer, and show what a well-chosen order can save during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20-run study showed that failure is visible very early. This experiment tests whether restarting those runs makes training dependable. We wrote down the decision before running: 18 of 20 or more makes restarting the standard procedure, always reported with its restart count; 13 of 20 stays the per-run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take away, and the order of the next steps: dependable training first, then the gate on Boxes where we now know the order matters, then overhead reduction, which only changes the size of the speedup.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October items are done. Executing only the allocated factors, planned for December and January, was done early because it became the main deliverable. The restart rule and the gate on Boxes are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statements in the mid-semester report have since been corrected with the October results. Saying it now is better than having it found later. The revised report will carry these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claude-0/-home-claude/97208104-cc8e-5f54-82df-7ee9bd55d797/scratchpad/pr/img/bar.png">    </p:cNvPr>
          <p:cNvPicPr>
            <a:picLocks noChangeAspect="1"/>
          </p:cNvPicPr>
          <p:nvPr/>
        </p:nvPicPr>
        <p:blipFill>
          <a:blip r:embed="rId1"/>
          <a:stretch>
            <a:fillRect/>
          </a:stretch>
        </p:blipFill>
        <p:spPr>
          <a:xfrm>
            <a:off x="0" y="0"/>
            <a:ext cx="9144000" cy="512064"/>
          </a:xfrm>
          <a:prstGeom prst="rect">
            <a:avLst/>
          </a:prstGeom>
        </p:spPr>
      </p:pic>
      <p:sp>
        <p:nvSpPr>
          <p:cNvPr id="3" name="Text 0"/>
          <p:cNvSpPr txBox="1"/>
          <p:nvPr/>
        </p:nvSpPr>
        <p:spPr>
          <a:xfrm>
            <a:off x="182880" y="0"/>
            <a:ext cx="8778240" cy="512064"/>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B.Tech.(AI) Major Project I (IT448) Progress Review, October 2026</a:t>
            </a:r>
            <a:endParaRPr lang="en-US" sz="2200" dirty="0"/>
          </a:p>
        </p:txBody>
      </p:sp>
      <p:sp>
        <p:nvSpPr>
          <p:cNvPr id="4" name="Text 1"/>
          <p:cNvSpPr txBox="1"/>
          <p:nvPr/>
        </p:nvSpPr>
        <p:spPr>
          <a:xfrm>
            <a:off x="457200" y="731520"/>
            <a:ext cx="8229600" cy="868680"/>
          </a:xfrm>
          <a:prstGeom prst="rect">
            <a:avLst/>
          </a:prstGeom>
          <a:noFill/>
          <a:ln/>
        </p:spPr>
        <p:txBody>
          <a:bodyPr wrap="square" lIns="0" tIns="0" rIns="0" bIns="0" rtlCol="0" anchor="ctr"/>
          <a:lstStyle/>
          <a:p>
            <a:pPr algn="ctr" indent="0" marL="0">
              <a:buNone/>
            </a:pPr>
            <a:r>
              <a:rPr lang="en-US" sz="2600" b="1" dirty="0">
                <a:solidFill>
                  <a:srgbClr val="1F1F1F"/>
                </a:solidFill>
                <a:latin typeface="Calibri" pitchFamily="34" charset="0"/>
                <a:ea typeface="Calibri" pitchFamily="34" charset="-122"/>
                <a:cs typeface="Calibri" pitchFamily="34" charset="-120"/>
              </a:rPr>
              <a:t>Adaptive-Order State Transitions in Linear RNNs</a:t>
            </a:r>
            <a:endParaRPr lang="en-US" sz="2600" dirty="0"/>
          </a:p>
          <a:p>
            <a:pPr algn="ctr" indent="0" marL="0">
              <a:buNone/>
            </a:pPr>
            <a:r>
              <a:rPr lang="en-US" sz="2600" b="1" dirty="0">
                <a:solidFill>
                  <a:srgbClr val="1F1F1F"/>
                </a:solidFill>
                <a:latin typeface="Calibri" pitchFamily="34" charset="0"/>
                <a:ea typeface="Calibri" pitchFamily="34" charset="-122"/>
                <a:cs typeface="Calibri" pitchFamily="34" charset="-120"/>
              </a:rPr>
              <a:t>for Efficient State Tracking</a:t>
            </a:r>
            <a:endParaRPr lang="en-US" sz="2600" dirty="0"/>
          </a:p>
        </p:txBody>
      </p:sp>
      <p:sp>
        <p:nvSpPr>
          <p:cNvPr id="5" name="Text 2"/>
          <p:cNvSpPr txBox="1"/>
          <p:nvPr/>
        </p:nvSpPr>
        <p:spPr>
          <a:xfrm>
            <a:off x="457200" y="1737360"/>
            <a:ext cx="8229600" cy="320040"/>
          </a:xfrm>
          <a:prstGeom prst="rect">
            <a:avLst/>
          </a:prstGeom>
          <a:noFill/>
          <a:ln/>
        </p:spPr>
        <p:txBody>
          <a:bodyPr wrap="square" lIns="0" tIns="0" rIns="0" bIns="0" rtlCol="0" anchor="ctr"/>
          <a:lstStyle/>
          <a:p>
            <a:pPr algn="ctr" indent="0" marL="0">
              <a:buNone/>
            </a:pPr>
            <a:r>
              <a:rPr lang="en-US" sz="2000" b="1" dirty="0">
                <a:solidFill>
                  <a:srgbClr val="1F1F1F"/>
                </a:solidFill>
                <a:latin typeface="Calibri" pitchFamily="34" charset="0"/>
                <a:ea typeface="Calibri" pitchFamily="34" charset="-122"/>
                <a:cs typeface="Calibri" pitchFamily="34" charset="-120"/>
              </a:rPr>
              <a:t>BY</a:t>
            </a:r>
            <a:endParaRPr lang="en-US" sz="2000" dirty="0"/>
          </a:p>
        </p:txBody>
      </p:sp>
      <p:sp>
        <p:nvSpPr>
          <p:cNvPr id="6" name="Text 3"/>
          <p:cNvSpPr txBox="1"/>
          <p:nvPr/>
        </p:nvSpPr>
        <p:spPr>
          <a:xfrm>
            <a:off x="457200" y="2057400"/>
            <a:ext cx="8229600" cy="347472"/>
          </a:xfrm>
          <a:prstGeom prst="rect">
            <a:avLst/>
          </a:prstGeom>
          <a:noFill/>
          <a:ln/>
        </p:spPr>
        <p:txBody>
          <a:bodyPr wrap="square" lIns="0" tIns="0" rIns="0" bIns="0" rtlCol="0" anchor="ctr"/>
          <a:lstStyle/>
          <a:p>
            <a:pPr algn="ctr" indent="0" marL="0">
              <a:buNone/>
            </a:pPr>
            <a:r>
              <a:rPr lang="en-US" sz="2000" b="1" dirty="0">
                <a:solidFill>
                  <a:srgbClr val="1F1F1F"/>
                </a:solidFill>
                <a:latin typeface="Calibri" pitchFamily="34" charset="0"/>
                <a:ea typeface="Calibri" pitchFamily="34" charset="-122"/>
                <a:cs typeface="Calibri" pitchFamily="34" charset="-120"/>
              </a:rPr>
              <a:t>Shashwat Chaturvedi (231AI036)</a:t>
            </a:r>
            <a:endParaRPr lang="en-US" sz="2000" dirty="0"/>
          </a:p>
        </p:txBody>
      </p:sp>
      <p:sp>
        <p:nvSpPr>
          <p:cNvPr id="7" name="Text 4"/>
          <p:cNvSpPr txBox="1"/>
          <p:nvPr/>
        </p:nvSpPr>
        <p:spPr>
          <a:xfrm>
            <a:off x="457200" y="2404872"/>
            <a:ext cx="8229600" cy="347472"/>
          </a:xfrm>
          <a:prstGeom prst="rect">
            <a:avLst/>
          </a:prstGeom>
          <a:noFill/>
          <a:ln/>
        </p:spPr>
        <p:txBody>
          <a:bodyPr wrap="square" lIns="0" tIns="0" rIns="0" bIns="0" rtlCol="0" anchor="ctr"/>
          <a:lstStyle/>
          <a:p>
            <a:pPr algn="ctr" indent="0" marL="0">
              <a:buNone/>
            </a:pPr>
            <a:r>
              <a:rPr lang="en-US" sz="2000" b="1" dirty="0">
                <a:solidFill>
                  <a:srgbClr val="1F1F1F"/>
                </a:solidFill>
                <a:latin typeface="Calibri" pitchFamily="34" charset="0"/>
                <a:ea typeface="Calibri" pitchFamily="34" charset="-122"/>
                <a:cs typeface="Calibri" pitchFamily="34" charset="-120"/>
              </a:rPr>
              <a:t>Utkarsh Shukla (231AI040)</a:t>
            </a:r>
            <a:endParaRPr lang="en-US" sz="2000" dirty="0"/>
          </a:p>
        </p:txBody>
      </p:sp>
      <p:sp>
        <p:nvSpPr>
          <p:cNvPr id="8" name="Text 5"/>
          <p:cNvSpPr txBox="1"/>
          <p:nvPr/>
        </p:nvSpPr>
        <p:spPr>
          <a:xfrm>
            <a:off x="457200" y="2880360"/>
            <a:ext cx="8229600" cy="320040"/>
          </a:xfrm>
          <a:prstGeom prst="rect">
            <a:avLst/>
          </a:prstGeom>
          <a:noFill/>
          <a:ln/>
        </p:spPr>
        <p:txBody>
          <a:bodyPr wrap="square" lIns="0" tIns="0" rIns="0" bIns="0" rtlCol="0" anchor="ctr"/>
          <a:lstStyle/>
          <a:p>
            <a:pPr algn="ctr" indent="0" marL="0">
              <a:buNone/>
            </a:pPr>
            <a:r>
              <a:rPr lang="en-US" sz="1800" dirty="0">
                <a:solidFill>
                  <a:srgbClr val="1F1F1F"/>
                </a:solidFill>
                <a:latin typeface="Calibri" pitchFamily="34" charset="0"/>
                <a:ea typeface="Calibri" pitchFamily="34" charset="-122"/>
                <a:cs typeface="Calibri" pitchFamily="34" charset="-120"/>
              </a:rPr>
              <a:t>Department of Information Technology</a:t>
            </a:r>
            <a:endParaRPr lang="en-US" sz="1800" dirty="0"/>
          </a:p>
        </p:txBody>
      </p:sp>
      <p:sp>
        <p:nvSpPr>
          <p:cNvPr id="9" name="Text 6"/>
          <p:cNvSpPr txBox="1"/>
          <p:nvPr/>
        </p:nvSpPr>
        <p:spPr>
          <a:xfrm>
            <a:off x="457200" y="3200400"/>
            <a:ext cx="8229600" cy="320040"/>
          </a:xfrm>
          <a:prstGeom prst="rect">
            <a:avLst/>
          </a:prstGeom>
          <a:noFill/>
          <a:ln/>
        </p:spPr>
        <p:txBody>
          <a:bodyPr wrap="square" lIns="0" tIns="0" rIns="0" bIns="0" rtlCol="0" anchor="ctr"/>
          <a:lstStyle/>
          <a:p>
            <a:pPr algn="ctr" indent="0" marL="0">
              <a:buNone/>
            </a:pPr>
            <a:r>
              <a:rPr lang="en-US" sz="1800" dirty="0">
                <a:solidFill>
                  <a:srgbClr val="1F1F1F"/>
                </a:solidFill>
                <a:latin typeface="Calibri" pitchFamily="34" charset="0"/>
                <a:ea typeface="Calibri" pitchFamily="34" charset="-122"/>
                <a:cs typeface="Calibri" pitchFamily="34" charset="-120"/>
              </a:rPr>
              <a:t>National Institute of Technology Karnataka, Surathkal-575025</a:t>
            </a:r>
            <a:endParaRPr lang="en-US" sz="1800" dirty="0"/>
          </a:p>
        </p:txBody>
      </p:sp>
      <p:sp>
        <p:nvSpPr>
          <p:cNvPr id="10" name="Text 7"/>
          <p:cNvSpPr txBox="1"/>
          <p:nvPr/>
        </p:nvSpPr>
        <p:spPr>
          <a:xfrm>
            <a:off x="457200" y="3611880"/>
            <a:ext cx="8229600" cy="320040"/>
          </a:xfrm>
          <a:prstGeom prst="rect">
            <a:avLst/>
          </a:prstGeom>
          <a:noFill/>
          <a:ln/>
        </p:spPr>
        <p:txBody>
          <a:bodyPr wrap="square" lIns="0" tIns="0" rIns="0" bIns="0" rtlCol="0" anchor="ctr"/>
          <a:lstStyle/>
          <a:p>
            <a:pPr algn="ctr" indent="0" marL="0">
              <a:buNone/>
            </a:pPr>
            <a:r>
              <a:rPr lang="en-US" sz="1800" dirty="0">
                <a:solidFill>
                  <a:srgbClr val="1F1F1F"/>
                </a:solidFill>
                <a:latin typeface="Calibri" pitchFamily="34" charset="0"/>
                <a:ea typeface="Calibri" pitchFamily="34" charset="-122"/>
                <a:cs typeface="Calibri" pitchFamily="34" charset="-120"/>
              </a:rPr>
              <a:t>Under the Guidance of</a:t>
            </a:r>
            <a:endParaRPr lang="en-US" sz="1800" dirty="0"/>
          </a:p>
        </p:txBody>
      </p:sp>
      <p:sp>
        <p:nvSpPr>
          <p:cNvPr id="11" name="Text 8"/>
          <p:cNvSpPr txBox="1"/>
          <p:nvPr/>
        </p:nvSpPr>
        <p:spPr>
          <a:xfrm>
            <a:off x="457200" y="3931920"/>
            <a:ext cx="8229600" cy="320040"/>
          </a:xfrm>
          <a:prstGeom prst="rect">
            <a:avLst/>
          </a:prstGeom>
          <a:noFill/>
          <a:ln/>
        </p:spPr>
        <p:txBody>
          <a:bodyPr wrap="square" lIns="0" tIns="0" rIns="0" bIns="0" rtlCol="0" anchor="ctr"/>
          <a:lstStyle/>
          <a:p>
            <a:pPr algn="ctr" indent="0" marL="0">
              <a:buNone/>
            </a:pPr>
            <a:r>
              <a:rPr lang="en-US" sz="1800" b="1" dirty="0">
                <a:solidFill>
                  <a:srgbClr val="1F1F1F"/>
                </a:solidFill>
                <a:latin typeface="Calibri" pitchFamily="34" charset="0"/>
                <a:ea typeface="Calibri" pitchFamily="34" charset="-122"/>
                <a:cs typeface="Calibri" pitchFamily="34" charset="-120"/>
              </a:rPr>
              <a:t>Anand Kumar M</a:t>
            </a:r>
            <a:endParaRPr lang="en-US" sz="1800" dirty="0"/>
          </a:p>
        </p:txBody>
      </p:sp>
      <p:sp>
        <p:nvSpPr>
          <p:cNvPr id="12" name="Text 9"/>
          <p:cNvSpPr txBox="1"/>
          <p:nvPr/>
        </p:nvSpPr>
        <p:spPr>
          <a:xfrm>
            <a:off x="274320" y="4251960"/>
            <a:ext cx="8595360" cy="320040"/>
          </a:xfrm>
          <a:prstGeom prst="rect">
            <a:avLst/>
          </a:prstGeom>
          <a:noFill/>
          <a:ln/>
        </p:spPr>
        <p:txBody>
          <a:bodyPr wrap="square" lIns="0" tIns="0" rIns="0" bIns="0" rtlCol="0" anchor="ctr"/>
          <a:lstStyle/>
          <a:p>
            <a:pPr algn="ctr" indent="0" marL="0">
              <a:buNone/>
            </a:pPr>
            <a:r>
              <a:rPr lang="en-US" sz="1700" dirty="0">
                <a:solidFill>
                  <a:srgbClr val="1F1F1F"/>
                </a:solidFill>
                <a:latin typeface="Calibri" pitchFamily="34" charset="0"/>
                <a:ea typeface="Calibri" pitchFamily="34" charset="-122"/>
                <a:cs typeface="Calibri" pitchFamily="34" charset="-120"/>
              </a:rPr>
              <a:t>Associate Professor, Department of Information Technology, NITK Surathkal</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tmp/claude-0/-home-claude/97208104-cc8e-5f54-82df-7ee9bd55d797/scratchpad/pr/img/bar.png">    </p:cNvPr>
          <p:cNvPicPr>
            <a:picLocks noChangeAspect="1"/>
          </p:cNvPicPr>
          <p:nvPr/>
        </p:nvPicPr>
        <p:blipFill>
          <a:blip r:embed="rId1"/>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Table of Contents</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2</a:t>
            </a:r>
            <a:endParaRPr lang="en-US" sz="1000" dirty="0"/>
          </a:p>
        </p:txBody>
      </p:sp>
      <p:sp>
        <p:nvSpPr>
          <p:cNvPr id="6" name="Text 2"/>
          <p:cNvSpPr txBox="1"/>
          <p:nvPr/>
        </p:nvSpPr>
        <p:spPr>
          <a:xfrm>
            <a:off x="548640" y="777240"/>
            <a:ext cx="6400800" cy="4023360"/>
          </a:xfrm>
          <a:prstGeom prst="rect">
            <a:avLst/>
          </a:prstGeom>
          <a:noFill/>
          <a:ln/>
        </p:spPr>
        <p:txBody>
          <a:bodyPr wrap="square" lIns="25400" tIns="25400" rIns="25400" bIns="25400" rtlCol="0" anchor="t"/>
          <a:lstStyle/>
          <a:p>
            <a:pPr marL="342900" indent="-342900">
              <a:spcAft>
                <a:spcPts val="400"/>
              </a:spcAft>
              <a:buSzPct val="100000"/>
              <a:buChar char="•"/>
            </a:pPr>
            <a:r>
              <a:rPr lang="en-US" sz="1800" dirty="0">
                <a:solidFill>
                  <a:srgbClr val="1F1F1F"/>
                </a:solidFill>
                <a:latin typeface="Calibri" pitchFamily="34" charset="0"/>
                <a:ea typeface="Calibri" pitchFamily="34" charset="-122"/>
                <a:cs typeface="Calibri" pitchFamily="34" charset="-120"/>
              </a:rPr>
              <a:t>Progress at a Glance</a:t>
            </a:r>
            <a:endParaRPr lang="en-US" sz="1800" dirty="0"/>
          </a:p>
          <a:p>
            <a:pPr marL="342900" indent="-342900">
              <a:spcAft>
                <a:spcPts val="400"/>
              </a:spcAft>
              <a:buSzPct val="100000"/>
              <a:buChar char="•"/>
            </a:pPr>
            <a:r>
              <a:rPr lang="en-US" sz="1800" dirty="0">
                <a:solidFill>
                  <a:srgbClr val="1F1F1F"/>
                </a:solidFill>
                <a:latin typeface="Calibri" pitchFamily="34" charset="0"/>
                <a:ea typeface="Calibri" pitchFamily="34" charset="-122"/>
                <a:cs typeface="Calibri" pitchFamily="34" charset="-120"/>
              </a:rPr>
              <a:t>Recap: The Adaptive-Order Layer</a:t>
            </a:r>
            <a:endParaRPr lang="en-US" sz="1800" dirty="0"/>
          </a:p>
          <a:p>
            <a:pPr marL="342900" indent="-342900">
              <a:spcAft>
                <a:spcPts val="400"/>
              </a:spcAft>
              <a:buSzPct val="100000"/>
              <a:buChar char="•"/>
            </a:pPr>
            <a:r>
              <a:rPr lang="en-US" sz="1800" dirty="0">
                <a:solidFill>
                  <a:srgbClr val="1F1F1F"/>
                </a:solidFill>
                <a:latin typeface="Calibri" pitchFamily="34" charset="0"/>
                <a:ea typeface="Calibri" pitchFamily="34" charset="-122"/>
                <a:cs typeface="Calibri" pitchFamily="34" charset="-120"/>
              </a:rPr>
              <a:t>Training the Gate Reliably</a:t>
            </a:r>
            <a:endParaRPr lang="en-US" sz="1800" dirty="0"/>
          </a:p>
          <a:p>
            <a:pPr marL="342900" indent="-342900">
              <a:spcAft>
                <a:spcPts val="400"/>
              </a:spcAft>
              <a:buSzPct val="100000"/>
              <a:buChar char="•"/>
            </a:pPr>
            <a:r>
              <a:rPr lang="en-US" sz="1800" dirty="0">
                <a:solidFill>
                  <a:srgbClr val="1F1F1F"/>
                </a:solidFill>
                <a:latin typeface="Calibri" pitchFamily="34" charset="0"/>
                <a:ea typeface="Calibri" pitchFamily="34" charset="-122"/>
                <a:cs typeface="Calibri" pitchFamily="34" charset="-120"/>
              </a:rPr>
              <a:t>Decision Rule Set in Advance</a:t>
            </a:r>
            <a:endParaRPr lang="en-US" sz="1800" dirty="0"/>
          </a:p>
          <a:p>
            <a:pPr marL="342900" indent="-342900">
              <a:spcAft>
                <a:spcPts val="400"/>
              </a:spcAft>
              <a:buSzPct val="100000"/>
              <a:buChar char="•"/>
            </a:pPr>
            <a:r>
              <a:rPr lang="en-US" sz="1800" dirty="0">
                <a:solidFill>
                  <a:srgbClr val="1F1F1F"/>
                </a:solidFill>
                <a:latin typeface="Calibri" pitchFamily="34" charset="0"/>
                <a:ea typeface="Calibri" pitchFamily="34" charset="-122"/>
                <a:cs typeface="Calibri" pitchFamily="34" charset="-120"/>
              </a:rPr>
              <a:t>Testing the Cost Analysis on A₅</a:t>
            </a:r>
            <a:endParaRPr lang="en-US" sz="1800" dirty="0"/>
          </a:p>
          <a:p>
            <a:pPr marL="342900" indent="-342900">
              <a:spcAft>
                <a:spcPts val="400"/>
              </a:spcAft>
              <a:buSzPct val="100000"/>
              <a:buChar char="•"/>
            </a:pPr>
            <a:r>
              <a:rPr lang="en-US" sz="1800" dirty="0">
                <a:solidFill>
                  <a:srgbClr val="1F1F1F"/>
                </a:solidFill>
                <a:latin typeface="Calibri" pitchFamily="34" charset="0"/>
                <a:ea typeface="Calibri" pitchFamily="34" charset="-122"/>
                <a:cs typeface="Calibri" pitchFamily="34" charset="-120"/>
              </a:rPr>
              <a:t>Turning the Saving into Time</a:t>
            </a:r>
            <a:endParaRPr lang="en-US" sz="1800" dirty="0"/>
          </a:p>
          <a:p>
            <a:pPr marL="342900" indent="-342900">
              <a:spcAft>
                <a:spcPts val="400"/>
              </a:spcAft>
              <a:buSzPct val="100000"/>
              <a:buChar char="•"/>
            </a:pPr>
            <a:r>
              <a:rPr lang="en-US" sz="1800" dirty="0">
                <a:solidFill>
                  <a:srgbClr val="1F1F1F"/>
                </a:solidFill>
                <a:latin typeface="Calibri" pitchFamily="34" charset="0"/>
                <a:ea typeface="Calibri" pitchFamily="34" charset="-122"/>
                <a:cs typeface="Calibri" pitchFamily="34" charset="-120"/>
              </a:rPr>
              <a:t>Measured Speed and Accuracy</a:t>
            </a:r>
            <a:endParaRPr lang="en-US" sz="1800" dirty="0"/>
          </a:p>
          <a:p>
            <a:pPr marL="342900" indent="-342900">
              <a:spcAft>
                <a:spcPts val="400"/>
              </a:spcAft>
              <a:buSzPct val="100000"/>
              <a:buChar char="•"/>
            </a:pPr>
            <a:r>
              <a:rPr lang="en-US" sz="1800" dirty="0">
                <a:solidFill>
                  <a:srgbClr val="1F1F1F"/>
                </a:solidFill>
                <a:latin typeface="Calibri" pitchFamily="34" charset="0"/>
                <a:ea typeface="Calibri" pitchFamily="34" charset="-122"/>
                <a:cs typeface="Calibri" pitchFamily="34" charset="-120"/>
              </a:rPr>
              <a:t>Order Matters on Real Text (Boxes)</a:t>
            </a:r>
            <a:endParaRPr lang="en-US" sz="1800" dirty="0"/>
          </a:p>
          <a:p>
            <a:pPr marL="342900" indent="-342900">
              <a:spcAft>
                <a:spcPts val="400"/>
              </a:spcAft>
              <a:buSzPct val="100000"/>
              <a:buChar char="•"/>
            </a:pPr>
            <a:r>
              <a:rPr lang="en-US" sz="1800" dirty="0">
                <a:solidFill>
                  <a:srgbClr val="1F1F1F"/>
                </a:solidFill>
                <a:latin typeface="Calibri" pitchFamily="34" charset="0"/>
                <a:ea typeface="Calibri" pitchFamily="34" charset="-122"/>
                <a:cs typeface="Calibri" pitchFamily="34" charset="-120"/>
              </a:rPr>
              <a:t>Running Now: Restart Rule</a:t>
            </a:r>
            <a:endParaRPr lang="en-US" sz="1800" dirty="0"/>
          </a:p>
          <a:p>
            <a:pPr marL="342900" indent="-342900">
              <a:spcAft>
                <a:spcPts val="400"/>
              </a:spcAft>
              <a:buSzPct val="100000"/>
              <a:buChar char="•"/>
            </a:pPr>
            <a:r>
              <a:rPr lang="en-US" sz="1800" dirty="0">
                <a:solidFill>
                  <a:srgbClr val="1F1F1F"/>
                </a:solidFill>
                <a:latin typeface="Calibri" pitchFamily="34" charset="0"/>
                <a:ea typeface="Calibri" pitchFamily="34" charset="-122"/>
                <a:cs typeface="Calibri" pitchFamily="34" charset="-120"/>
              </a:rPr>
              <a:t>Conclusion and Next Steps</a:t>
            </a:r>
            <a:endParaRPr lang="en-US" sz="1800" dirty="0"/>
          </a:p>
          <a:p>
            <a:pPr marL="342900" indent="-342900">
              <a:spcAft>
                <a:spcPts val="400"/>
              </a:spcAft>
              <a:buSzPct val="100000"/>
              <a:buChar char="•"/>
            </a:pPr>
            <a:r>
              <a:rPr lang="en-US" sz="1800" dirty="0">
                <a:solidFill>
                  <a:srgbClr val="1F1F1F"/>
                </a:solidFill>
                <a:latin typeface="Calibri" pitchFamily="34" charset="0"/>
                <a:ea typeface="Calibri" pitchFamily="34" charset="-122"/>
                <a:cs typeface="Calibri" pitchFamily="34" charset="-120"/>
              </a:rPr>
              <a:t>Updated Timeline</a:t>
            </a:r>
            <a:endParaRPr lang="en-US" sz="1800" dirty="0"/>
          </a:p>
          <a:p>
            <a:pPr marL="342900" indent="-342900">
              <a:spcAft>
                <a:spcPts val="400"/>
              </a:spcAft>
              <a:buSzPct val="100000"/>
              <a:buChar char="•"/>
            </a:pPr>
            <a:r>
              <a:rPr lang="en-US" sz="1800" dirty="0">
                <a:solidFill>
                  <a:srgbClr val="1F1F1F"/>
                </a:solidFill>
                <a:latin typeface="Calibri" pitchFamily="34" charset="0"/>
                <a:ea typeface="Calibri" pitchFamily="34" charset="-122"/>
                <a:cs typeface="Calibri" pitchFamily="34" charset="-120"/>
              </a:rPr>
              <a:t>Updates to the Mid-Semester Report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tmp/claude-0/-home-claude/97208104-cc8e-5f54-82df-7ee9bd55d797/scratchpad/pr/img/bar.png">    </p:cNvPr>
          <p:cNvPicPr>
            <a:picLocks noChangeAspect="1"/>
          </p:cNvPicPr>
          <p:nvPr/>
        </p:nvPicPr>
        <p:blipFill>
          <a:blip r:embed="rId1"/>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Progress at a Glance</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3</a:t>
            </a:r>
            <a:endParaRPr lang="en-US" sz="1000" dirty="0"/>
          </a:p>
        </p:txBody>
      </p:sp>
      <p:sp>
        <p:nvSpPr>
          <p:cNvPr id="6" name="Text 2"/>
          <p:cNvSpPr txBox="1"/>
          <p:nvPr/>
        </p:nvSpPr>
        <p:spPr>
          <a:xfrm>
            <a:off x="411480" y="685800"/>
            <a:ext cx="8321040" cy="411480"/>
          </a:xfrm>
          <a:prstGeom prst="rect">
            <a:avLst/>
          </a:prstGeom>
          <a:noFill/>
          <a:ln/>
        </p:spPr>
        <p:txBody>
          <a:bodyPr wrap="square" lIns="0" tIns="0" rIns="0" bIns="0" rtlCol="0" anchor="ctr"/>
          <a:lstStyle/>
          <a:p>
            <a:pPr indent="0" marL="0">
              <a:buNone/>
            </a:pPr>
            <a:r>
              <a:rPr lang="en-US" sz="2000" i="1" dirty="0">
                <a:solidFill>
                  <a:srgbClr val="1F4E96"/>
                </a:solidFill>
                <a:latin typeface="Calibri" pitchFamily="34" charset="0"/>
                <a:ea typeface="Calibri" pitchFamily="34" charset="-122"/>
                <a:cs typeface="Calibri" pitchFamily="34" charset="-120"/>
              </a:rPr>
              <a:t>Work done since the mid-semester review on 1 October 2026</a:t>
            </a:r>
            <a:endParaRPr lang="en-US" sz="2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560320"/>
                <a:gridCol w="4297680"/>
                <a:gridCol w="1371600"/>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Work</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we found</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r>
              <a:tr h="384048">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Training recipe for the learned gate</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Exact allocation in 13 of 20 runs (about 1 in 20 before)</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Completed</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384048">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Decision rule, written in advance</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13 is below the target of 15; main goal moved to measured speed</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Completed</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384048">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A₅ test of our cost analysis</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The gate stops at 3 factors; 2 were predicted</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Not confirmed</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384048">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Faster inference path</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0.73–0.80 of the best 4-factor time on large inputs</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Completed</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384048">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Accuracy on trained models</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Unchanged: token accuracy within 0.0002</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Completed</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384048">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Boxes order sweep (real text)</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2 factors per token beat 1 at the same model size</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Completed</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384048">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Restart rule for training</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Tests an early warning signal on 20 new runs</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In progress</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tmp/claude-0/-home-claude/97208104-cc8e-5f54-82df-7ee9bd55d797/scratchpad/pr/img/bar.png">    </p:cNvPr>
          <p:cNvPicPr>
            <a:picLocks noChangeAspect="1"/>
          </p:cNvPicPr>
          <p:nvPr/>
        </p:nvPicPr>
        <p:blipFill>
          <a:blip r:embed="rId1"/>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Recap: The Adaptive-Order Layer</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4</a:t>
            </a:r>
            <a:endParaRPr lang="en-US" sz="1000" dirty="0"/>
          </a:p>
        </p:txBody>
      </p:sp>
      <p:sp>
        <p:nvSpPr>
          <p:cNvPr id="6" name="Text 2"/>
          <p:cNvSpPr txBox="1"/>
          <p:nvPr/>
        </p:nvSpPr>
        <p:spPr>
          <a:xfrm>
            <a:off x="411480" y="731520"/>
            <a:ext cx="4343400" cy="4023360"/>
          </a:xfrm>
          <a:prstGeom prst="rect">
            <a:avLst/>
          </a:prstGeom>
          <a:noFill/>
          <a:ln/>
        </p:spPr>
        <p:txBody>
          <a:bodyPr wrap="square" lIns="25400" tIns="25400" rIns="25400" bIns="25400" rtlCol="0" anchor="t"/>
          <a:lstStyle/>
          <a:p>
            <a:pPr marL="342900" indent="-342900">
              <a:spcAft>
                <a:spcPts val="400"/>
              </a:spcAft>
              <a:buSzPct val="100000"/>
              <a:buChar char="•"/>
            </a:pPr>
            <a:r>
              <a:rPr lang="en-US" sz="1600" dirty="0">
                <a:solidFill>
                  <a:srgbClr val="1F1F1F"/>
                </a:solidFill>
                <a:latin typeface="Calibri" pitchFamily="34" charset="0"/>
                <a:ea typeface="Calibri" pitchFamily="34" charset="-122"/>
                <a:cs typeface="Calibri" pitchFamily="34" charset="-120"/>
              </a:rPr>
              <a:t>DeltaProduct updates its memory at every token with a product of Householder factors; more factors track harder changes but cost more time</a:t>
            </a:r>
            <a:endParaRPr lang="en-US" sz="1600" dirty="0"/>
          </a:p>
          <a:p>
            <a:pPr marL="342900" indent="-342900">
              <a:spcAft>
                <a:spcPts val="400"/>
              </a:spcAft>
              <a:buSzPct val="100000"/>
              <a:buChar char="•"/>
            </a:pPr>
            <a:r>
              <a:rPr lang="en-US" sz="1600" dirty="0">
                <a:solidFill>
                  <a:srgbClr val="1F1F1F"/>
                </a:solidFill>
                <a:latin typeface="Calibri" pitchFamily="34" charset="0"/>
                <a:ea typeface="Calibri" pitchFamily="34" charset="-122"/>
                <a:cs typeface="Calibri" pitchFamily="34" charset="-120"/>
              </a:rPr>
              <a:t>Normally the number of factors is one fixed setting for every token</a:t>
            </a:r>
            <a:endParaRPr lang="en-US" sz="1600" dirty="0"/>
          </a:p>
          <a:p>
            <a:pPr marL="342900" indent="-342900">
              <a:spcAft>
                <a:spcPts val="400"/>
              </a:spcAft>
              <a:buSzPct val="100000"/>
              <a:buChar char="•"/>
            </a:pPr>
            <a:r>
              <a:rPr lang="en-US" sz="1600" b="1" dirty="0">
                <a:solidFill>
                  <a:srgbClr val="1F1F1F"/>
                </a:solidFill>
                <a:latin typeface="Calibri" pitchFamily="34" charset="0"/>
                <a:ea typeface="Calibri" pitchFamily="34" charset="-122"/>
                <a:cs typeface="Calibri" pitchFamily="34" charset="-120"/>
              </a:rPr>
              <a:t>Our learned gate</a:t>
            </a:r>
            <a:r>
              <a:rPr lang="en-US" sz="1600" dirty="0">
                <a:solidFill>
                  <a:srgbClr val="1F1F1F"/>
                </a:solidFill>
                <a:latin typeface="Calibri" pitchFamily="34" charset="0"/>
                <a:ea typeface="Calibri" pitchFamily="34" charset="-122"/>
                <a:cs typeface="Calibri" pitchFamily="34" charset="-120"/>
              </a:rPr>
              <a:t> reads each token and chooses how many of the 4 factors to use</a:t>
            </a:r>
            <a:endParaRPr lang="en-US" sz="1600" dirty="0"/>
          </a:p>
          <a:p>
            <a:pPr marL="342900" indent="-342900">
              <a:spcAft>
                <a:spcPts val="400"/>
              </a:spcAft>
              <a:buSzPct val="100000"/>
              <a:buChar char="•"/>
            </a:pPr>
            <a:r>
              <a:rPr lang="en-US" sz="1600" dirty="0">
                <a:solidFill>
                  <a:srgbClr val="1F1F1F"/>
                </a:solidFill>
                <a:latin typeface="Calibri" pitchFamily="34" charset="0"/>
                <a:ea typeface="Calibri" pitchFamily="34" charset="-122"/>
                <a:cs typeface="Calibri" pitchFamily="34" charset="-120"/>
              </a:rPr>
              <a:t>It is trained with a penalty on the average number of factors, with no labels for the allocation</a:t>
            </a:r>
            <a:endParaRPr lang="en-US" sz="1600" dirty="0"/>
          </a:p>
          <a:p>
            <a:pPr marL="342900" indent="-342900">
              <a:spcAft>
                <a:spcPts val="400"/>
              </a:spcAft>
              <a:buSzPct val="100000"/>
              <a:buChar char="•"/>
            </a:pPr>
            <a:r>
              <a:rPr lang="en-US" sz="1600" b="1" dirty="0">
                <a:solidFill>
                  <a:srgbClr val="1F1F1F"/>
                </a:solidFill>
                <a:latin typeface="Calibri" pitchFamily="34" charset="0"/>
                <a:ea typeface="Calibri" pitchFamily="34" charset="-122"/>
                <a:cs typeface="Calibri" pitchFamily="34" charset="-120"/>
              </a:rPr>
              <a:t>Ideal on the S₅ task:</a:t>
            </a:r>
            <a:r>
              <a:rPr lang="en-US" sz="1600" dirty="0">
                <a:solidFill>
                  <a:srgbClr val="1F1F1F"/>
                </a:solidFill>
                <a:latin typeface="Calibri" pitchFamily="34" charset="0"/>
                <a:ea typeface="Calibri" pitchFamily="34" charset="-122"/>
                <a:cs typeface="Calibri" pitchFamily="34" charset="-120"/>
              </a:rPr>
              <a:t> 1 factor for a swap (90% of tokens), 4 for a 5-cycle (10%), 1.30 on average</a:t>
            </a:r>
            <a:endParaRPr lang="en-US" sz="1600" dirty="0"/>
          </a:p>
        </p:txBody>
      </p:sp>
      <p:pic>
        <p:nvPicPr>
          <p:cNvPr id="7" name="Image 1" descr="/tmp/claude-0/-home-claude/97208104-cc8e-5f54-82df-7ee9bd55d797/scratchpad/pr/img/layer.png">    </p:cNvPr>
          <p:cNvPicPr>
            <a:picLocks noChangeAspect="1"/>
          </p:cNvPicPr>
          <p:nvPr/>
        </p:nvPicPr>
        <p:blipFill>
          <a:blip r:embed="rId2"/>
          <a:stretch>
            <a:fillRect/>
          </a:stretch>
        </p:blipFill>
        <p:spPr>
          <a:xfrm>
            <a:off x="4892040" y="868680"/>
            <a:ext cx="3931920" cy="30895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mp/claude-0/-home-claude/97208104-cc8e-5f54-82df-7ee9bd55d797/scratchpad/pr/img/bar.png">    </p:cNvPr>
          <p:cNvPicPr>
            <a:picLocks noChangeAspect="1"/>
          </p:cNvPicPr>
          <p:nvPr/>
        </p:nvPicPr>
        <p:blipFill>
          <a:blip r:embed="rId1"/>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Experimental Results: Training the Gate Reliably</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5</a:t>
            </a:r>
            <a:endParaRPr lang="en-US" sz="1000" dirty="0"/>
          </a:p>
        </p:txBody>
      </p:sp>
      <p:pic>
        <p:nvPicPr>
          <p:cNvPr id="6" name="Image 1" descr="/tmp/claude-0/-home-claude/97208104-cc8e-5f54-82df-7ee9bd55d797/scratchpad/pr/img/gate20.png">    </p:cNvPr>
          <p:cNvPicPr>
            <a:picLocks noChangeAspect="1"/>
          </p:cNvPicPr>
          <p:nvPr/>
        </p:nvPicPr>
        <p:blipFill>
          <a:blip r:embed="rId2"/>
          <a:stretch>
            <a:fillRect/>
          </a:stretch>
        </p:blipFill>
        <p:spPr>
          <a:xfrm>
            <a:off x="457200" y="731520"/>
            <a:ext cx="4473942" cy="2697480"/>
          </a:xfrm>
          <a:prstGeom prst="rect">
            <a:avLst/>
          </a:prstGeom>
        </p:spPr>
      </p:pic>
      <p:sp>
        <p:nvSpPr>
          <p:cNvPr id="7" name="Text 2"/>
          <p:cNvSpPr txBox="1"/>
          <p:nvPr/>
        </p:nvSpPr>
        <p:spPr>
          <a:xfrm>
            <a:off x="274320" y="3474720"/>
            <a:ext cx="5120640" cy="274320"/>
          </a:xfrm>
          <a:prstGeom prst="rect">
            <a:avLst/>
          </a:prstGeom>
          <a:noFill/>
          <a:ln/>
        </p:spPr>
        <p:txBody>
          <a:bodyPr wrap="square" lIns="0" tIns="0" rIns="0" bIns="0" rtlCol="0" anchor="t"/>
          <a:lstStyle/>
          <a:p>
            <a:pPr algn="ctr" indent="0" marL="0">
              <a:buNone/>
            </a:pPr>
            <a:r>
              <a:rPr lang="en-US" sz="1100" i="1" dirty="0">
                <a:solidFill>
                  <a:srgbClr val="5A5A5A"/>
                </a:solidFill>
                <a:latin typeface="Calibri" pitchFamily="34" charset="0"/>
                <a:ea typeface="Calibri" pitchFamily="34" charset="-122"/>
                <a:cs typeface="Calibri" pitchFamily="34" charset="-120"/>
              </a:rPr>
              <a:t>Mean factors per token at the end of training, in each of 20 runs (seeds 11–30)</a:t>
            </a:r>
            <a:endParaRPr lang="en-US" sz="1100" dirty="0"/>
          </a:p>
        </p:txBody>
      </p:sp>
      <p:sp>
        <p:nvSpPr>
          <p:cNvPr id="8" name="Text 3"/>
          <p:cNvSpPr txBox="1"/>
          <p:nvPr/>
        </p:nvSpPr>
        <p:spPr>
          <a:xfrm>
            <a:off x="411480" y="3840480"/>
            <a:ext cx="5029200" cy="1005840"/>
          </a:xfrm>
          <a:prstGeom prst="rect">
            <a:avLst/>
          </a:prstGeom>
          <a:noFill/>
          <a:ln/>
        </p:spPr>
        <p:txBody>
          <a:bodyPr wrap="square" lIns="25400" tIns="25400" rIns="25400" bIns="25400" rtlCol="0" anchor="t"/>
          <a:lstStyle/>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New recipe: on/off gates and the budget penalty from the first step, the gate starting fully open, the first factor always on</a:t>
            </a:r>
            <a:endParaRPr lang="en-US" sz="1400" dirty="0"/>
          </a:p>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Every failed run gives 5-cycles too few factors and never learns the task</a:t>
            </a:r>
            <a:endParaRPr lang="en-US" sz="1400" dirty="0"/>
          </a:p>
        </p:txBody>
      </p:sp>
      <p:sp>
        <p:nvSpPr>
          <p:cNvPr id="9" name="Shape 4"/>
          <p:cNvSpPr/>
          <p:nvPr/>
        </p:nvSpPr>
        <p:spPr>
          <a:xfrm>
            <a:off x="5669280" y="777240"/>
            <a:ext cx="3108960" cy="1143000"/>
          </a:xfrm>
          <a:prstGeom prst="roundRect">
            <a:avLst>
              <a:gd name="adj" fmla="val 6400"/>
            </a:avLst>
          </a:prstGeom>
          <a:solidFill>
            <a:srgbClr val="EEF2FA"/>
          </a:solidFill>
          <a:ln w="12700">
            <a:solidFill>
              <a:srgbClr val="C9D4EA"/>
            </a:solidFill>
            <a:prstDash val="solid"/>
          </a:ln>
        </p:spPr>
      </p:sp>
      <p:sp>
        <p:nvSpPr>
          <p:cNvPr id="10" name="Text 5"/>
          <p:cNvSpPr txBox="1"/>
          <p:nvPr/>
        </p:nvSpPr>
        <p:spPr>
          <a:xfrm>
            <a:off x="5669280" y="850392"/>
            <a:ext cx="3108960" cy="548640"/>
          </a:xfrm>
          <a:prstGeom prst="rect">
            <a:avLst/>
          </a:prstGeom>
          <a:noFill/>
          <a:ln/>
        </p:spPr>
        <p:txBody>
          <a:bodyPr wrap="square" lIns="0" tIns="0" rIns="0" bIns="0" rtlCol="0" anchor="ctr"/>
          <a:lstStyle/>
          <a:p>
            <a:pPr algn="ctr" indent="0" marL="0">
              <a:buNone/>
            </a:pPr>
            <a:r>
              <a:rPr lang="en-US" sz="3000" b="1" dirty="0">
                <a:solidFill>
                  <a:srgbClr val="1F4E96"/>
                </a:solidFill>
                <a:latin typeface="Calibri" pitchFamily="34" charset="0"/>
                <a:ea typeface="Calibri" pitchFamily="34" charset="-122"/>
                <a:cs typeface="Calibri" pitchFamily="34" charset="-120"/>
              </a:rPr>
              <a:t>13 / 20</a:t>
            </a:r>
            <a:endParaRPr lang="en-US" sz="3000" dirty="0"/>
          </a:p>
        </p:txBody>
      </p:sp>
      <p:sp>
        <p:nvSpPr>
          <p:cNvPr id="11" name="Text 6"/>
          <p:cNvSpPr txBox="1"/>
          <p:nvPr/>
        </p:nvSpPr>
        <p:spPr>
          <a:xfrm>
            <a:off x="5779008" y="1371600"/>
            <a:ext cx="2889504" cy="502920"/>
          </a:xfrm>
          <a:prstGeom prst="rect">
            <a:avLst/>
          </a:prstGeom>
          <a:noFill/>
          <a:ln/>
        </p:spPr>
        <p:txBody>
          <a:bodyPr wrap="square" lIns="0" tIns="0" rIns="0" bIns="0" rtlCol="0" anchor="t"/>
          <a:lstStyle/>
          <a:p>
            <a:pPr algn="ctr" indent="0" marL="0">
              <a:buNone/>
            </a:pPr>
            <a:r>
              <a:rPr lang="en-US" sz="1300" dirty="0">
                <a:solidFill>
                  <a:srgbClr val="5A5A5A"/>
                </a:solidFill>
                <a:latin typeface="Calibri" pitchFamily="34" charset="0"/>
                <a:ea typeface="Calibri" pitchFamily="34" charset="-122"/>
                <a:cs typeface="Calibri" pitchFamily="34" charset="-120"/>
              </a:rPr>
              <a:t>runs reach the exact allocation (about 1 in 20 before)</a:t>
            </a:r>
            <a:endParaRPr lang="en-US" sz="1300" dirty="0"/>
          </a:p>
        </p:txBody>
      </p:sp>
      <p:sp>
        <p:nvSpPr>
          <p:cNvPr id="12" name="Shape 7"/>
          <p:cNvSpPr/>
          <p:nvPr/>
        </p:nvSpPr>
        <p:spPr>
          <a:xfrm>
            <a:off x="5669280" y="2057400"/>
            <a:ext cx="3108960" cy="1143000"/>
          </a:xfrm>
          <a:prstGeom prst="roundRect">
            <a:avLst>
              <a:gd name="adj" fmla="val 6400"/>
            </a:avLst>
          </a:prstGeom>
          <a:solidFill>
            <a:srgbClr val="EEF2FA"/>
          </a:solidFill>
          <a:ln w="12700">
            <a:solidFill>
              <a:srgbClr val="C9D4EA"/>
            </a:solidFill>
            <a:prstDash val="solid"/>
          </a:ln>
        </p:spPr>
      </p:sp>
      <p:sp>
        <p:nvSpPr>
          <p:cNvPr id="13" name="Text 8"/>
          <p:cNvSpPr txBox="1"/>
          <p:nvPr/>
        </p:nvSpPr>
        <p:spPr>
          <a:xfrm>
            <a:off x="5669280" y="2130552"/>
            <a:ext cx="3108960" cy="548640"/>
          </a:xfrm>
          <a:prstGeom prst="rect">
            <a:avLst/>
          </a:prstGeom>
          <a:noFill/>
          <a:ln/>
        </p:spPr>
        <p:txBody>
          <a:bodyPr wrap="square" lIns="0" tIns="0" rIns="0" bIns="0" rtlCol="0" anchor="ctr"/>
          <a:lstStyle/>
          <a:p>
            <a:pPr algn="ctr" indent="0" marL="0">
              <a:buNone/>
            </a:pPr>
            <a:r>
              <a:rPr lang="en-US" sz="3000" b="1" dirty="0">
                <a:solidFill>
                  <a:srgbClr val="1F4E96"/>
                </a:solidFill>
                <a:latin typeface="Calibri" pitchFamily="34" charset="0"/>
                <a:ea typeface="Calibri" pitchFamily="34" charset="-122"/>
                <a:cs typeface="Calibri" pitchFamily="34" charset="-120"/>
              </a:rPr>
              <a:t>1.30</a:t>
            </a:r>
            <a:endParaRPr lang="en-US" sz="3000" dirty="0"/>
          </a:p>
        </p:txBody>
      </p:sp>
      <p:sp>
        <p:nvSpPr>
          <p:cNvPr id="14" name="Text 9"/>
          <p:cNvSpPr txBox="1"/>
          <p:nvPr/>
        </p:nvSpPr>
        <p:spPr>
          <a:xfrm>
            <a:off x="5779008" y="2651760"/>
            <a:ext cx="2889504" cy="502920"/>
          </a:xfrm>
          <a:prstGeom prst="rect">
            <a:avLst/>
          </a:prstGeom>
          <a:noFill/>
          <a:ln/>
        </p:spPr>
        <p:txBody>
          <a:bodyPr wrap="square" lIns="0" tIns="0" rIns="0" bIns="0" rtlCol="0" anchor="t"/>
          <a:lstStyle/>
          <a:p>
            <a:pPr algn="ctr" indent="0" marL="0">
              <a:buNone/>
            </a:pPr>
            <a:r>
              <a:rPr lang="en-US" sz="1300" dirty="0">
                <a:solidFill>
                  <a:srgbClr val="5A5A5A"/>
                </a:solidFill>
                <a:latin typeface="Calibri" pitchFamily="34" charset="0"/>
                <a:ea typeface="Calibri" pitchFamily="34" charset="-122"/>
                <a:cs typeface="Calibri" pitchFamily="34" charset="-120"/>
              </a:rPr>
              <a:t>factors per token, token accuracy ≥ 0.9986</a:t>
            </a:r>
            <a:endParaRPr lang="en-US" sz="1300" dirty="0"/>
          </a:p>
        </p:txBody>
      </p:sp>
      <p:sp>
        <p:nvSpPr>
          <p:cNvPr id="15" name="Shape 10"/>
          <p:cNvSpPr/>
          <p:nvPr/>
        </p:nvSpPr>
        <p:spPr>
          <a:xfrm>
            <a:off x="5669280" y="3337560"/>
            <a:ext cx="3108960" cy="1143000"/>
          </a:xfrm>
          <a:prstGeom prst="roundRect">
            <a:avLst>
              <a:gd name="adj" fmla="val 6400"/>
            </a:avLst>
          </a:prstGeom>
          <a:solidFill>
            <a:srgbClr val="EEF2FA"/>
          </a:solidFill>
          <a:ln w="12700">
            <a:solidFill>
              <a:srgbClr val="C9D4EA"/>
            </a:solidFill>
            <a:prstDash val="solid"/>
          </a:ln>
        </p:spPr>
      </p:sp>
      <p:sp>
        <p:nvSpPr>
          <p:cNvPr id="16" name="Text 11"/>
          <p:cNvSpPr txBox="1"/>
          <p:nvPr/>
        </p:nvSpPr>
        <p:spPr>
          <a:xfrm>
            <a:off x="5669280" y="3410712"/>
            <a:ext cx="3108960" cy="548640"/>
          </a:xfrm>
          <a:prstGeom prst="rect">
            <a:avLst/>
          </a:prstGeom>
          <a:noFill/>
          <a:ln/>
        </p:spPr>
        <p:txBody>
          <a:bodyPr wrap="square" lIns="0" tIns="0" rIns="0" bIns="0" rtlCol="0" anchor="ctr"/>
          <a:lstStyle/>
          <a:p>
            <a:pPr algn="ctr" indent="0" marL="0">
              <a:buNone/>
            </a:pPr>
            <a:r>
              <a:rPr lang="en-US" sz="3000" b="1" dirty="0">
                <a:solidFill>
                  <a:srgbClr val="C0591C"/>
                </a:solidFill>
                <a:latin typeface="Calibri" pitchFamily="34" charset="0"/>
                <a:ea typeface="Calibri" pitchFamily="34" charset="-122"/>
                <a:cs typeface="Calibri" pitchFamily="34" charset="-120"/>
              </a:rPr>
              <a:t>Step 500</a:t>
            </a:r>
            <a:endParaRPr lang="en-US" sz="3000" dirty="0"/>
          </a:p>
        </p:txBody>
      </p:sp>
      <p:sp>
        <p:nvSpPr>
          <p:cNvPr id="17" name="Text 12"/>
          <p:cNvSpPr txBox="1"/>
          <p:nvPr/>
        </p:nvSpPr>
        <p:spPr>
          <a:xfrm>
            <a:off x="5779008" y="3931920"/>
            <a:ext cx="2889504" cy="502920"/>
          </a:xfrm>
          <a:prstGeom prst="rect">
            <a:avLst/>
          </a:prstGeom>
          <a:noFill/>
          <a:ln/>
        </p:spPr>
        <p:txBody>
          <a:bodyPr wrap="square" lIns="0" tIns="0" rIns="0" bIns="0" rtlCol="0" anchor="t"/>
          <a:lstStyle/>
          <a:p>
            <a:pPr algn="ctr" indent="0" marL="0">
              <a:buNone/>
            </a:pPr>
            <a:r>
              <a:rPr lang="en-US" sz="1300" dirty="0">
                <a:solidFill>
                  <a:srgbClr val="5A5A5A"/>
                </a:solidFill>
                <a:latin typeface="Calibri" pitchFamily="34" charset="0"/>
                <a:ea typeface="Calibri" pitchFamily="34" charset="-122"/>
                <a:cs typeface="Calibri" pitchFamily="34" charset="-120"/>
              </a:rPr>
              <a:t>by which every failed run is already visible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tmp/claude-0/-home-claude/97208104-cc8e-5f54-82df-7ee9bd55d797/scratchpad/pr/img/bar.png">    </p:cNvPr>
          <p:cNvPicPr>
            <a:picLocks noChangeAspect="1"/>
          </p:cNvPicPr>
          <p:nvPr/>
        </p:nvPicPr>
        <p:blipFill>
          <a:blip r:embed="rId1"/>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Decision Rule Set in Advance</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6</a:t>
            </a:r>
            <a:endParaRPr lang="en-US" sz="1000" dirty="0"/>
          </a:p>
        </p:txBody>
      </p:sp>
      <p:sp>
        <p:nvSpPr>
          <p:cNvPr id="6" name="Text 2"/>
          <p:cNvSpPr txBox="1"/>
          <p:nvPr/>
        </p:nvSpPr>
        <p:spPr>
          <a:xfrm>
            <a:off x="411480" y="685800"/>
            <a:ext cx="8321040" cy="685800"/>
          </a:xfrm>
          <a:prstGeom prst="rect">
            <a:avLst/>
          </a:prstGeom>
          <a:noFill/>
          <a:ln/>
        </p:spPr>
        <p:txBody>
          <a:bodyPr wrap="square" lIns="0" tIns="0" rIns="0" bIns="0" rtlCol="0" anchor="ctr"/>
          <a:lstStyle/>
          <a:p>
            <a:pPr indent="0" marL="0">
              <a:buNone/>
            </a:pPr>
            <a:r>
              <a:rPr lang="en-US" sz="2000" i="1" dirty="0">
                <a:solidFill>
                  <a:srgbClr val="1F4E96"/>
                </a:solidFill>
                <a:latin typeface="Calibri" pitchFamily="34" charset="0"/>
                <a:ea typeface="Calibri" pitchFamily="34" charset="-122"/>
                <a:cs typeface="Calibri" pitchFamily="34" charset="-120"/>
              </a:rPr>
              <a:t>To avoid reading the result in our favour, the success target was written down before the 20-run study</a:t>
            </a:r>
            <a:endParaRPr lang="en-US" sz="2000" dirty="0"/>
          </a:p>
        </p:txBody>
      </p:sp>
      <p:sp>
        <p:nvSpPr>
          <p:cNvPr id="7" name="Shape 3"/>
          <p:cNvSpPr/>
          <p:nvPr/>
        </p:nvSpPr>
        <p:spPr>
          <a:xfrm>
            <a:off x="411480" y="1554480"/>
            <a:ext cx="2651760" cy="3017520"/>
          </a:xfrm>
          <a:prstGeom prst="roundRect">
            <a:avLst>
              <a:gd name="adj" fmla="val 1034"/>
            </a:avLst>
          </a:prstGeom>
          <a:solidFill>
            <a:srgbClr val="F2F4F8"/>
          </a:solidFill>
          <a:ln w="12700">
            <a:solidFill>
              <a:srgbClr val="C9D4EA"/>
            </a:solidFill>
            <a:prstDash val="solid"/>
          </a:ln>
        </p:spPr>
      </p:sp>
      <p:sp>
        <p:nvSpPr>
          <p:cNvPr id="8" name="Text 4"/>
          <p:cNvSpPr txBox="1"/>
          <p:nvPr/>
        </p:nvSpPr>
        <p:spPr>
          <a:xfrm>
            <a:off x="594360" y="1691640"/>
            <a:ext cx="2286000" cy="384048"/>
          </a:xfrm>
          <a:prstGeom prst="rect">
            <a:avLst/>
          </a:prstGeom>
          <a:noFill/>
          <a:ln/>
        </p:spPr>
        <p:txBody>
          <a:bodyPr wrap="square" lIns="0" tIns="0" rIns="0" bIns="0" rtlCol="0" anchor="ctr"/>
          <a:lstStyle/>
          <a:p>
            <a:pPr indent="0" marL="0">
              <a:buNone/>
            </a:pPr>
            <a:r>
              <a:rPr lang="en-US" sz="1800" b="1" dirty="0">
                <a:solidFill>
                  <a:srgbClr val="C0591C"/>
                </a:solidFill>
                <a:latin typeface="Calibri" pitchFamily="34" charset="0"/>
                <a:ea typeface="Calibri" pitchFamily="34" charset="-122"/>
                <a:cs typeface="Calibri" pitchFamily="34" charset="-120"/>
              </a:rPr>
              <a:t>Rule (3 October)</a:t>
            </a:r>
            <a:endParaRPr lang="en-US" sz="1800" dirty="0"/>
          </a:p>
        </p:txBody>
      </p:sp>
      <p:sp>
        <p:nvSpPr>
          <p:cNvPr id="9" name="Text 5"/>
          <p:cNvSpPr txBox="1"/>
          <p:nvPr/>
        </p:nvSpPr>
        <p:spPr>
          <a:xfrm>
            <a:off x="548640" y="2194560"/>
            <a:ext cx="2377440" cy="2286000"/>
          </a:xfrm>
          <a:prstGeom prst="rect">
            <a:avLst/>
          </a:prstGeom>
          <a:noFill/>
          <a:ln/>
        </p:spPr>
        <p:txBody>
          <a:bodyPr wrap="square" lIns="25400" tIns="25400" rIns="25400" bIns="25400" rtlCol="0" anchor="t"/>
          <a:lstStyle/>
          <a:p>
            <a:pPr marL="342900" indent="-342900">
              <a:spcAft>
                <a:spcPts val="400"/>
              </a:spcAft>
              <a:buSzPct val="100000"/>
              <a:buChar char="•"/>
            </a:pPr>
            <a:r>
              <a:rPr lang="en-US" sz="1500" dirty="0">
                <a:solidFill>
                  <a:srgbClr val="1F1F1F"/>
                </a:solidFill>
                <a:latin typeface="Calibri" pitchFamily="34" charset="0"/>
                <a:ea typeface="Calibri" pitchFamily="34" charset="-122"/>
                <a:cs typeface="Calibri" pitchFamily="34" charset="-120"/>
              </a:rPr>
              <a:t>At least 15 of 20 usable runs: keep improving reliability</a:t>
            </a:r>
            <a:endParaRPr lang="en-US" sz="1500" dirty="0"/>
          </a:p>
          <a:p>
            <a:pPr marL="342900" indent="-342900">
              <a:spcAft>
                <a:spcPts val="400"/>
              </a:spcAft>
              <a:buSzPct val="100000"/>
              <a:buChar char="•"/>
            </a:pPr>
            <a:r>
              <a:rPr lang="en-US" sz="1500" dirty="0">
                <a:solidFill>
                  <a:srgbClr val="1F1F1F"/>
                </a:solidFill>
                <a:latin typeface="Calibri" pitchFamily="34" charset="0"/>
                <a:ea typeface="Calibri" pitchFamily="34" charset="-122"/>
                <a:cs typeface="Calibri" pitchFamily="34" charset="-120"/>
              </a:rPr>
              <a:t>Fewer: change the main deliverable</a:t>
            </a:r>
            <a:endParaRPr lang="en-US" sz="1500" dirty="0"/>
          </a:p>
        </p:txBody>
      </p:sp>
      <p:sp>
        <p:nvSpPr>
          <p:cNvPr id="10" name="Shape 6"/>
          <p:cNvSpPr/>
          <p:nvPr/>
        </p:nvSpPr>
        <p:spPr>
          <a:xfrm>
            <a:off x="3246120" y="1554480"/>
            <a:ext cx="2651760" cy="3017520"/>
          </a:xfrm>
          <a:prstGeom prst="roundRect">
            <a:avLst>
              <a:gd name="adj" fmla="val 1034"/>
            </a:avLst>
          </a:prstGeom>
          <a:solidFill>
            <a:srgbClr val="F2F4F8"/>
          </a:solidFill>
          <a:ln w="12700">
            <a:solidFill>
              <a:srgbClr val="C9D4EA"/>
            </a:solidFill>
            <a:prstDash val="solid"/>
          </a:ln>
        </p:spPr>
      </p:sp>
      <p:sp>
        <p:nvSpPr>
          <p:cNvPr id="11" name="Text 7"/>
          <p:cNvSpPr txBox="1"/>
          <p:nvPr/>
        </p:nvSpPr>
        <p:spPr>
          <a:xfrm>
            <a:off x="3429000" y="1691640"/>
            <a:ext cx="2286000" cy="384048"/>
          </a:xfrm>
          <a:prstGeom prst="rect">
            <a:avLst/>
          </a:prstGeom>
          <a:noFill/>
          <a:ln/>
        </p:spPr>
        <p:txBody>
          <a:bodyPr wrap="square" lIns="0" tIns="0" rIns="0" bIns="0" rtlCol="0" anchor="ctr"/>
          <a:lstStyle/>
          <a:p>
            <a:pPr indent="0" marL="0">
              <a:buNone/>
            </a:pPr>
            <a:r>
              <a:rPr lang="en-US" sz="1800" b="1" dirty="0">
                <a:solidFill>
                  <a:srgbClr val="C0591C"/>
                </a:solidFill>
                <a:latin typeface="Calibri" pitchFamily="34" charset="0"/>
                <a:ea typeface="Calibri" pitchFamily="34" charset="-122"/>
                <a:cs typeface="Calibri" pitchFamily="34" charset="-120"/>
              </a:rPr>
              <a:t>Result (7 October)</a:t>
            </a:r>
            <a:endParaRPr lang="en-US" sz="1800" dirty="0"/>
          </a:p>
        </p:txBody>
      </p:sp>
      <p:sp>
        <p:nvSpPr>
          <p:cNvPr id="12" name="Text 8"/>
          <p:cNvSpPr txBox="1"/>
          <p:nvPr/>
        </p:nvSpPr>
        <p:spPr>
          <a:xfrm>
            <a:off x="3383280" y="2194560"/>
            <a:ext cx="2377440" cy="2286000"/>
          </a:xfrm>
          <a:prstGeom prst="rect">
            <a:avLst/>
          </a:prstGeom>
          <a:noFill/>
          <a:ln/>
        </p:spPr>
        <p:txBody>
          <a:bodyPr wrap="square" lIns="25400" tIns="25400" rIns="25400" bIns="25400" rtlCol="0" anchor="t"/>
          <a:lstStyle/>
          <a:p>
            <a:pPr marL="342900" indent="-342900">
              <a:spcAft>
                <a:spcPts val="400"/>
              </a:spcAft>
              <a:buSzPct val="100000"/>
              <a:buChar char="•"/>
            </a:pPr>
            <a:r>
              <a:rPr lang="en-US" sz="1500" dirty="0">
                <a:solidFill>
                  <a:srgbClr val="1F1F1F"/>
                </a:solidFill>
                <a:latin typeface="Calibri" pitchFamily="34" charset="0"/>
                <a:ea typeface="Calibri" pitchFamily="34" charset="-122"/>
                <a:cs typeface="Calibri" pitchFamily="34" charset="-120"/>
              </a:rPr>
              <a:t>13 of 20 usable runs</a:t>
            </a:r>
            <a:endParaRPr lang="en-US" sz="1500" dirty="0"/>
          </a:p>
          <a:p>
            <a:pPr marL="342900" indent="-342900">
              <a:spcAft>
                <a:spcPts val="400"/>
              </a:spcAft>
              <a:buSzPct val="100000"/>
              <a:buChar char="•"/>
            </a:pPr>
            <a:r>
              <a:rPr lang="en-US" sz="1500" dirty="0">
                <a:solidFill>
                  <a:srgbClr val="1F1F1F"/>
                </a:solidFill>
                <a:latin typeface="Calibri" pitchFamily="34" charset="0"/>
                <a:ea typeface="Calibri" pitchFamily="34" charset="-122"/>
                <a:cs typeface="Calibri" pitchFamily="34" charset="-120"/>
              </a:rPr>
              <a:t>Below the target, so the rule was applied, not changed</a:t>
            </a:r>
            <a:endParaRPr lang="en-US" sz="1500" dirty="0"/>
          </a:p>
        </p:txBody>
      </p:sp>
      <p:sp>
        <p:nvSpPr>
          <p:cNvPr id="13" name="Shape 9"/>
          <p:cNvSpPr/>
          <p:nvPr/>
        </p:nvSpPr>
        <p:spPr>
          <a:xfrm>
            <a:off x="6080760" y="1554480"/>
            <a:ext cx="2651760" cy="3017520"/>
          </a:xfrm>
          <a:prstGeom prst="roundRect">
            <a:avLst>
              <a:gd name="adj" fmla="val 1034"/>
            </a:avLst>
          </a:prstGeom>
          <a:solidFill>
            <a:srgbClr val="E3ECF9"/>
          </a:solidFill>
          <a:ln w="12700">
            <a:solidFill>
              <a:srgbClr val="C9D4EA"/>
            </a:solidFill>
            <a:prstDash val="solid"/>
          </a:ln>
        </p:spPr>
      </p:sp>
      <p:sp>
        <p:nvSpPr>
          <p:cNvPr id="14" name="Text 10"/>
          <p:cNvSpPr txBox="1"/>
          <p:nvPr/>
        </p:nvSpPr>
        <p:spPr>
          <a:xfrm>
            <a:off x="6263640" y="1691640"/>
            <a:ext cx="2286000" cy="384048"/>
          </a:xfrm>
          <a:prstGeom prst="rect">
            <a:avLst/>
          </a:prstGeom>
          <a:noFill/>
          <a:ln/>
        </p:spPr>
        <p:txBody>
          <a:bodyPr wrap="square" lIns="0" tIns="0" rIns="0" bIns="0" rtlCol="0" anchor="ctr"/>
          <a:lstStyle/>
          <a:p>
            <a:pPr indent="0" marL="0">
              <a:buNone/>
            </a:pPr>
            <a:r>
              <a:rPr lang="en-US" sz="1800" b="1" dirty="0">
                <a:solidFill>
                  <a:srgbClr val="1F4E96"/>
                </a:solidFill>
                <a:latin typeface="Calibri" pitchFamily="34" charset="0"/>
                <a:ea typeface="Calibri" pitchFamily="34" charset="-122"/>
                <a:cs typeface="Calibri" pitchFamily="34" charset="-120"/>
              </a:rPr>
              <a:t>Decision (8–11 October)</a:t>
            </a:r>
            <a:endParaRPr lang="en-US" sz="1800" dirty="0"/>
          </a:p>
        </p:txBody>
      </p:sp>
      <p:sp>
        <p:nvSpPr>
          <p:cNvPr id="15" name="Text 11"/>
          <p:cNvSpPr txBox="1"/>
          <p:nvPr/>
        </p:nvSpPr>
        <p:spPr>
          <a:xfrm>
            <a:off x="6217920" y="2194560"/>
            <a:ext cx="2377440" cy="2286000"/>
          </a:xfrm>
          <a:prstGeom prst="rect">
            <a:avLst/>
          </a:prstGeom>
          <a:noFill/>
          <a:ln/>
        </p:spPr>
        <p:txBody>
          <a:bodyPr wrap="square" lIns="25400" tIns="25400" rIns="25400" bIns="25400" rtlCol="0" anchor="t"/>
          <a:lstStyle/>
          <a:p>
            <a:pPr marL="342900" indent="-342900">
              <a:spcAft>
                <a:spcPts val="400"/>
              </a:spcAft>
              <a:buSzPct val="100000"/>
              <a:buChar char="•"/>
            </a:pPr>
            <a:r>
              <a:rPr lang="en-US" sz="1500" dirty="0">
                <a:solidFill>
                  <a:srgbClr val="1F1F1F"/>
                </a:solidFill>
                <a:latin typeface="Calibri" pitchFamily="34" charset="0"/>
                <a:ea typeface="Calibri" pitchFamily="34" charset="-122"/>
                <a:cs typeface="Calibri" pitchFamily="34" charset="-120"/>
              </a:rPr>
              <a:t>Main deliverable: a measured speedup from the per-token gate at equal accuracy</a:t>
            </a:r>
            <a:endParaRPr lang="en-US" sz="1500" dirty="0"/>
          </a:p>
          <a:p>
            <a:pPr marL="342900" indent="-342900">
              <a:spcAft>
                <a:spcPts val="400"/>
              </a:spcAft>
              <a:buSzPct val="100000"/>
              <a:buChar char="•"/>
            </a:pPr>
            <a:r>
              <a:rPr lang="en-US" sz="1500" dirty="0">
                <a:solidFill>
                  <a:srgbClr val="1F1F1F"/>
                </a:solidFill>
                <a:latin typeface="Calibri" pitchFamily="34" charset="0"/>
                <a:ea typeface="Calibri" pitchFamily="34" charset="-122"/>
                <a:cs typeface="Calibri" pitchFamily="34" charset="-120"/>
              </a:rPr>
              <a:t>13 of 20 stays the reported reliability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tmp/claude-0/-home-claude/97208104-cc8e-5f54-82df-7ee9bd55d797/scratchpad/pr/img/bar.png">    </p:cNvPr>
          <p:cNvPicPr>
            <a:picLocks noChangeAspect="1"/>
          </p:cNvPicPr>
          <p:nvPr/>
        </p:nvPicPr>
        <p:blipFill>
          <a:blip r:embed="rId1"/>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Experimental Results: Testing the Cost Analysis on A₅</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7</a:t>
            </a:r>
            <a:endParaRPr lang="en-US" sz="1000" dirty="0"/>
          </a:p>
        </p:txBody>
      </p:sp>
      <p:sp>
        <p:nvSpPr>
          <p:cNvPr id="6" name="Text 2"/>
          <p:cNvSpPr txBox="1"/>
          <p:nvPr/>
        </p:nvSpPr>
        <p:spPr>
          <a:xfrm>
            <a:off x="411480" y="731520"/>
            <a:ext cx="4480560" cy="1920240"/>
          </a:xfrm>
          <a:prstGeom prst="rect">
            <a:avLst/>
          </a:prstGeom>
          <a:noFill/>
          <a:ln/>
        </p:spPr>
        <p:txBody>
          <a:bodyPr wrap="square" lIns="25400" tIns="25400" rIns="25400" bIns="25400" rtlCol="0" anchor="t"/>
          <a:lstStyle/>
          <a:p>
            <a:pPr marL="342900" indent="-342900">
              <a:spcAft>
                <a:spcPts val="400"/>
              </a:spcAft>
              <a:buSzPct val="100000"/>
              <a:buChar char="•"/>
            </a:pPr>
            <a:r>
              <a:rPr lang="en-US" sz="1500" b="1" dirty="0">
                <a:solidFill>
                  <a:srgbClr val="1F1F1F"/>
                </a:solidFill>
                <a:latin typeface="Calibri" pitchFamily="34" charset="0"/>
                <a:ea typeface="Calibri" pitchFamily="34" charset="-122"/>
                <a:cs typeface="Calibri" pitchFamily="34" charset="-120"/>
              </a:rPr>
              <a:t>Prediction:</a:t>
            </a:r>
            <a:r>
              <a:rPr lang="en-US" sz="1500" dirty="0">
                <a:solidFill>
                  <a:srgbClr val="1F1F1F"/>
                </a:solidFill>
                <a:latin typeface="Calibri" pitchFamily="34" charset="0"/>
                <a:ea typeface="Calibri" pitchFamily="34" charset="-122"/>
                <a:cs typeface="Calibri" pitchFamily="34" charset="-120"/>
              </a:rPr>
              <a:t> with only 5-cycles in the alphabet, each needs just 2 factors (4 when swaps are also present)</a:t>
            </a:r>
            <a:endParaRPr lang="en-US" sz="1500" dirty="0"/>
          </a:p>
          <a:p>
            <a:pPr marL="342900" indent="-342900">
              <a:spcAft>
                <a:spcPts val="400"/>
              </a:spcAft>
              <a:buSzPct val="100000"/>
              <a:buChar char="•"/>
            </a:pPr>
            <a:r>
              <a:rPr lang="en-US" sz="1500" b="1" dirty="0">
                <a:solidFill>
                  <a:srgbClr val="1F1F1F"/>
                </a:solidFill>
                <a:latin typeface="Calibri" pitchFamily="34" charset="0"/>
                <a:ea typeface="Calibri" pitchFamily="34" charset="-122"/>
                <a:cs typeface="Calibri" pitchFamily="34" charset="-120"/>
              </a:rPr>
              <a:t>Test:</a:t>
            </a:r>
            <a:r>
              <a:rPr lang="en-US" sz="1500" dirty="0">
                <a:solidFill>
                  <a:srgbClr val="1F1F1F"/>
                </a:solidFill>
                <a:latin typeface="Calibri" pitchFamily="34" charset="0"/>
                <a:ea typeface="Calibri" pitchFamily="34" charset="-122"/>
                <a:cs typeface="Calibri" pitchFamily="34" charset="-120"/>
              </a:rPr>
              <a:t> the learned gate, 6 runs of 20 000 steps, penalty delayed 3 000 steps</a:t>
            </a:r>
            <a:endParaRPr lang="en-US" sz="1500" dirty="0"/>
          </a:p>
          <a:p>
            <a:pPr marL="342900" indent="-342900">
              <a:spcAft>
                <a:spcPts val="400"/>
              </a:spcAft>
              <a:buSzPct val="100000"/>
              <a:buChar char="•"/>
            </a:pPr>
            <a:r>
              <a:rPr lang="en-US" sz="1500" b="1" dirty="0">
                <a:solidFill>
                  <a:srgbClr val="1F1F1F"/>
                </a:solidFill>
                <a:latin typeface="Calibri" pitchFamily="34" charset="0"/>
                <a:ea typeface="Calibri" pitchFamily="34" charset="-122"/>
                <a:cs typeface="Calibri" pitchFamily="34" charset="-120"/>
              </a:rPr>
              <a:t>Result:</a:t>
            </a:r>
            <a:r>
              <a:rPr lang="en-US" sz="1500" dirty="0">
                <a:solidFill>
                  <a:srgbClr val="1F1F1F"/>
                </a:solidFill>
                <a:latin typeface="Calibri" pitchFamily="34" charset="0"/>
                <a:ea typeface="Calibri" pitchFamily="34" charset="-122"/>
                <a:cs typeface="Calibri" pitchFamily="34" charset="-120"/>
              </a:rPr>
              <a:t> no run reached 2; the best stopped at 3 factors with accuracy 0.9994</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120640" y="777240"/>
          <a:ext cx="3657600" cy="914400"/>
        </p:xfrm>
        <a:graphic>
          <a:graphicData uri="http://schemas.openxmlformats.org/drawingml/2006/table">
            <a:tbl>
              <a:tblPr/>
              <a:tblGrid>
                <a:gridCol w="548640"/>
                <a:gridCol w="822960"/>
                <a:gridCol w="822960"/>
                <a:gridCol w="1463040"/>
              </a:tblGrid>
              <a:tr h="2743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Run</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Penalty</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Factors</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r>
              <a:tr h="274320">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4.00</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0.9996</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274320">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4.00</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0.9997</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274320">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3.37</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0.9997</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274320">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0.3</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0.056 (collapsed)</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274320">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0.3</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4.00</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0.9984</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274320">
                <a:tc>
                  <a:txBody>
                    <a:bodyPr/>
                    <a:lstStyle/>
                    <a:p>
                      <a:pPr indent="0" marL="0">
                        <a:buNone/>
                      </a:pPr>
                      <a:r>
                        <a:rPr lang="en-US" sz="1300" b="1" dirty="0">
                          <a:solidFill>
                            <a:srgbClr val="1F1F1F"/>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300" b="1" dirty="0">
                          <a:solidFill>
                            <a:srgbClr val="1F1F1F"/>
                          </a:solidFill>
                          <a:latin typeface="Calibri" pitchFamily="34" charset="0"/>
                          <a:ea typeface="Calibri" pitchFamily="34" charset="-122"/>
                          <a:cs typeface="Calibri" pitchFamily="34" charset="-120"/>
                        </a:rPr>
                        <a:t>0.3</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300" b="1" dirty="0">
                          <a:solidFill>
                            <a:srgbClr val="1F1F1F"/>
                          </a:solidFill>
                          <a:latin typeface="Calibri" pitchFamily="34" charset="0"/>
                          <a:ea typeface="Calibri" pitchFamily="34" charset="-122"/>
                          <a:cs typeface="Calibri" pitchFamily="34" charset="-120"/>
                        </a:rPr>
                        <a:t>3.00</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300" b="1" dirty="0">
                          <a:solidFill>
                            <a:srgbClr val="1F1F1F"/>
                          </a:solidFill>
                          <a:latin typeface="Calibri" pitchFamily="34" charset="0"/>
                          <a:ea typeface="Calibri" pitchFamily="34" charset="-122"/>
                          <a:cs typeface="Calibri" pitchFamily="34" charset="-120"/>
                        </a:rPr>
                        <a:t>0.9994</a:t>
                      </a:r>
                      <a:endParaRPr lang="en-US" sz="13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bl>
          </a:graphicData>
        </a:graphic>
      </p:graphicFrame>
      <p:sp>
        <p:nvSpPr>
          <p:cNvPr id="8" name="Text 3"/>
          <p:cNvSpPr txBox="1"/>
          <p:nvPr/>
        </p:nvSpPr>
        <p:spPr>
          <a:xfrm>
            <a:off x="5120640" y="2743200"/>
            <a:ext cx="3657600" cy="274320"/>
          </a:xfrm>
          <a:prstGeom prst="rect">
            <a:avLst/>
          </a:prstGeom>
          <a:noFill/>
          <a:ln/>
        </p:spPr>
        <p:txBody>
          <a:bodyPr wrap="square" lIns="0" tIns="0" rIns="0" bIns="0" rtlCol="0" anchor="t"/>
          <a:lstStyle/>
          <a:p>
            <a:pPr algn="ctr" indent="0" marL="0">
              <a:buNone/>
            </a:pPr>
            <a:r>
              <a:rPr lang="en-US" sz="1100" i="1" dirty="0">
                <a:solidFill>
                  <a:srgbClr val="5A5A5A"/>
                </a:solidFill>
                <a:latin typeface="Calibri" pitchFamily="34" charset="0"/>
                <a:ea typeface="Calibri" pitchFamily="34" charset="-122"/>
                <a:cs typeface="Calibri" pitchFamily="34" charset="-120"/>
              </a:rPr>
              <a:t>Final factors per token and token accuracy in each run</a:t>
            </a:r>
            <a:endParaRPr lang="en-US" sz="1100" dirty="0"/>
          </a:p>
        </p:txBody>
      </p:sp>
      <p:sp>
        <p:nvSpPr>
          <p:cNvPr id="9" name="Shape 4"/>
          <p:cNvSpPr/>
          <p:nvPr/>
        </p:nvSpPr>
        <p:spPr>
          <a:xfrm>
            <a:off x="5120640" y="3108960"/>
            <a:ext cx="3657600" cy="1371600"/>
          </a:xfrm>
          <a:prstGeom prst="roundRect">
            <a:avLst>
              <a:gd name="adj" fmla="val 3333"/>
            </a:avLst>
          </a:prstGeom>
          <a:solidFill>
            <a:srgbClr val="E3ECF9"/>
          </a:solidFill>
          <a:ln w="12700">
            <a:solidFill>
              <a:srgbClr val="C9D4EA"/>
            </a:solidFill>
            <a:prstDash val="solid"/>
          </a:ln>
        </p:spPr>
      </p:sp>
      <p:sp>
        <p:nvSpPr>
          <p:cNvPr id="10" name="Text 5"/>
          <p:cNvSpPr txBox="1"/>
          <p:nvPr/>
        </p:nvSpPr>
        <p:spPr>
          <a:xfrm>
            <a:off x="5257800" y="3154680"/>
            <a:ext cx="3383280" cy="1280160"/>
          </a:xfrm>
          <a:prstGeom prst="rect">
            <a:avLst/>
          </a:prstGeom>
          <a:noFill/>
          <a:ln/>
        </p:spPr>
        <p:txBody>
          <a:bodyPr wrap="square" lIns="0" tIns="0" rIns="0" bIns="0" rtlCol="0" anchor="ctr"/>
          <a:lstStyle/>
          <a:p>
            <a:pPr indent="0" marL="0">
              <a:buNone/>
            </a:pPr>
            <a:r>
              <a:rPr lang="en-US" sz="1500" dirty="0">
                <a:solidFill>
                  <a:srgbClr val="1F4E96"/>
                </a:solidFill>
                <a:latin typeface="Calibri" pitchFamily="34" charset="0"/>
                <a:ea typeface="Calibri" pitchFamily="34" charset="-122"/>
                <a:cs typeface="Calibri" pitchFamily="34" charset="-120"/>
              </a:rPr>
              <a:t>Fixed 2-factor models learn this task in 3 of 10 runs, so 2 factors are enough. The gate stops one factor short.</a:t>
            </a:r>
            <a:endParaRPr lang="en-US" sz="1500" dirty="0"/>
          </a:p>
        </p:txBody>
      </p:sp>
      <p:sp>
        <p:nvSpPr>
          <p:cNvPr id="11" name="Shape 6"/>
          <p:cNvSpPr/>
          <p:nvPr/>
        </p:nvSpPr>
        <p:spPr>
          <a:xfrm>
            <a:off x="411480" y="2743200"/>
            <a:ext cx="4526280" cy="1965960"/>
          </a:xfrm>
          <a:prstGeom prst="roundRect">
            <a:avLst>
              <a:gd name="adj" fmla="val 1860"/>
            </a:avLst>
          </a:prstGeom>
          <a:solidFill>
            <a:srgbClr val="F2F4F8"/>
          </a:solidFill>
          <a:ln w="12700">
            <a:solidFill>
              <a:srgbClr val="C9D4EA"/>
            </a:solidFill>
            <a:prstDash val="solid"/>
          </a:ln>
        </p:spPr>
      </p:sp>
      <p:sp>
        <p:nvSpPr>
          <p:cNvPr id="12" name="Text 7"/>
          <p:cNvSpPr txBox="1"/>
          <p:nvPr/>
        </p:nvSpPr>
        <p:spPr>
          <a:xfrm>
            <a:off x="594360" y="2816352"/>
            <a:ext cx="4114800" cy="384048"/>
          </a:xfrm>
          <a:prstGeom prst="rect">
            <a:avLst/>
          </a:prstGeom>
          <a:noFill/>
          <a:ln/>
        </p:spPr>
        <p:txBody>
          <a:bodyPr wrap="square" lIns="0" tIns="0" rIns="0" bIns="0" rtlCol="0" anchor="ctr"/>
          <a:lstStyle/>
          <a:p>
            <a:pPr indent="0" marL="0">
              <a:buNone/>
            </a:pPr>
            <a:r>
              <a:rPr lang="en-US" sz="1600" b="1" dirty="0">
                <a:solidFill>
                  <a:srgbClr val="C0591C"/>
                </a:solidFill>
                <a:latin typeface="Calibri" pitchFamily="34" charset="0"/>
                <a:ea typeface="Calibri" pitchFamily="34" charset="-122"/>
                <a:cs typeface="Calibri" pitchFamily="34" charset="-120"/>
              </a:rPr>
              <a:t>What we conclude</a:t>
            </a:r>
            <a:endParaRPr lang="en-US" sz="1600" dirty="0"/>
          </a:p>
        </p:txBody>
      </p:sp>
      <p:sp>
        <p:nvSpPr>
          <p:cNvPr id="13" name="Text 8"/>
          <p:cNvSpPr txBox="1"/>
          <p:nvPr/>
        </p:nvSpPr>
        <p:spPr>
          <a:xfrm>
            <a:off x="548640" y="3200400"/>
            <a:ext cx="4297680" cy="1463040"/>
          </a:xfrm>
          <a:prstGeom prst="rect">
            <a:avLst/>
          </a:prstGeom>
          <a:noFill/>
          <a:ln/>
        </p:spPr>
        <p:txBody>
          <a:bodyPr wrap="square" lIns="25400" tIns="25400" rIns="25400" bIns="25400" rtlCol="0" anchor="t"/>
          <a:lstStyle/>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The prediction is not confirmed for the learned gate with this recipe</a:t>
            </a:r>
            <a:endParaRPr lang="en-US" sz="1400" dirty="0"/>
          </a:p>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A model that tracks A₅ exactly with 3 factors must use a 3-D representation (rank argument)</a:t>
            </a:r>
            <a:endParaRPr lang="en-US" sz="1400" dirty="0"/>
          </a:p>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The gate removes factors greedily and keeps one spare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tmp/claude-0/-home-claude/97208104-cc8e-5f54-82df-7ee9bd55d797/scratchpad/pr/img/bar.png">    </p:cNvPr>
          <p:cNvPicPr>
            <a:picLocks noChangeAspect="1"/>
          </p:cNvPicPr>
          <p:nvPr/>
        </p:nvPicPr>
        <p:blipFill>
          <a:blip r:embed="rId1"/>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Turning the Saving into Time</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8</a:t>
            </a:r>
            <a:endParaRPr lang="en-US" sz="1000" dirty="0"/>
          </a:p>
        </p:txBody>
      </p:sp>
      <p:sp>
        <p:nvSpPr>
          <p:cNvPr id="6" name="Text 2"/>
          <p:cNvSpPr txBox="1"/>
          <p:nvPr/>
        </p:nvSpPr>
        <p:spPr>
          <a:xfrm>
            <a:off x="411480" y="658368"/>
            <a:ext cx="8321040" cy="640080"/>
          </a:xfrm>
          <a:prstGeom prst="rect">
            <a:avLst/>
          </a:prstGeom>
          <a:noFill/>
          <a:ln/>
        </p:spPr>
        <p:txBody>
          <a:bodyPr wrap="square" lIns="0" tIns="0" rIns="0" bIns="0" rtlCol="0" anchor="ctr"/>
          <a:lstStyle/>
          <a:p>
            <a:pPr indent="0" marL="0">
              <a:buNone/>
            </a:pPr>
            <a:r>
              <a:rPr lang="en-US" sz="1800" i="1" dirty="0">
                <a:solidFill>
                  <a:srgbClr val="1F4E96"/>
                </a:solidFill>
                <a:latin typeface="Calibri" pitchFamily="34" charset="0"/>
                <a:ea typeface="Calibri" pitchFamily="34" charset="-122"/>
                <a:cs typeface="Calibri" pitchFamily="34" charset="-120"/>
              </a:rPr>
              <a:t>The normal layer still computes all 4 factors for every token and multiplies the switched-off ones by zero, so it saves no time</a:t>
            </a:r>
            <a:endParaRPr lang="en-US" sz="1800" dirty="0"/>
          </a:p>
        </p:txBody>
      </p:sp>
      <p:pic>
        <p:nvPicPr>
          <p:cNvPr id="7" name="Image 1" descr="/tmp/claude-0/-home-claude/97208104-cc8e-5f54-82df-7ee9bd55d797/scratchpad/pr/img/ragged.png">    </p:cNvPr>
          <p:cNvPicPr>
            <a:picLocks noChangeAspect="1"/>
          </p:cNvPicPr>
          <p:nvPr/>
        </p:nvPicPr>
        <p:blipFill>
          <a:blip r:embed="rId2"/>
          <a:stretch>
            <a:fillRect/>
          </a:stretch>
        </p:blipFill>
        <p:spPr>
          <a:xfrm>
            <a:off x="1097280" y="1371600"/>
            <a:ext cx="5948366" cy="2148840"/>
          </a:xfrm>
          <a:prstGeom prst="rect">
            <a:avLst/>
          </a:prstGeom>
        </p:spPr>
      </p:pic>
      <p:sp>
        <p:nvSpPr>
          <p:cNvPr id="8" name="Text 3"/>
          <p:cNvSpPr txBox="1"/>
          <p:nvPr/>
        </p:nvSpPr>
        <p:spPr>
          <a:xfrm>
            <a:off x="457200" y="3566160"/>
            <a:ext cx="8229600" cy="274320"/>
          </a:xfrm>
          <a:prstGeom prst="rect">
            <a:avLst/>
          </a:prstGeom>
          <a:noFill/>
          <a:ln/>
        </p:spPr>
        <p:txBody>
          <a:bodyPr wrap="square" lIns="0" tIns="0" rIns="0" bIns="0" rtlCol="0" anchor="t"/>
          <a:lstStyle/>
          <a:p>
            <a:pPr algn="ctr" indent="0" marL="0">
              <a:buNone/>
            </a:pPr>
            <a:r>
              <a:rPr lang="en-US" sz="1100" i="1" dirty="0">
                <a:solidFill>
                  <a:srgbClr val="5A5A5A"/>
                </a:solidFill>
                <a:latin typeface="Calibri" pitchFamily="34" charset="0"/>
                <a:ea typeface="Calibri" pitchFamily="34" charset="-122"/>
                <a:cs typeface="Calibri" pitchFamily="34" charset="-120"/>
              </a:rPr>
              <a:t>Five tokens with the learned allocation: the faster path computes 8 factor steps instead of 20</a:t>
            </a:r>
            <a:endParaRPr lang="en-US" sz="1100" dirty="0"/>
          </a:p>
        </p:txBody>
      </p:sp>
      <p:sp>
        <p:nvSpPr>
          <p:cNvPr id="9" name="Text 4"/>
          <p:cNvSpPr txBox="1"/>
          <p:nvPr/>
        </p:nvSpPr>
        <p:spPr>
          <a:xfrm>
            <a:off x="411480" y="3840480"/>
            <a:ext cx="8321040" cy="914400"/>
          </a:xfrm>
          <a:prstGeom prst="rect">
            <a:avLst/>
          </a:prstGeom>
          <a:noFill/>
          <a:ln/>
        </p:spPr>
        <p:txBody>
          <a:bodyPr wrap="square" lIns="25400" tIns="25400" rIns="25400" bIns="25400" rtlCol="0" anchor="t"/>
          <a:lstStyle/>
          <a:p>
            <a:pPr marL="342900" indent="-342900">
              <a:spcAft>
                <a:spcPts val="400"/>
              </a:spcAft>
              <a:buSzPct val="100000"/>
              <a:buChar char="•"/>
            </a:pPr>
            <a:r>
              <a:rPr lang="en-US" sz="1400" b="1" dirty="0">
                <a:solidFill>
                  <a:srgbClr val="1F1F1F"/>
                </a:solidFill>
                <a:latin typeface="Calibri" pitchFamily="34" charset="0"/>
                <a:ea typeface="Calibri" pitchFamily="34" charset="-122"/>
                <a:cs typeface="Calibri" pitchFamily="34" charset="-120"/>
              </a:rPr>
              <a:t>Faster path:</a:t>
            </a:r>
            <a:r>
              <a:rPr lang="en-US" sz="1400" dirty="0">
                <a:solidFill>
                  <a:srgbClr val="1F1F1F"/>
                </a:solidFill>
                <a:latin typeface="Calibri" pitchFamily="34" charset="0"/>
                <a:ea typeface="Calibri" pitchFamily="34" charset="-122"/>
                <a:cs typeface="Calibri" pitchFamily="34" charset="-120"/>
              </a:rPr>
              <a:t> removes the switched-off factors before the recurrence and packs the remaining work of all sequences end to end (inference only)</a:t>
            </a:r>
            <a:endParaRPr lang="en-US" sz="1400" dirty="0"/>
          </a:p>
          <a:p>
            <a:pPr marL="342900" indent="-342900">
              <a:spcAft>
                <a:spcPts val="400"/>
              </a:spcAft>
              <a:buSzPct val="100000"/>
              <a:buChar char="•"/>
            </a:pPr>
            <a:r>
              <a:rPr lang="en-US" sz="1400" b="1" dirty="0">
                <a:solidFill>
                  <a:srgbClr val="1F1F1F"/>
                </a:solidFill>
                <a:latin typeface="Calibri" pitchFamily="34" charset="0"/>
                <a:ea typeface="Calibri" pitchFamily="34" charset="-122"/>
                <a:cs typeface="Calibri" pitchFamily="34" charset="-120"/>
              </a:rPr>
              <a:t>Correctness:</a:t>
            </a:r>
            <a:r>
              <a:rPr lang="en-US" sz="1400" dirty="0">
                <a:solidFill>
                  <a:srgbClr val="1F1F1F"/>
                </a:solidFill>
                <a:latin typeface="Calibri" pitchFamily="34" charset="0"/>
                <a:ea typeface="Calibri" pitchFamily="34" charset="-122"/>
                <a:cs typeface="Calibri" pitchFamily="34" charset="-120"/>
              </a:rPr>
              <a:t> same output as the normal layer; both differ from an exact float64 calculation only by rounding (error 7.05e-3 against 6.57e-3)</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tmp/claude-0/-home-claude/97208104-cc8e-5f54-82df-7ee9bd55d797/scratchpad/pr/img/bar.png">    </p:cNvPr>
          <p:cNvPicPr>
            <a:picLocks noChangeAspect="1"/>
          </p:cNvPicPr>
          <p:nvPr/>
        </p:nvPicPr>
        <p:blipFill>
          <a:blip r:embed="rId1"/>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Experimental Results: Measured Inference Speed</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9</a:t>
            </a:r>
            <a:endParaRPr lang="en-US" sz="1000" dirty="0"/>
          </a:p>
        </p:txBody>
      </p:sp>
      <p:pic>
        <p:nvPicPr>
          <p:cNvPr id="6" name="Image 1" descr="/tmp/claude-0/-home-claude/97208104-cc8e-5f54-82df-7ee9bd55d797/scratchpad/pr/img/speed.png">    </p:cNvPr>
          <p:cNvPicPr>
            <a:picLocks noChangeAspect="1"/>
          </p:cNvPicPr>
          <p:nvPr/>
        </p:nvPicPr>
        <p:blipFill>
          <a:blip r:embed="rId2"/>
          <a:stretch>
            <a:fillRect/>
          </a:stretch>
        </p:blipFill>
        <p:spPr>
          <a:xfrm>
            <a:off x="320040" y="731520"/>
            <a:ext cx="5385152" cy="2743200"/>
          </a:xfrm>
          <a:prstGeom prst="rect">
            <a:avLst/>
          </a:prstGeom>
        </p:spPr>
      </p:pic>
      <p:sp>
        <p:nvSpPr>
          <p:cNvPr id="7" name="Text 2"/>
          <p:cNvSpPr txBox="1"/>
          <p:nvPr/>
        </p:nvSpPr>
        <p:spPr>
          <a:xfrm>
            <a:off x="274320" y="3520440"/>
            <a:ext cx="5486400" cy="274320"/>
          </a:xfrm>
          <a:prstGeom prst="rect">
            <a:avLst/>
          </a:prstGeom>
          <a:noFill/>
          <a:ln/>
        </p:spPr>
        <p:txBody>
          <a:bodyPr wrap="square" lIns="0" tIns="0" rIns="0" bIns="0" rtlCol="0" anchor="t"/>
          <a:lstStyle/>
          <a:p>
            <a:pPr algn="ctr" indent="0" marL="0">
              <a:buNone/>
            </a:pPr>
            <a:r>
              <a:rPr lang="en-US" sz="1100" i="1" dirty="0">
                <a:solidFill>
                  <a:srgbClr val="5A5A5A"/>
                </a:solidFill>
                <a:latin typeface="Calibri" pitchFamily="34" charset="0"/>
                <a:ea typeface="Calibri" pitchFamily="34" charset="-122"/>
                <a:cs typeface="Calibri" pitchFamily="34" charset="-120"/>
              </a:rPr>
              <a:t>New path's time, gate included, divided by the faster ordinary 4-factor layer (mean of two runs)</a:t>
            </a:r>
            <a:endParaRPr lang="en-US" sz="1100" dirty="0"/>
          </a:p>
        </p:txBody>
      </p:sp>
      <p:sp>
        <p:nvSpPr>
          <p:cNvPr id="8" name="Text 3"/>
          <p:cNvSpPr txBox="1"/>
          <p:nvPr/>
        </p:nvSpPr>
        <p:spPr>
          <a:xfrm>
            <a:off x="411480" y="3931920"/>
            <a:ext cx="5394960" cy="914400"/>
          </a:xfrm>
          <a:prstGeom prst="rect">
            <a:avLst/>
          </a:prstGeom>
          <a:noFill/>
          <a:ln/>
        </p:spPr>
        <p:txBody>
          <a:bodyPr wrap="square" lIns="25400" tIns="25400" rIns="25400" bIns="25400" rtlCol="0" anchor="t"/>
          <a:lstStyle/>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Faster on large inputs: 0.76–0.78 at batch 32, with random weights</a:t>
            </a:r>
            <a:endParaRPr lang="en-US" sz="1400" dirty="0"/>
          </a:p>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Slower on small inputs, where the GPU is mostly idle and packing adds a fixed cost</a:t>
            </a:r>
            <a:endParaRPr lang="en-US" sz="1400" dirty="0"/>
          </a:p>
        </p:txBody>
      </p:sp>
      <p:sp>
        <p:nvSpPr>
          <p:cNvPr id="9" name="Shape 4"/>
          <p:cNvSpPr/>
          <p:nvPr/>
        </p:nvSpPr>
        <p:spPr>
          <a:xfrm>
            <a:off x="5989320" y="822960"/>
            <a:ext cx="2834640" cy="1188720"/>
          </a:xfrm>
          <a:prstGeom prst="roundRect">
            <a:avLst>
              <a:gd name="adj" fmla="val 6154"/>
            </a:avLst>
          </a:prstGeom>
          <a:solidFill>
            <a:srgbClr val="EEF2FA"/>
          </a:solidFill>
          <a:ln w="12700">
            <a:solidFill>
              <a:srgbClr val="C9D4EA"/>
            </a:solidFill>
            <a:prstDash val="solid"/>
          </a:ln>
        </p:spPr>
      </p:sp>
      <p:sp>
        <p:nvSpPr>
          <p:cNvPr id="10" name="Text 5"/>
          <p:cNvSpPr txBox="1"/>
          <p:nvPr/>
        </p:nvSpPr>
        <p:spPr>
          <a:xfrm>
            <a:off x="5989320" y="896112"/>
            <a:ext cx="2834640" cy="570586"/>
          </a:xfrm>
          <a:prstGeom prst="rect">
            <a:avLst/>
          </a:prstGeom>
          <a:noFill/>
          <a:ln/>
        </p:spPr>
        <p:txBody>
          <a:bodyPr wrap="square" lIns="0" tIns="0" rIns="0" bIns="0" rtlCol="0" anchor="ctr"/>
          <a:lstStyle/>
          <a:p>
            <a:pPr algn="ctr" indent="0" marL="0">
              <a:buNone/>
            </a:pPr>
            <a:r>
              <a:rPr lang="en-US" sz="3000" b="1" dirty="0">
                <a:solidFill>
                  <a:srgbClr val="1F4E96"/>
                </a:solidFill>
                <a:latin typeface="Calibri" pitchFamily="34" charset="0"/>
                <a:ea typeface="Calibri" pitchFamily="34" charset="-122"/>
                <a:cs typeface="Calibri" pitchFamily="34" charset="-120"/>
              </a:rPr>
              <a:t>0.73–0.80</a:t>
            </a:r>
            <a:endParaRPr lang="en-US" sz="3000" dirty="0"/>
          </a:p>
        </p:txBody>
      </p:sp>
      <p:sp>
        <p:nvSpPr>
          <p:cNvPr id="11" name="Text 6"/>
          <p:cNvSpPr txBox="1"/>
          <p:nvPr/>
        </p:nvSpPr>
        <p:spPr>
          <a:xfrm>
            <a:off x="6099048" y="1441094"/>
            <a:ext cx="2615184" cy="523037"/>
          </a:xfrm>
          <a:prstGeom prst="rect">
            <a:avLst/>
          </a:prstGeom>
          <a:noFill/>
          <a:ln/>
        </p:spPr>
        <p:txBody>
          <a:bodyPr wrap="square" lIns="0" tIns="0" rIns="0" bIns="0" rtlCol="0" anchor="t"/>
          <a:lstStyle/>
          <a:p>
            <a:pPr algn="ctr" indent="0" marL="0">
              <a:buNone/>
            </a:pPr>
            <a:r>
              <a:rPr lang="en-US" sz="1300" dirty="0">
                <a:solidFill>
                  <a:srgbClr val="5A5A5A"/>
                </a:solidFill>
                <a:latin typeface="Calibri" pitchFamily="34" charset="0"/>
                <a:ea typeface="Calibri" pitchFamily="34" charset="-122"/>
                <a:cs typeface="Calibri" pitchFamily="34" charset="-120"/>
              </a:rPr>
              <a:t>trained models, 32 sequences of 512 and 2048 tokens</a:t>
            </a:r>
            <a:endParaRPr lang="en-US" sz="1300" dirty="0"/>
          </a:p>
        </p:txBody>
      </p:sp>
      <p:sp>
        <p:nvSpPr>
          <p:cNvPr id="12" name="Shape 7"/>
          <p:cNvSpPr/>
          <p:nvPr/>
        </p:nvSpPr>
        <p:spPr>
          <a:xfrm>
            <a:off x="5989320" y="2194560"/>
            <a:ext cx="2834640" cy="1188720"/>
          </a:xfrm>
          <a:prstGeom prst="roundRect">
            <a:avLst>
              <a:gd name="adj" fmla="val 6154"/>
            </a:avLst>
          </a:prstGeom>
          <a:solidFill>
            <a:srgbClr val="EEF2FA"/>
          </a:solidFill>
          <a:ln w="12700">
            <a:solidFill>
              <a:srgbClr val="C9D4EA"/>
            </a:solidFill>
            <a:prstDash val="solid"/>
          </a:ln>
        </p:spPr>
      </p:sp>
      <p:sp>
        <p:nvSpPr>
          <p:cNvPr id="13" name="Text 8"/>
          <p:cNvSpPr txBox="1"/>
          <p:nvPr/>
        </p:nvSpPr>
        <p:spPr>
          <a:xfrm>
            <a:off x="5989320" y="2267712"/>
            <a:ext cx="2834640" cy="570586"/>
          </a:xfrm>
          <a:prstGeom prst="rect">
            <a:avLst/>
          </a:prstGeom>
          <a:noFill/>
          <a:ln/>
        </p:spPr>
        <p:txBody>
          <a:bodyPr wrap="square" lIns="0" tIns="0" rIns="0" bIns="0" rtlCol="0" anchor="ctr"/>
          <a:lstStyle/>
          <a:p>
            <a:pPr algn="ctr" indent="0" marL="0">
              <a:buNone/>
            </a:pPr>
            <a:r>
              <a:rPr lang="en-US" sz="3000" b="1" dirty="0">
                <a:solidFill>
                  <a:srgbClr val="C0591C"/>
                </a:solidFill>
                <a:latin typeface="Calibri" pitchFamily="34" charset="0"/>
                <a:ea typeface="Calibri" pitchFamily="34" charset="-122"/>
                <a:cs typeface="Calibri" pitchFamily="34" charset="-120"/>
              </a:rPr>
              <a:t>1.2–2.7×</a:t>
            </a:r>
            <a:endParaRPr lang="en-US" sz="3000" dirty="0"/>
          </a:p>
        </p:txBody>
      </p:sp>
      <p:sp>
        <p:nvSpPr>
          <p:cNvPr id="14" name="Text 9"/>
          <p:cNvSpPr txBox="1"/>
          <p:nvPr/>
        </p:nvSpPr>
        <p:spPr>
          <a:xfrm>
            <a:off x="6099048" y="2812694"/>
            <a:ext cx="2615184" cy="523037"/>
          </a:xfrm>
          <a:prstGeom prst="rect">
            <a:avLst/>
          </a:prstGeom>
          <a:noFill/>
          <a:ln/>
        </p:spPr>
        <p:txBody>
          <a:bodyPr wrap="square" lIns="0" tIns="0" rIns="0" bIns="0" rtlCol="0" anchor="t"/>
          <a:lstStyle/>
          <a:p>
            <a:pPr algn="ctr" indent="0" marL="0">
              <a:buNone/>
            </a:pPr>
            <a:r>
              <a:rPr lang="en-US" sz="1300" dirty="0">
                <a:solidFill>
                  <a:srgbClr val="5A5A5A"/>
                </a:solidFill>
                <a:latin typeface="Calibri" pitchFamily="34" charset="0"/>
                <a:ea typeface="Calibri" pitchFamily="34" charset="-122"/>
                <a:cs typeface="Calibri" pitchFamily="34" charset="-120"/>
              </a:rPr>
              <a:t>slower on the six smaller input sizes</a:t>
            </a:r>
            <a:endParaRPr lang="en-US" sz="1300" dirty="0"/>
          </a:p>
        </p:txBody>
      </p:sp>
      <p:sp>
        <p:nvSpPr>
          <p:cNvPr id="15" name="Text 10"/>
          <p:cNvSpPr txBox="1"/>
          <p:nvPr/>
        </p:nvSpPr>
        <p:spPr>
          <a:xfrm>
            <a:off x="5989320" y="3566160"/>
            <a:ext cx="2834640" cy="1005840"/>
          </a:xfrm>
          <a:prstGeom prst="rect">
            <a:avLst/>
          </a:prstGeom>
          <a:noFill/>
          <a:ln/>
        </p:spPr>
        <p:txBody>
          <a:bodyPr wrap="square" lIns="0" tIns="0" rIns="0" bIns="0" rtlCol="0" anchor="t"/>
          <a:lstStyle/>
          <a:p>
            <a:pPr indent="0" marL="0">
              <a:buNone/>
            </a:pPr>
            <a:r>
              <a:rPr lang="en-US" sz="1400" i="1" dirty="0">
                <a:solidFill>
                  <a:srgbClr val="5A5A5A"/>
                </a:solidFill>
                <a:latin typeface="Calibri" pitchFamily="34" charset="0"/>
                <a:ea typeface="Calibri" pitchFamily="34" charset="-122"/>
                <a:cs typeface="Calibri" pitchFamily="34" charset="-120"/>
              </a:rPr>
              <a:t>Batch 8 × 2048 differed between the two runs (0.74 and 0.98), so it is not claimed. RTX 4050 laptop GPU.</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tmp/claude-0/-home-claude/97208104-cc8e-5f54-82df-7ee9bd55d797/scratchpad/pr/img/bar.png">    </p:cNvPr>
          <p:cNvPicPr>
            <a:picLocks noChangeAspect="1"/>
          </p:cNvPicPr>
          <p:nvPr/>
        </p:nvPicPr>
        <p:blipFill>
          <a:blip r:embed="rId1"/>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Experimental Results: Where the Time Goes</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10</a:t>
            </a:r>
            <a:endParaRPr lang="en-US" sz="1000" dirty="0"/>
          </a:p>
        </p:txBody>
      </p:sp>
      <p:pic>
        <p:nvPicPr>
          <p:cNvPr id="6" name="Image 1" descr="/tmp/claude-0/-home-claude/97208104-cc8e-5f54-82df-7ee9bd55d797/scratchpad/pr/img/breakdown.png">    </p:cNvPr>
          <p:cNvPicPr>
            <a:picLocks noChangeAspect="1"/>
          </p:cNvPicPr>
          <p:nvPr/>
        </p:nvPicPr>
        <p:blipFill>
          <a:blip r:embed="rId2"/>
          <a:stretch>
            <a:fillRect/>
          </a:stretch>
        </p:blipFill>
        <p:spPr>
          <a:xfrm>
            <a:off x="320040" y="868680"/>
            <a:ext cx="5577840" cy="2223881"/>
          </a:xfrm>
          <a:prstGeom prst="rect">
            <a:avLst/>
          </a:prstGeom>
        </p:spPr>
      </p:pic>
      <p:sp>
        <p:nvSpPr>
          <p:cNvPr id="7" name="Text 2"/>
          <p:cNvSpPr txBox="1"/>
          <p:nvPr/>
        </p:nvSpPr>
        <p:spPr>
          <a:xfrm>
            <a:off x="274320" y="3138281"/>
            <a:ext cx="5669280" cy="274320"/>
          </a:xfrm>
          <a:prstGeom prst="rect">
            <a:avLst/>
          </a:prstGeom>
          <a:noFill/>
          <a:ln/>
        </p:spPr>
        <p:txBody>
          <a:bodyPr wrap="square" lIns="0" tIns="0" rIns="0" bIns="0" rtlCol="0" anchor="t"/>
          <a:lstStyle/>
          <a:p>
            <a:pPr algn="ctr" indent="0" marL="0">
              <a:buNone/>
            </a:pPr>
            <a:r>
              <a:rPr lang="en-US" sz="1100" i="1" dirty="0">
                <a:solidFill>
                  <a:srgbClr val="5A5A5A"/>
                </a:solidFill>
                <a:latin typeface="Calibri" pitchFamily="34" charset="0"/>
                <a:ea typeface="Calibri" pitchFamily="34" charset="-122"/>
                <a:cs typeface="Calibri" pitchFamily="34" charset="-120"/>
              </a:rPr>
              <a:t>One forward pass at 32 sequences × 2048 tokens, measured before avoidable copies were removed from both layers</a:t>
            </a:r>
            <a:endParaRPr lang="en-US" sz="1100" dirty="0"/>
          </a:p>
        </p:txBody>
      </p:sp>
      <p:sp>
        <p:nvSpPr>
          <p:cNvPr id="8" name="Text 3"/>
          <p:cNvSpPr txBox="1"/>
          <p:nvPr/>
        </p:nvSpPr>
        <p:spPr>
          <a:xfrm>
            <a:off x="6126480" y="822960"/>
            <a:ext cx="2697480" cy="3840480"/>
          </a:xfrm>
          <a:prstGeom prst="rect">
            <a:avLst/>
          </a:prstGeom>
          <a:noFill/>
          <a:ln/>
        </p:spPr>
        <p:txBody>
          <a:bodyPr wrap="square" lIns="25400" tIns="25400" rIns="25400" bIns="25400" rtlCol="0" anchor="t"/>
          <a:lstStyle/>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The recurrence falls from 35.4 to 13.2 ms (0.37×); the allocation predicts 0.33×</a:t>
            </a:r>
            <a:endParaRPr lang="en-US" sz="1400" dirty="0"/>
          </a:p>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The rest is overhead: packing, the GPU waiting on the CPU, and projections still computed for all 4 factors</a:t>
            </a:r>
            <a:endParaRPr lang="en-US" sz="1400" dirty="0"/>
          </a:p>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After removing avoidable copies from both: 56.2 ms against 39.0 ms plus 3.1 ms for the gate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tmp/claude-0/-home-claude/97208104-cc8e-5f54-82df-7ee9bd55d797/scratchpad/pr/img/bar.png">    </p:cNvPr>
          <p:cNvPicPr>
            <a:picLocks noChangeAspect="1"/>
          </p:cNvPicPr>
          <p:nvPr/>
        </p:nvPicPr>
        <p:blipFill>
          <a:blip r:embed="rId1"/>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Experimental Results: Accuracy on Trained Models</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731520"/>
          <a:ext cx="8229600" cy="914400"/>
        </p:xfrm>
        <a:graphic>
          <a:graphicData uri="http://schemas.openxmlformats.org/drawingml/2006/table">
            <a:tbl>
              <a:tblPr/>
              <a:tblGrid>
                <a:gridCol w="2377440"/>
                <a:gridCol w="2103120"/>
                <a:gridCol w="2286000"/>
                <a:gridCol w="1463040"/>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Token accuracy, normal → faster</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Sequence accuracy, normal → faster</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Identical predictions</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r>
              <a:tr h="384048">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Seed 12, trained</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0.9998 → 0.9996</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0.9795 → 0.9595</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99.95%</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384048">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Seed 13, trained</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1.0000 → 0.9999</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0.9965 → 0.9940</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99.997%</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384048">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Seed 11, did not learn the task</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0.4218 → 0.4210</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0 → 0</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400" dirty="0">
                          <a:solidFill>
                            <a:srgbClr val="1F1F1F"/>
                          </a:solidFill>
                          <a:latin typeface="Calibri" pitchFamily="34" charset="0"/>
                          <a:ea typeface="Calibri" pitchFamily="34" charset="-122"/>
                          <a:cs typeface="Calibri" pitchFamily="34" charset="-120"/>
                        </a:rPr>
                        <a:t>90.0%</a:t>
                      </a:r>
                      <a:endParaRPr lang="en-US" sz="14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bl>
          </a:graphicData>
        </a:graphic>
      </p:graphicFrame>
      <p:sp>
        <p:nvSpPr>
          <p:cNvPr id="7" name="Text 2"/>
          <p:cNvSpPr txBox="1"/>
          <p:nvPr/>
        </p:nvSpPr>
        <p:spPr>
          <a:xfrm>
            <a:off x="457200" y="2331720"/>
            <a:ext cx="8229600" cy="274320"/>
          </a:xfrm>
          <a:prstGeom prst="rect">
            <a:avLst/>
          </a:prstGeom>
          <a:noFill/>
          <a:ln/>
        </p:spPr>
        <p:txBody>
          <a:bodyPr wrap="square" lIns="0" tIns="0" rIns="0" bIns="0" rtlCol="0" anchor="t"/>
          <a:lstStyle/>
          <a:p>
            <a:pPr algn="ctr" indent="0" marL="0">
              <a:buNone/>
            </a:pPr>
            <a:r>
              <a:rPr lang="en-US" sz="1100" i="1" dirty="0">
                <a:solidFill>
                  <a:srgbClr val="5A5A5A"/>
                </a:solidFill>
                <a:latin typeface="Calibri" pitchFamily="34" charset="0"/>
                <a:ea typeface="Calibri" pitchFamily="34" charset="-122"/>
                <a:cs typeface="Calibri" pitchFamily="34" charset="-120"/>
              </a:rPr>
              <a:t>Models trained with the best recipe, evaluated with the normal and the faster path</a:t>
            </a:r>
            <a:endParaRPr lang="en-US" sz="1100" dirty="0"/>
          </a:p>
        </p:txBody>
      </p:sp>
      <p:sp>
        <p:nvSpPr>
          <p:cNvPr id="8" name="Shape 3"/>
          <p:cNvSpPr/>
          <p:nvPr/>
        </p:nvSpPr>
        <p:spPr>
          <a:xfrm>
            <a:off x="411480" y="2743200"/>
            <a:ext cx="8321040" cy="1965960"/>
          </a:xfrm>
          <a:prstGeom prst="roundRect">
            <a:avLst>
              <a:gd name="adj" fmla="val 1860"/>
            </a:avLst>
          </a:prstGeom>
          <a:solidFill>
            <a:srgbClr val="F2F4F8"/>
          </a:solidFill>
          <a:ln w="12700">
            <a:solidFill>
              <a:srgbClr val="C9D4EA"/>
            </a:solidFill>
            <a:prstDash val="solid"/>
          </a:ln>
        </p:spPr>
      </p:sp>
      <p:sp>
        <p:nvSpPr>
          <p:cNvPr id="9" name="Text 4"/>
          <p:cNvSpPr txBox="1"/>
          <p:nvPr/>
        </p:nvSpPr>
        <p:spPr>
          <a:xfrm>
            <a:off x="594360" y="2807208"/>
            <a:ext cx="7863840" cy="384048"/>
          </a:xfrm>
          <a:prstGeom prst="rect">
            <a:avLst/>
          </a:prstGeom>
          <a:noFill/>
          <a:ln/>
        </p:spPr>
        <p:txBody>
          <a:bodyPr wrap="square" lIns="0" tIns="0" rIns="0" bIns="0" rtlCol="0" anchor="ctr"/>
          <a:lstStyle/>
          <a:p>
            <a:pPr indent="0" marL="0">
              <a:buNone/>
            </a:pPr>
            <a:r>
              <a:rPr lang="en-US" sz="1600" b="1" dirty="0">
                <a:solidFill>
                  <a:srgbClr val="C0591C"/>
                </a:solidFill>
                <a:latin typeface="Calibri" pitchFamily="34" charset="0"/>
                <a:ea typeface="Calibri" pitchFamily="34" charset="-122"/>
                <a:cs typeface="Calibri" pitchFamily="34" charset="-120"/>
              </a:rPr>
              <a:t>What this means</a:t>
            </a:r>
            <a:endParaRPr lang="en-US" sz="1600" dirty="0"/>
          </a:p>
        </p:txBody>
      </p:sp>
      <p:sp>
        <p:nvSpPr>
          <p:cNvPr id="10" name="Text 5"/>
          <p:cNvSpPr txBox="1"/>
          <p:nvPr/>
        </p:nvSpPr>
        <p:spPr>
          <a:xfrm>
            <a:off x="548640" y="3200400"/>
            <a:ext cx="8046720" cy="1463040"/>
          </a:xfrm>
          <a:prstGeom prst="rect">
            <a:avLst/>
          </a:prstGeom>
          <a:noFill/>
          <a:ln/>
        </p:spPr>
        <p:txBody>
          <a:bodyPr wrap="square" lIns="25400" tIns="25400" rIns="25400" bIns="25400" rtlCol="0" anchor="t"/>
          <a:lstStyle/>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On both trained models the faster path gives the same answers, and both paths are equally close to an exact float64 calculation</a:t>
            </a:r>
            <a:endParaRPr lang="en-US" sz="1400" dirty="0"/>
          </a:p>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Sequence accuracy drops slightly because one changed token fails a whole sequence; likely cause, not yet tested: the models were trained under the normal path's exact rounding</a:t>
            </a:r>
            <a:endParaRPr lang="en-US" sz="1400" dirty="0"/>
          </a:p>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The untrained model's 10% disagreements are all near-ties in its scores: rounding, not an error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tmp/claude-0/-home-claude/97208104-cc8e-5f54-82df-7ee9bd55d797/scratchpad/pr/img/bar.png">    </p:cNvPr>
          <p:cNvPicPr>
            <a:picLocks noChangeAspect="1"/>
          </p:cNvPicPr>
          <p:nvPr/>
        </p:nvPicPr>
        <p:blipFill>
          <a:blip r:embed="rId1"/>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Experimental Results: Order Matters on Real Text</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12</a:t>
            </a:r>
            <a:endParaRPr lang="en-US" sz="1000" dirty="0"/>
          </a:p>
        </p:txBody>
      </p:sp>
      <p:pic>
        <p:nvPicPr>
          <p:cNvPr id="6" name="Image 1" descr="/tmp/claude-0/-home-claude/97208104-cc8e-5f54-82df-7ee9bd55d797/scratchpad/pr/img/boxes.png">    </p:cNvPr>
          <p:cNvPicPr>
            <a:picLocks noChangeAspect="1"/>
          </p:cNvPicPr>
          <p:nvPr/>
        </p:nvPicPr>
        <p:blipFill>
          <a:blip r:embed="rId2"/>
          <a:stretch>
            <a:fillRect/>
          </a:stretch>
        </p:blipFill>
        <p:spPr>
          <a:xfrm>
            <a:off x="320040" y="731520"/>
            <a:ext cx="5134219" cy="2788920"/>
          </a:xfrm>
          <a:prstGeom prst="rect">
            <a:avLst/>
          </a:prstGeom>
        </p:spPr>
      </p:pic>
      <p:sp>
        <p:nvSpPr>
          <p:cNvPr id="7" name="Text 2"/>
          <p:cNvSpPr txBox="1"/>
          <p:nvPr/>
        </p:nvSpPr>
        <p:spPr>
          <a:xfrm>
            <a:off x="274320" y="3566160"/>
            <a:ext cx="5486400" cy="274320"/>
          </a:xfrm>
          <a:prstGeom prst="rect">
            <a:avLst/>
          </a:prstGeom>
          <a:noFill/>
          <a:ln/>
        </p:spPr>
        <p:txBody>
          <a:bodyPr wrap="square" lIns="0" tIns="0" rIns="0" bIns="0" rtlCol="0" anchor="t"/>
          <a:lstStyle/>
          <a:p>
            <a:pPr algn="ctr" indent="0" marL="0">
              <a:buNone/>
            </a:pPr>
            <a:r>
              <a:rPr lang="en-US" sz="1100" i="1" dirty="0">
                <a:solidFill>
                  <a:srgbClr val="5A5A5A"/>
                </a:solidFill>
                <a:latin typeface="Calibri" pitchFamily="34" charset="0"/>
                <a:ea typeface="Calibri" pitchFamily="34" charset="-122"/>
                <a:cs typeface="Calibri" pitchFamily="34" charset="-120"/>
              </a:rPr>
              <a:t>Boxes dataset: median exact match over 5 runs per order (shaded: lowest to highest run)</a:t>
            </a:r>
            <a:endParaRPr lang="en-US" sz="1100" dirty="0"/>
          </a:p>
        </p:txBody>
      </p:sp>
      <p:sp>
        <p:nvSpPr>
          <p:cNvPr id="8" name="Text 3"/>
          <p:cNvSpPr txBox="1"/>
          <p:nvPr/>
        </p:nvSpPr>
        <p:spPr>
          <a:xfrm>
            <a:off x="411480" y="3931920"/>
            <a:ext cx="5394960" cy="914400"/>
          </a:xfrm>
          <a:prstGeom prst="rect">
            <a:avLst/>
          </a:prstGeom>
          <a:noFill/>
          <a:ln/>
        </p:spPr>
        <p:txBody>
          <a:bodyPr wrap="square" lIns="25400" tIns="25400" rIns="25400" bIns="25400" rtlCol="0" anchor="t"/>
          <a:lstStyle/>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Same model size at every order (469,120 parameters); 16 000 steps; decision rule written before the runs</a:t>
            </a:r>
            <a:endParaRPr lang="en-US" sz="1400" dirty="0"/>
          </a:p>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The gain is largest where the state changes most: 0.761 → 0.873 at 5 or more operations</a:t>
            </a:r>
            <a:endParaRPr lang="en-US" sz="1400" dirty="0"/>
          </a:p>
        </p:txBody>
      </p:sp>
      <p:sp>
        <p:nvSpPr>
          <p:cNvPr id="9" name="Shape 4"/>
          <p:cNvSpPr/>
          <p:nvPr/>
        </p:nvSpPr>
        <p:spPr>
          <a:xfrm>
            <a:off x="5989320" y="822960"/>
            <a:ext cx="2834640" cy="1188720"/>
          </a:xfrm>
          <a:prstGeom prst="roundRect">
            <a:avLst>
              <a:gd name="adj" fmla="val 6154"/>
            </a:avLst>
          </a:prstGeom>
          <a:solidFill>
            <a:srgbClr val="EEF2FA"/>
          </a:solidFill>
          <a:ln w="12700">
            <a:solidFill>
              <a:srgbClr val="C9D4EA"/>
            </a:solidFill>
            <a:prstDash val="solid"/>
          </a:ln>
        </p:spPr>
      </p:sp>
      <p:sp>
        <p:nvSpPr>
          <p:cNvPr id="10" name="Text 5"/>
          <p:cNvSpPr txBox="1"/>
          <p:nvPr/>
        </p:nvSpPr>
        <p:spPr>
          <a:xfrm>
            <a:off x="5989320" y="896112"/>
            <a:ext cx="2834640" cy="570586"/>
          </a:xfrm>
          <a:prstGeom prst="rect">
            <a:avLst/>
          </a:prstGeom>
          <a:noFill/>
          <a:ln/>
        </p:spPr>
        <p:txBody>
          <a:bodyPr wrap="square" lIns="0" tIns="0" rIns="0" bIns="0" rtlCol="0" anchor="ctr"/>
          <a:lstStyle/>
          <a:p>
            <a:pPr algn="ctr" indent="0" marL="0">
              <a:buNone/>
            </a:pPr>
            <a:r>
              <a:rPr lang="en-US" sz="3000" b="1" dirty="0">
                <a:solidFill>
                  <a:srgbClr val="1F4E96"/>
                </a:solidFill>
                <a:latin typeface="Calibri" pitchFamily="34" charset="0"/>
                <a:ea typeface="Calibri" pitchFamily="34" charset="-122"/>
                <a:cs typeface="Calibri" pitchFamily="34" charset="-120"/>
              </a:rPr>
              <a:t>0.915</a:t>
            </a:r>
            <a:endParaRPr lang="en-US" sz="3000" dirty="0"/>
          </a:p>
        </p:txBody>
      </p:sp>
      <p:sp>
        <p:nvSpPr>
          <p:cNvPr id="11" name="Text 6"/>
          <p:cNvSpPr txBox="1"/>
          <p:nvPr/>
        </p:nvSpPr>
        <p:spPr>
          <a:xfrm>
            <a:off x="6099048" y="1441094"/>
            <a:ext cx="2615184" cy="523037"/>
          </a:xfrm>
          <a:prstGeom prst="rect">
            <a:avLst/>
          </a:prstGeom>
          <a:noFill/>
          <a:ln/>
        </p:spPr>
        <p:txBody>
          <a:bodyPr wrap="square" lIns="0" tIns="0" rIns="0" bIns="0" rtlCol="0" anchor="t"/>
          <a:lstStyle/>
          <a:p>
            <a:pPr algn="ctr" indent="0" marL="0">
              <a:buNone/>
            </a:pPr>
            <a:r>
              <a:rPr lang="en-US" sz="1300" dirty="0">
                <a:solidFill>
                  <a:srgbClr val="5A5A5A"/>
                </a:solidFill>
                <a:latin typeface="Calibri" pitchFamily="34" charset="0"/>
                <a:ea typeface="Calibri" pitchFamily="34" charset="-122"/>
                <a:cs typeface="Calibri" pitchFamily="34" charset="-120"/>
              </a:rPr>
              <a:t>2 factors per token, on 3 or more operations (all 5 runs above 0.810)</a:t>
            </a:r>
            <a:endParaRPr lang="en-US" sz="1300" dirty="0"/>
          </a:p>
        </p:txBody>
      </p:sp>
      <p:sp>
        <p:nvSpPr>
          <p:cNvPr id="12" name="Shape 7"/>
          <p:cNvSpPr/>
          <p:nvPr/>
        </p:nvSpPr>
        <p:spPr>
          <a:xfrm>
            <a:off x="5989320" y="2194560"/>
            <a:ext cx="2834640" cy="1188720"/>
          </a:xfrm>
          <a:prstGeom prst="roundRect">
            <a:avLst>
              <a:gd name="adj" fmla="val 6154"/>
            </a:avLst>
          </a:prstGeom>
          <a:solidFill>
            <a:srgbClr val="EEF2FA"/>
          </a:solidFill>
          <a:ln w="12700">
            <a:solidFill>
              <a:srgbClr val="C9D4EA"/>
            </a:solidFill>
            <a:prstDash val="solid"/>
          </a:ln>
        </p:spPr>
      </p:sp>
      <p:sp>
        <p:nvSpPr>
          <p:cNvPr id="13" name="Text 8"/>
          <p:cNvSpPr txBox="1"/>
          <p:nvPr/>
        </p:nvSpPr>
        <p:spPr>
          <a:xfrm>
            <a:off x="5989320" y="2267712"/>
            <a:ext cx="2834640" cy="570586"/>
          </a:xfrm>
          <a:prstGeom prst="rect">
            <a:avLst/>
          </a:prstGeom>
          <a:noFill/>
          <a:ln/>
        </p:spPr>
        <p:txBody>
          <a:bodyPr wrap="square" lIns="0" tIns="0" rIns="0" bIns="0" rtlCol="0" anchor="ctr"/>
          <a:lstStyle/>
          <a:p>
            <a:pPr algn="ctr" indent="0" marL="0">
              <a:buNone/>
            </a:pPr>
            <a:r>
              <a:rPr lang="en-US" sz="3000" b="1" dirty="0">
                <a:solidFill>
                  <a:srgbClr val="C0591C"/>
                </a:solidFill>
                <a:latin typeface="Calibri" pitchFamily="34" charset="0"/>
                <a:ea typeface="Calibri" pitchFamily="34" charset="-122"/>
                <a:cs typeface="Calibri" pitchFamily="34" charset="-120"/>
              </a:rPr>
              <a:t>0.810</a:t>
            </a:r>
            <a:endParaRPr lang="en-US" sz="3000" dirty="0"/>
          </a:p>
        </p:txBody>
      </p:sp>
      <p:sp>
        <p:nvSpPr>
          <p:cNvPr id="14" name="Text 9"/>
          <p:cNvSpPr txBox="1"/>
          <p:nvPr/>
        </p:nvSpPr>
        <p:spPr>
          <a:xfrm>
            <a:off x="6099048" y="2812694"/>
            <a:ext cx="2615184" cy="523037"/>
          </a:xfrm>
          <a:prstGeom prst="rect">
            <a:avLst/>
          </a:prstGeom>
          <a:noFill/>
          <a:ln/>
        </p:spPr>
        <p:txBody>
          <a:bodyPr wrap="square" lIns="0" tIns="0" rIns="0" bIns="0" rtlCol="0" anchor="t"/>
          <a:lstStyle/>
          <a:p>
            <a:pPr algn="ctr" indent="0" marL="0">
              <a:buNone/>
            </a:pPr>
            <a:r>
              <a:rPr lang="en-US" sz="1300" dirty="0">
                <a:solidFill>
                  <a:srgbClr val="5A5A5A"/>
                </a:solidFill>
                <a:latin typeface="Calibri" pitchFamily="34" charset="0"/>
                <a:ea typeface="Calibri" pitchFamily="34" charset="-122"/>
                <a:cs typeface="Calibri" pitchFamily="34" charset="-120"/>
              </a:rPr>
              <a:t>1 factor per token, same model size</a:t>
            </a:r>
            <a:endParaRPr lang="en-US" sz="1300" dirty="0"/>
          </a:p>
        </p:txBody>
      </p:sp>
      <p:sp>
        <p:nvSpPr>
          <p:cNvPr id="15" name="Text 10"/>
          <p:cNvSpPr txBox="1"/>
          <p:nvPr/>
        </p:nvSpPr>
        <p:spPr>
          <a:xfrm>
            <a:off x="5989320" y="3566160"/>
            <a:ext cx="2834640" cy="914400"/>
          </a:xfrm>
          <a:prstGeom prst="rect">
            <a:avLst/>
          </a:prstGeom>
          <a:noFill/>
          <a:ln/>
        </p:spPr>
        <p:txBody>
          <a:bodyPr wrap="square" lIns="0" tIns="0" rIns="0" bIns="0" rtlCol="0" anchor="t"/>
          <a:lstStyle/>
          <a:p>
            <a:pPr indent="0" marL="0">
              <a:buNone/>
            </a:pPr>
            <a:r>
              <a:rPr lang="en-US" sz="1400" i="1" dirty="0">
                <a:solidFill>
                  <a:srgbClr val="5A5A5A"/>
                </a:solidFill>
                <a:latin typeface="Calibri" pitchFamily="34" charset="0"/>
                <a:ea typeface="Calibri" pitchFamily="34" charset="-122"/>
                <a:cs typeface="Calibri" pitchFamily="34" charset="-120"/>
              </a:rPr>
              <a:t>A third factor adds nothing here (0.889). Next: the learned gate on Boxes.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tmp/claude-0/-home-claude/97208104-cc8e-5f54-82df-7ee9bd55d797/scratchpad/pr/img/bar.png">    </p:cNvPr>
          <p:cNvPicPr>
            <a:picLocks noChangeAspect="1"/>
          </p:cNvPicPr>
          <p:nvPr/>
        </p:nvPicPr>
        <p:blipFill>
          <a:blip r:embed="rId1"/>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Experimental Results: Training Cost by Order</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13</a:t>
            </a:r>
            <a:endParaRPr lang="en-US" sz="1000" dirty="0"/>
          </a:p>
        </p:txBody>
      </p:sp>
      <p:pic>
        <p:nvPicPr>
          <p:cNvPr id="6" name="Image 1" descr="/tmp/claude-0/-home-claude/97208104-cc8e-5f54-82df-7ee9bd55d797/scratchpad/pr/img/trainingcost.png">    </p:cNvPr>
          <p:cNvPicPr>
            <a:picLocks noChangeAspect="1"/>
          </p:cNvPicPr>
          <p:nvPr/>
        </p:nvPicPr>
        <p:blipFill>
          <a:blip r:embed="rId2"/>
          <a:stretch>
            <a:fillRect/>
          </a:stretch>
        </p:blipFill>
        <p:spPr>
          <a:xfrm>
            <a:off x="548640" y="777240"/>
            <a:ext cx="4754880" cy="2780423"/>
          </a:xfrm>
          <a:prstGeom prst="rect">
            <a:avLst/>
          </a:prstGeom>
        </p:spPr>
      </p:pic>
      <p:sp>
        <p:nvSpPr>
          <p:cNvPr id="7" name="Text 2"/>
          <p:cNvSpPr txBox="1"/>
          <p:nvPr/>
        </p:nvSpPr>
        <p:spPr>
          <a:xfrm>
            <a:off x="365760" y="3603383"/>
            <a:ext cx="5120640" cy="274320"/>
          </a:xfrm>
          <a:prstGeom prst="rect">
            <a:avLst/>
          </a:prstGeom>
          <a:noFill/>
          <a:ln/>
        </p:spPr>
        <p:txBody>
          <a:bodyPr wrap="square" lIns="0" tIns="0" rIns="0" bIns="0" rtlCol="0" anchor="t"/>
          <a:lstStyle/>
          <a:p>
            <a:pPr algn="ctr" indent="0" marL="0">
              <a:buNone/>
            </a:pPr>
            <a:r>
              <a:rPr lang="en-US" sz="1100" i="1" dirty="0">
                <a:solidFill>
                  <a:srgbClr val="5A5A5A"/>
                </a:solidFill>
                <a:latin typeface="Calibri" pitchFamily="34" charset="0"/>
                <a:ea typeface="Calibri" pitchFamily="34" charset="-122"/>
                <a:cs typeface="Calibri" pitchFamily="34" charset="-120"/>
              </a:rPr>
              <a:t>Time for 20 000 training steps, relative to 4 factors</a:t>
            </a:r>
            <a:endParaRPr lang="en-US" sz="1100" dirty="0"/>
          </a:p>
        </p:txBody>
      </p:sp>
      <p:sp>
        <p:nvSpPr>
          <p:cNvPr id="8" name="Text 3"/>
          <p:cNvSpPr txBox="1"/>
          <p:nvPr/>
        </p:nvSpPr>
        <p:spPr>
          <a:xfrm>
            <a:off x="5760720" y="822960"/>
            <a:ext cx="3063240" cy="3840480"/>
          </a:xfrm>
          <a:prstGeom prst="rect">
            <a:avLst/>
          </a:prstGeom>
          <a:noFill/>
          <a:ln/>
        </p:spPr>
        <p:txBody>
          <a:bodyPr wrap="square" lIns="25400" tIns="25400" rIns="25400" bIns="25400" rtlCol="0" anchor="t"/>
          <a:lstStyle/>
          <a:p>
            <a:pPr marL="342900" indent="-342900">
              <a:spcAft>
                <a:spcPts val="400"/>
              </a:spcAft>
              <a:buSzPct val="100000"/>
              <a:buChar char="•"/>
            </a:pPr>
            <a:r>
              <a:rPr lang="en-US" sz="1500" dirty="0">
                <a:solidFill>
                  <a:srgbClr val="1F1F1F"/>
                </a:solidFill>
                <a:latin typeface="Calibri" pitchFamily="34" charset="0"/>
                <a:ea typeface="Calibri" pitchFamily="34" charset="-122"/>
                <a:cs typeface="Calibri" pitchFamily="34" charset="-120"/>
              </a:rPr>
              <a:t>Every fixed-order training run recorded its time</a:t>
            </a:r>
            <a:endParaRPr lang="en-US" sz="1500" dirty="0"/>
          </a:p>
          <a:p>
            <a:pPr marL="342900" indent="-342900">
              <a:spcAft>
                <a:spcPts val="400"/>
              </a:spcAft>
              <a:buSzPct val="100000"/>
              <a:buChar char="•"/>
            </a:pPr>
            <a:r>
              <a:rPr lang="en-US" sz="1500" dirty="0">
                <a:solidFill>
                  <a:srgbClr val="1F1F1F"/>
                </a:solidFill>
                <a:latin typeface="Calibri" pitchFamily="34" charset="0"/>
                <a:ea typeface="Calibri" pitchFamily="34" charset="-122"/>
                <a:cs typeface="Calibri" pitchFamily="34" charset="-120"/>
              </a:rPr>
              <a:t>1 factor trains in 0.45 of the time of 4 factors; 3 factors in 0.79</a:t>
            </a:r>
            <a:endParaRPr lang="en-US" sz="1500" dirty="0"/>
          </a:p>
          <a:p>
            <a:pPr marL="342900" indent="-342900">
              <a:spcAft>
                <a:spcPts val="400"/>
              </a:spcAft>
              <a:buSzPct val="100000"/>
              <a:buChar char="•"/>
            </a:pPr>
            <a:r>
              <a:rPr lang="en-US" sz="1500" dirty="0">
                <a:solidFill>
                  <a:srgbClr val="1F1F1F"/>
                </a:solidFill>
                <a:latin typeface="Calibri" pitchFamily="34" charset="0"/>
                <a:ea typeface="Calibri" pitchFamily="34" charset="-122"/>
                <a:cs typeface="Calibri" pitchFamily="34" charset="-120"/>
              </a:rPr>
              <a:t>Five separate sweeps agree within 3% at 2–4 factors</a:t>
            </a:r>
            <a:endParaRPr lang="en-US" sz="1500" dirty="0"/>
          </a:p>
          <a:p>
            <a:pPr marL="342900" indent="-342900">
              <a:spcAft>
                <a:spcPts val="400"/>
              </a:spcAft>
              <a:buSzPct val="100000"/>
              <a:buChar char="•"/>
            </a:pPr>
            <a:r>
              <a:rPr lang="en-US" sz="1500" dirty="0">
                <a:solidFill>
                  <a:srgbClr val="1F1F1F"/>
                </a:solidFill>
                <a:latin typeface="Calibri" pitchFamily="34" charset="0"/>
                <a:ea typeface="Calibri" pitchFamily="34" charset="-122"/>
                <a:cs typeface="Calibri" pitchFamily="34" charset="-120"/>
              </a:rPr>
              <a:t>These are layers built with a fixed number of factors, not the adaptive layer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tmp/claude-0/-home-claude/97208104-cc8e-5f54-82df-7ee9bd55d797/scratchpad/pr/img/bar.png">    </p:cNvPr>
          <p:cNvPicPr>
            <a:picLocks noChangeAspect="1"/>
          </p:cNvPicPr>
          <p:nvPr/>
        </p:nvPicPr>
        <p:blipFill>
          <a:blip r:embed="rId1"/>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Running Now: Restart Rule for Training</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14</a:t>
            </a:r>
            <a:endParaRPr lang="en-US" sz="1000" dirty="0"/>
          </a:p>
        </p:txBody>
      </p:sp>
      <p:pic>
        <p:nvPicPr>
          <p:cNvPr id="6" name="Image 1" descr="/tmp/claude-0/-home-claude/97208104-cc8e-5f54-82df-7ee9bd55d797/scratchpad/pr/img/restart.png">    </p:cNvPr>
          <p:cNvPicPr>
            <a:picLocks noChangeAspect="1"/>
          </p:cNvPicPr>
          <p:nvPr/>
        </p:nvPicPr>
        <p:blipFill>
          <a:blip r:embed="rId2"/>
          <a:stretch>
            <a:fillRect/>
          </a:stretch>
        </p:blipFill>
        <p:spPr>
          <a:xfrm>
            <a:off x="365760" y="731520"/>
            <a:ext cx="5029200" cy="2274925"/>
          </a:xfrm>
          <a:prstGeom prst="rect">
            <a:avLst/>
          </a:prstGeom>
        </p:spPr>
      </p:pic>
      <p:sp>
        <p:nvSpPr>
          <p:cNvPr id="7" name="Text 2"/>
          <p:cNvSpPr txBox="1"/>
          <p:nvPr/>
        </p:nvSpPr>
        <p:spPr>
          <a:xfrm>
            <a:off x="274320" y="3052165"/>
            <a:ext cx="5212080" cy="274320"/>
          </a:xfrm>
          <a:prstGeom prst="rect">
            <a:avLst/>
          </a:prstGeom>
          <a:noFill/>
          <a:ln/>
        </p:spPr>
        <p:txBody>
          <a:bodyPr wrap="square" lIns="0" tIns="0" rIns="0" bIns="0" rtlCol="0" anchor="t"/>
          <a:lstStyle/>
          <a:p>
            <a:pPr algn="ctr" indent="0" marL="0">
              <a:buNone/>
            </a:pPr>
            <a:r>
              <a:rPr lang="en-US" sz="1100" i="1" dirty="0">
                <a:solidFill>
                  <a:srgbClr val="5A5A5A"/>
                </a:solidFill>
                <a:latin typeface="Calibri" pitchFamily="34" charset="0"/>
                <a:ea typeface="Calibri" pitchFamily="34" charset="-122"/>
                <a:cs typeface="Calibri" pitchFamily="34" charset="-120"/>
              </a:rPr>
              <a:t>Mean factors per token at step 500 in the earlier 20-run study (seeds 11–30)</a:t>
            </a:r>
            <a:endParaRPr lang="en-US" sz="1100" dirty="0"/>
          </a:p>
        </p:txBody>
      </p:sp>
      <p:sp>
        <p:nvSpPr>
          <p:cNvPr id="8" name="Text 3"/>
          <p:cNvSpPr txBox="1"/>
          <p:nvPr/>
        </p:nvSpPr>
        <p:spPr>
          <a:xfrm>
            <a:off x="411480" y="3886200"/>
            <a:ext cx="5029200" cy="960120"/>
          </a:xfrm>
          <a:prstGeom prst="rect">
            <a:avLst/>
          </a:prstGeom>
          <a:noFill/>
          <a:ln/>
        </p:spPr>
        <p:txBody>
          <a:bodyPr wrap="square" lIns="25400" tIns="25400" rIns="25400" bIns="25400" rtlCol="0" anchor="t"/>
          <a:lstStyle/>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A run below 1.20 at step 500 is stopped and restarted from a new seed, up to 5 attempts</a:t>
            </a:r>
            <a:endParaRPr lang="en-US" sz="1400" dirty="0"/>
          </a:p>
          <a:p>
            <a:pPr marL="342900" indent="-342900">
              <a:spcAft>
                <a:spcPts val="400"/>
              </a:spcAft>
              <a:buSzPct val="100000"/>
              <a:buChar char="•"/>
            </a:pPr>
            <a:r>
              <a:rPr lang="en-US" sz="1400" dirty="0">
                <a:solidFill>
                  <a:srgbClr val="1F1F1F"/>
                </a:solidFill>
                <a:latin typeface="Calibri" pitchFamily="34" charset="0"/>
                <a:ea typeface="Calibri" pitchFamily="34" charset="-122"/>
                <a:cs typeface="Calibri" pitchFamily="34" charset="-120"/>
              </a:rPr>
              <a:t>Tested on 20 new seeds (31–50), so the threshold is judged on runs it has not seen</a:t>
            </a:r>
            <a:endParaRPr lang="en-US" sz="1400" dirty="0"/>
          </a:p>
        </p:txBody>
      </p:sp>
      <p:sp>
        <p:nvSpPr>
          <p:cNvPr id="9" name="Shape 4"/>
          <p:cNvSpPr/>
          <p:nvPr/>
        </p:nvSpPr>
        <p:spPr>
          <a:xfrm>
            <a:off x="5669280" y="777240"/>
            <a:ext cx="3108960" cy="1143000"/>
          </a:xfrm>
          <a:prstGeom prst="roundRect">
            <a:avLst>
              <a:gd name="adj" fmla="val 6400"/>
            </a:avLst>
          </a:prstGeom>
          <a:solidFill>
            <a:srgbClr val="EEF2FA"/>
          </a:solidFill>
          <a:ln w="12700">
            <a:solidFill>
              <a:srgbClr val="C9D4EA"/>
            </a:solidFill>
            <a:prstDash val="solid"/>
          </a:ln>
        </p:spPr>
      </p:sp>
      <p:sp>
        <p:nvSpPr>
          <p:cNvPr id="10" name="Text 5"/>
          <p:cNvSpPr txBox="1"/>
          <p:nvPr/>
        </p:nvSpPr>
        <p:spPr>
          <a:xfrm>
            <a:off x="5669280" y="850392"/>
            <a:ext cx="3108960" cy="548640"/>
          </a:xfrm>
          <a:prstGeom prst="rect">
            <a:avLst/>
          </a:prstGeom>
          <a:noFill/>
          <a:ln/>
        </p:spPr>
        <p:txBody>
          <a:bodyPr wrap="square" lIns="0" tIns="0" rIns="0" bIns="0" rtlCol="0" anchor="ctr"/>
          <a:lstStyle/>
          <a:p>
            <a:pPr algn="ctr" indent="0" marL="0">
              <a:buNone/>
            </a:pPr>
            <a:r>
              <a:rPr lang="en-US" sz="3000" b="1" dirty="0">
                <a:solidFill>
                  <a:srgbClr val="1F4E96"/>
                </a:solidFill>
                <a:latin typeface="Calibri" pitchFamily="34" charset="0"/>
                <a:ea typeface="Calibri" pitchFamily="34" charset="-122"/>
                <a:cs typeface="Calibri" pitchFamily="34" charset="-120"/>
              </a:rPr>
              <a:t>7 / 7</a:t>
            </a:r>
            <a:endParaRPr lang="en-US" sz="3000" dirty="0"/>
          </a:p>
        </p:txBody>
      </p:sp>
      <p:sp>
        <p:nvSpPr>
          <p:cNvPr id="11" name="Text 6"/>
          <p:cNvSpPr txBox="1"/>
          <p:nvPr/>
        </p:nvSpPr>
        <p:spPr>
          <a:xfrm>
            <a:off x="5779008" y="1371600"/>
            <a:ext cx="2889504" cy="502920"/>
          </a:xfrm>
          <a:prstGeom prst="rect">
            <a:avLst/>
          </a:prstGeom>
          <a:noFill/>
          <a:ln/>
        </p:spPr>
        <p:txBody>
          <a:bodyPr wrap="square" lIns="0" tIns="0" rIns="0" bIns="0" rtlCol="0" anchor="t"/>
          <a:lstStyle/>
          <a:p>
            <a:pPr algn="ctr" indent="0" marL="0">
              <a:buNone/>
            </a:pPr>
            <a:r>
              <a:rPr lang="en-US" sz="1300" dirty="0">
                <a:solidFill>
                  <a:srgbClr val="5A5A5A"/>
                </a:solidFill>
                <a:latin typeface="Calibri" pitchFamily="34" charset="0"/>
                <a:ea typeface="Calibri" pitchFamily="34" charset="-122"/>
                <a:cs typeface="Calibri" pitchFamily="34" charset="-120"/>
              </a:rPr>
              <a:t>earlier failures caught at step 500 (one success also restarted)</a:t>
            </a:r>
            <a:endParaRPr lang="en-US" sz="1300" dirty="0"/>
          </a:p>
        </p:txBody>
      </p:sp>
      <p:sp>
        <p:nvSpPr>
          <p:cNvPr id="12" name="Shape 7"/>
          <p:cNvSpPr/>
          <p:nvPr/>
        </p:nvSpPr>
        <p:spPr>
          <a:xfrm>
            <a:off x="5669280" y="2057400"/>
            <a:ext cx="3108960" cy="1143000"/>
          </a:xfrm>
          <a:prstGeom prst="roundRect">
            <a:avLst>
              <a:gd name="adj" fmla="val 6400"/>
            </a:avLst>
          </a:prstGeom>
          <a:solidFill>
            <a:srgbClr val="EEF2FA"/>
          </a:solidFill>
          <a:ln w="12700">
            <a:solidFill>
              <a:srgbClr val="C9D4EA"/>
            </a:solidFill>
            <a:prstDash val="solid"/>
          </a:ln>
        </p:spPr>
      </p:sp>
      <p:sp>
        <p:nvSpPr>
          <p:cNvPr id="13" name="Text 8"/>
          <p:cNvSpPr txBox="1"/>
          <p:nvPr/>
        </p:nvSpPr>
        <p:spPr>
          <a:xfrm>
            <a:off x="5669280" y="2130552"/>
            <a:ext cx="3108960" cy="548640"/>
          </a:xfrm>
          <a:prstGeom prst="rect">
            <a:avLst/>
          </a:prstGeom>
          <a:noFill/>
          <a:ln/>
        </p:spPr>
        <p:txBody>
          <a:bodyPr wrap="square" lIns="0" tIns="0" rIns="0" bIns="0" rtlCol="0" anchor="ctr"/>
          <a:lstStyle/>
          <a:p>
            <a:pPr algn="ctr" indent="0" marL="0">
              <a:buNone/>
            </a:pPr>
            <a:r>
              <a:rPr lang="en-US" sz="3000" b="1" dirty="0">
                <a:solidFill>
                  <a:srgbClr val="1F4E96"/>
                </a:solidFill>
                <a:latin typeface="Calibri" pitchFamily="34" charset="0"/>
                <a:ea typeface="Calibri" pitchFamily="34" charset="-122"/>
                <a:cs typeface="Calibri" pitchFamily="34" charset="-120"/>
              </a:rPr>
              <a:t>≈ 25 s</a:t>
            </a:r>
            <a:endParaRPr lang="en-US" sz="3000" dirty="0"/>
          </a:p>
        </p:txBody>
      </p:sp>
      <p:sp>
        <p:nvSpPr>
          <p:cNvPr id="14" name="Text 9"/>
          <p:cNvSpPr txBox="1"/>
          <p:nvPr/>
        </p:nvSpPr>
        <p:spPr>
          <a:xfrm>
            <a:off x="5779008" y="2651760"/>
            <a:ext cx="2889504" cy="502920"/>
          </a:xfrm>
          <a:prstGeom prst="rect">
            <a:avLst/>
          </a:prstGeom>
          <a:noFill/>
          <a:ln/>
        </p:spPr>
        <p:txBody>
          <a:bodyPr wrap="square" lIns="0" tIns="0" rIns="0" bIns="0" rtlCol="0" anchor="t"/>
          <a:lstStyle/>
          <a:p>
            <a:pPr algn="ctr" indent="0" marL="0">
              <a:buNone/>
            </a:pPr>
            <a:r>
              <a:rPr lang="en-US" sz="1300" dirty="0">
                <a:solidFill>
                  <a:srgbClr val="5A5A5A"/>
                </a:solidFill>
                <a:latin typeface="Calibri" pitchFamily="34" charset="0"/>
                <a:ea typeface="Calibri" pitchFamily="34" charset="-122"/>
                <a:cs typeface="Calibri" pitchFamily="34" charset="-120"/>
              </a:rPr>
              <a:t>cost of one restart in a 16-minute run</a:t>
            </a:r>
            <a:endParaRPr lang="en-US" sz="1300" dirty="0"/>
          </a:p>
        </p:txBody>
      </p:sp>
      <p:sp>
        <p:nvSpPr>
          <p:cNvPr id="15" name="Shape 10"/>
          <p:cNvSpPr/>
          <p:nvPr/>
        </p:nvSpPr>
        <p:spPr>
          <a:xfrm>
            <a:off x="5669280" y="3337560"/>
            <a:ext cx="3108960" cy="1143000"/>
          </a:xfrm>
          <a:prstGeom prst="roundRect">
            <a:avLst>
              <a:gd name="adj" fmla="val 6400"/>
            </a:avLst>
          </a:prstGeom>
          <a:solidFill>
            <a:srgbClr val="EEF2FA"/>
          </a:solidFill>
          <a:ln w="12700">
            <a:solidFill>
              <a:srgbClr val="C9D4EA"/>
            </a:solidFill>
            <a:prstDash val="solid"/>
          </a:ln>
        </p:spPr>
      </p:sp>
      <p:sp>
        <p:nvSpPr>
          <p:cNvPr id="16" name="Text 11"/>
          <p:cNvSpPr txBox="1"/>
          <p:nvPr/>
        </p:nvSpPr>
        <p:spPr>
          <a:xfrm>
            <a:off x="5669280" y="3410712"/>
            <a:ext cx="3108960" cy="548640"/>
          </a:xfrm>
          <a:prstGeom prst="rect">
            <a:avLst/>
          </a:prstGeom>
          <a:noFill/>
          <a:ln/>
        </p:spPr>
        <p:txBody>
          <a:bodyPr wrap="square" lIns="0" tIns="0" rIns="0" bIns="0" rtlCol="0" anchor="ctr"/>
          <a:lstStyle/>
          <a:p>
            <a:pPr algn="ctr" indent="0" marL="0">
              <a:buNone/>
            </a:pPr>
            <a:r>
              <a:rPr lang="en-US" sz="3000" b="1" dirty="0">
                <a:solidFill>
                  <a:srgbClr val="C0591C"/>
                </a:solidFill>
                <a:latin typeface="Calibri" pitchFamily="34" charset="0"/>
                <a:ea typeface="Calibri" pitchFamily="34" charset="-122"/>
                <a:cs typeface="Calibri" pitchFamily="34" charset="-120"/>
              </a:rPr>
              <a:t>≥ 18 / 20</a:t>
            </a:r>
            <a:endParaRPr lang="en-US" sz="3000" dirty="0"/>
          </a:p>
        </p:txBody>
      </p:sp>
      <p:sp>
        <p:nvSpPr>
          <p:cNvPr id="17" name="Text 12"/>
          <p:cNvSpPr txBox="1"/>
          <p:nvPr/>
        </p:nvSpPr>
        <p:spPr>
          <a:xfrm>
            <a:off x="5779008" y="3931920"/>
            <a:ext cx="2889504" cy="502920"/>
          </a:xfrm>
          <a:prstGeom prst="rect">
            <a:avLst/>
          </a:prstGeom>
          <a:noFill/>
          <a:ln/>
        </p:spPr>
        <p:txBody>
          <a:bodyPr wrap="square" lIns="0" tIns="0" rIns="0" bIns="0" rtlCol="0" anchor="t"/>
          <a:lstStyle/>
          <a:p>
            <a:pPr algn="ctr" indent="0" marL="0">
              <a:buNone/>
            </a:pPr>
            <a:r>
              <a:rPr lang="en-US" sz="1300" dirty="0">
                <a:solidFill>
                  <a:srgbClr val="5A5A5A"/>
                </a:solidFill>
                <a:latin typeface="Calibri" pitchFamily="34" charset="0"/>
                <a:ea typeface="Calibri" pitchFamily="34" charset="-122"/>
                <a:cs typeface="Calibri" pitchFamily="34" charset="-120"/>
              </a:rPr>
              <a:t>exact runs needed to adopt the rule (decided in advance)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tmp/claude-0/-home-claude/97208104-cc8e-5f54-82df-7ee9bd55d797/scratchpad/pr/img/bar.png">    </p:cNvPr>
          <p:cNvPicPr>
            <a:picLocks noChangeAspect="1"/>
          </p:cNvPicPr>
          <p:nvPr/>
        </p:nvPicPr>
        <p:blipFill>
          <a:blip r:embed="rId1"/>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Conclusion and Next Steps</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15</a:t>
            </a:r>
            <a:endParaRPr lang="en-US" sz="1000" dirty="0"/>
          </a:p>
        </p:txBody>
      </p:sp>
      <p:sp>
        <p:nvSpPr>
          <p:cNvPr id="6" name="Shape 2"/>
          <p:cNvSpPr/>
          <p:nvPr/>
        </p:nvSpPr>
        <p:spPr>
          <a:xfrm>
            <a:off x="365760" y="731520"/>
            <a:ext cx="4114800" cy="4023360"/>
          </a:xfrm>
          <a:prstGeom prst="roundRect">
            <a:avLst>
              <a:gd name="adj" fmla="val 682"/>
            </a:avLst>
          </a:prstGeom>
          <a:solidFill>
            <a:srgbClr val="F2F4F8"/>
          </a:solidFill>
          <a:ln w="12700">
            <a:solidFill>
              <a:srgbClr val="C9D4EA"/>
            </a:solidFill>
            <a:prstDash val="solid"/>
          </a:ln>
        </p:spPr>
      </p:sp>
      <p:sp>
        <p:nvSpPr>
          <p:cNvPr id="7" name="Text 3"/>
          <p:cNvSpPr txBox="1"/>
          <p:nvPr/>
        </p:nvSpPr>
        <p:spPr>
          <a:xfrm>
            <a:off x="594360" y="868680"/>
            <a:ext cx="3657600" cy="384048"/>
          </a:xfrm>
          <a:prstGeom prst="rect">
            <a:avLst/>
          </a:prstGeom>
          <a:noFill/>
          <a:ln/>
        </p:spPr>
        <p:txBody>
          <a:bodyPr wrap="square" lIns="0" tIns="0" rIns="0" bIns="0" rtlCol="0" anchor="ctr"/>
          <a:lstStyle/>
          <a:p>
            <a:pPr indent="0" marL="0">
              <a:buNone/>
            </a:pPr>
            <a:r>
              <a:rPr lang="en-US" sz="2200" b="1" dirty="0">
                <a:solidFill>
                  <a:srgbClr val="1F4E96"/>
                </a:solidFill>
                <a:latin typeface="Calibri" pitchFamily="34" charset="0"/>
                <a:ea typeface="Calibri" pitchFamily="34" charset="-122"/>
                <a:cs typeface="Calibri" pitchFamily="34" charset="-120"/>
              </a:rPr>
              <a:t>Conclusion so far</a:t>
            </a:r>
            <a:endParaRPr lang="en-US" sz="2200" dirty="0"/>
          </a:p>
        </p:txBody>
      </p:sp>
      <p:sp>
        <p:nvSpPr>
          <p:cNvPr id="8" name="Text 4"/>
          <p:cNvSpPr txBox="1"/>
          <p:nvPr/>
        </p:nvSpPr>
        <p:spPr>
          <a:xfrm>
            <a:off x="548640" y="1371600"/>
            <a:ext cx="3749040" cy="3291840"/>
          </a:xfrm>
          <a:prstGeom prst="rect">
            <a:avLst/>
          </a:prstGeom>
          <a:noFill/>
          <a:ln/>
        </p:spPr>
        <p:txBody>
          <a:bodyPr wrap="square" lIns="25400" tIns="25400" rIns="25400" bIns="25400" rtlCol="0" anchor="t"/>
          <a:lstStyle/>
          <a:p>
            <a:pPr marL="342900" indent="-342900">
              <a:spcAft>
                <a:spcPts val="400"/>
              </a:spcAft>
              <a:buSzPct val="100000"/>
              <a:buChar char="•"/>
            </a:pPr>
            <a:r>
              <a:rPr lang="en-US" sz="1600" dirty="0">
                <a:solidFill>
                  <a:srgbClr val="1F1F1F"/>
                </a:solidFill>
                <a:latin typeface="Calibri" pitchFamily="34" charset="0"/>
                <a:ea typeface="Calibri" pitchFamily="34" charset="-122"/>
                <a:cs typeface="Calibri" pitchFamily="34" charset="-120"/>
              </a:rPr>
              <a:t>The learned gate finds the exact allocation in 13 of 20 runs, with no labels</a:t>
            </a:r>
            <a:endParaRPr lang="en-US" sz="1600" dirty="0"/>
          </a:p>
          <a:p>
            <a:pPr marL="342900" indent="-342900">
              <a:spcAft>
                <a:spcPts val="400"/>
              </a:spcAft>
              <a:buSzPct val="100000"/>
              <a:buChar char="•"/>
            </a:pPr>
            <a:r>
              <a:rPr lang="en-US" sz="1600" dirty="0">
                <a:solidFill>
                  <a:srgbClr val="1F1F1F"/>
                </a:solidFill>
                <a:latin typeface="Calibri" pitchFamily="34" charset="0"/>
                <a:ea typeface="Calibri" pitchFamily="34" charset="-122"/>
                <a:cs typeface="Calibri" pitchFamily="34" charset="-120"/>
              </a:rPr>
              <a:t>Skipping closed factors gives 0.73–0.80 of the 4-factor time on large inputs, with accuracy unchanged</a:t>
            </a:r>
            <a:endParaRPr lang="en-US" sz="1600" dirty="0"/>
          </a:p>
          <a:p>
            <a:pPr marL="342900" indent="-342900">
              <a:spcAft>
                <a:spcPts val="400"/>
              </a:spcAft>
              <a:buSzPct val="100000"/>
              <a:buChar char="•"/>
            </a:pPr>
            <a:r>
              <a:rPr lang="en-US" sz="1600" dirty="0">
                <a:solidFill>
                  <a:srgbClr val="1F1F1F"/>
                </a:solidFill>
                <a:latin typeface="Calibri" pitchFamily="34" charset="0"/>
                <a:ea typeface="Calibri" pitchFamily="34" charset="-122"/>
                <a:cs typeface="Calibri" pitchFamily="34" charset="-120"/>
              </a:rPr>
              <a:t>On real text, 2 factors per token beat 1 at the same model size</a:t>
            </a:r>
            <a:endParaRPr lang="en-US" sz="1600" dirty="0"/>
          </a:p>
          <a:p>
            <a:pPr marL="342900" indent="-342900">
              <a:spcAft>
                <a:spcPts val="400"/>
              </a:spcAft>
              <a:buSzPct val="100000"/>
              <a:buChar char="•"/>
            </a:pPr>
            <a:r>
              <a:rPr lang="en-US" sz="1600" dirty="0">
                <a:solidFill>
                  <a:srgbClr val="1F1F1F"/>
                </a:solidFill>
                <a:latin typeface="Calibri" pitchFamily="34" charset="0"/>
                <a:ea typeface="Calibri" pitchFamily="34" charset="-122"/>
                <a:cs typeface="Calibri" pitchFamily="34" charset="-120"/>
              </a:rPr>
              <a:t>On A₅ the gate stops at 3 factors where 2 are enough</a:t>
            </a:r>
            <a:endParaRPr lang="en-US" sz="1600" dirty="0"/>
          </a:p>
        </p:txBody>
      </p:sp>
      <p:sp>
        <p:nvSpPr>
          <p:cNvPr id="9" name="Shape 5"/>
          <p:cNvSpPr/>
          <p:nvPr/>
        </p:nvSpPr>
        <p:spPr>
          <a:xfrm>
            <a:off x="4663440" y="731520"/>
            <a:ext cx="4114800" cy="4023360"/>
          </a:xfrm>
          <a:prstGeom prst="roundRect">
            <a:avLst>
              <a:gd name="adj" fmla="val 682"/>
            </a:avLst>
          </a:prstGeom>
          <a:solidFill>
            <a:srgbClr val="F2F4F8"/>
          </a:solidFill>
          <a:ln w="12700">
            <a:solidFill>
              <a:srgbClr val="C9D4EA"/>
            </a:solidFill>
            <a:prstDash val="solid"/>
          </a:ln>
        </p:spPr>
      </p:sp>
      <p:sp>
        <p:nvSpPr>
          <p:cNvPr id="10" name="Text 6"/>
          <p:cNvSpPr txBox="1"/>
          <p:nvPr/>
        </p:nvSpPr>
        <p:spPr>
          <a:xfrm>
            <a:off x="4892040" y="868680"/>
            <a:ext cx="3657600" cy="384048"/>
          </a:xfrm>
          <a:prstGeom prst="rect">
            <a:avLst/>
          </a:prstGeom>
          <a:noFill/>
          <a:ln/>
        </p:spPr>
        <p:txBody>
          <a:bodyPr wrap="square" lIns="0" tIns="0" rIns="0" bIns="0" rtlCol="0" anchor="ctr"/>
          <a:lstStyle/>
          <a:p>
            <a:pPr indent="0" marL="0">
              <a:buNone/>
            </a:pPr>
            <a:r>
              <a:rPr lang="en-US" sz="2200" b="1" dirty="0">
                <a:solidFill>
                  <a:srgbClr val="C0591C"/>
                </a:solidFill>
                <a:latin typeface="Calibri" pitchFamily="34" charset="0"/>
                <a:ea typeface="Calibri" pitchFamily="34" charset="-122"/>
                <a:cs typeface="Calibri" pitchFamily="34" charset="-120"/>
              </a:rPr>
              <a:t>Next Steps</a:t>
            </a:r>
            <a:endParaRPr lang="en-US" sz="2200" dirty="0"/>
          </a:p>
        </p:txBody>
      </p:sp>
      <p:sp>
        <p:nvSpPr>
          <p:cNvPr id="11" name="Text 7"/>
          <p:cNvSpPr txBox="1"/>
          <p:nvPr/>
        </p:nvSpPr>
        <p:spPr>
          <a:xfrm>
            <a:off x="4846320" y="1371600"/>
            <a:ext cx="3749040" cy="3291840"/>
          </a:xfrm>
          <a:prstGeom prst="rect">
            <a:avLst/>
          </a:prstGeom>
          <a:noFill/>
          <a:ln/>
        </p:spPr>
        <p:txBody>
          <a:bodyPr wrap="square" lIns="25400" tIns="25400" rIns="25400" bIns="25400" rtlCol="0" anchor="t"/>
          <a:lstStyle/>
          <a:p>
            <a:pPr marL="342900" indent="-342900">
              <a:spcAft>
                <a:spcPts val="400"/>
              </a:spcAft>
              <a:buSzPct val="100000"/>
              <a:buChar char="•"/>
            </a:pPr>
            <a:r>
              <a:rPr lang="en-US" sz="1600" dirty="0">
                <a:solidFill>
                  <a:srgbClr val="1F1F1F"/>
                </a:solidFill>
                <a:latin typeface="Calibri" pitchFamily="34" charset="0"/>
                <a:ea typeface="Calibri" pitchFamily="34" charset="-122"/>
                <a:cs typeface="Calibri" pitchFamily="34" charset="-120"/>
              </a:rPr>
              <a:t>Restart-rule test: 20 runs, about 6 hours</a:t>
            </a:r>
            <a:endParaRPr lang="en-US" sz="1600" dirty="0"/>
          </a:p>
          <a:p>
            <a:pPr marL="342900" indent="-342900">
              <a:spcAft>
                <a:spcPts val="400"/>
              </a:spcAft>
              <a:buSzPct val="100000"/>
              <a:buChar char="•"/>
            </a:pPr>
            <a:r>
              <a:rPr lang="en-US" sz="1600" dirty="0">
                <a:solidFill>
                  <a:srgbClr val="1F1F1F"/>
                </a:solidFill>
                <a:latin typeface="Calibri" pitchFamily="34" charset="0"/>
                <a:ea typeface="Calibri" pitchFamily="34" charset="-122"/>
                <a:cs typeface="Calibri" pitchFamily="34" charset="-120"/>
              </a:rPr>
              <a:t>The learned gate on Boxes, compared with fixed 2 and 3 factors (decision rule written first)</a:t>
            </a:r>
            <a:endParaRPr lang="en-US" sz="1600" dirty="0"/>
          </a:p>
          <a:p>
            <a:pPr marL="342900" indent="-342900">
              <a:spcAft>
                <a:spcPts val="400"/>
              </a:spcAft>
              <a:buSzPct val="100000"/>
              <a:buChar char="•"/>
            </a:pPr>
            <a:r>
              <a:rPr lang="en-US" sz="1600" dirty="0">
                <a:solidFill>
                  <a:srgbClr val="1F1F1F"/>
                </a:solidFill>
                <a:latin typeface="Calibri" pitchFamily="34" charset="0"/>
                <a:ea typeface="Calibri" pitchFamily="34" charset="-122"/>
                <a:cs typeface="Calibri" pitchFamily="34" charset="-120"/>
              </a:rPr>
              <a:t>Reduce the faster path's overhead (packing and GPU idle time)</a:t>
            </a:r>
            <a:endParaRPr lang="en-US" sz="1600" dirty="0"/>
          </a:p>
          <a:p>
            <a:pPr marL="342900" indent="-342900">
              <a:spcAft>
                <a:spcPts val="400"/>
              </a:spcAft>
              <a:buSzPct val="100000"/>
              <a:buChar char="•"/>
            </a:pPr>
            <a:r>
              <a:rPr lang="en-US" sz="1600" dirty="0">
                <a:solidFill>
                  <a:srgbClr val="1F1F1F"/>
                </a:solidFill>
                <a:latin typeface="Calibri" pitchFamily="34" charset="0"/>
                <a:ea typeface="Calibri" pitchFamily="34" charset="-122"/>
                <a:cs typeface="Calibri" pitchFamily="34" charset="-120"/>
              </a:rPr>
              <a:t>Revise the mid-semester report with the updates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tmp/claude-0/-home-claude/97208104-cc8e-5f54-82df-7ee9bd55d797/scratchpad/pr/img/bar.png">    </p:cNvPr>
          <p:cNvPicPr>
            <a:picLocks noChangeAspect="1"/>
          </p:cNvPicPr>
          <p:nvPr/>
        </p:nvPicPr>
        <p:blipFill>
          <a:blip r:embed="rId1"/>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Updated Timeline of the Project</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685800"/>
          <a:ext cx="8229600" cy="914400"/>
        </p:xfrm>
        <a:graphic>
          <a:graphicData uri="http://schemas.openxmlformats.org/drawingml/2006/table">
            <a:tbl>
              <a:tblPr/>
              <a:tblGrid>
                <a:gridCol w="1463040"/>
                <a:gridCol w="5303520"/>
                <a:gridCol w="1463040"/>
              </a:tblGrid>
              <a:tr h="3383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Period</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Activity</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r>
              <a:tr h="338328">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Jul 2026</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Problem identification and selection of the research direction</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Completed</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338328">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Aug 2026</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Literature survey</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Completed</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338328">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Sep 2026</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Reproduction; order-requirement analysis; matched-compute and closure experiments</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Completed</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338328">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Sep 2026</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Halting gate implementation and training; entity tracking on Boxes</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Completed</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338328">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Oct 2026</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Reliability of the learned gate; order sweep on Boxes</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200" b="1" dirty="0">
                          <a:solidFill>
                            <a:srgbClr val="1F1F1F"/>
                          </a:solidFill>
                          <a:latin typeface="Calibri" pitchFamily="34" charset="0"/>
                          <a:ea typeface="Calibri" pitchFamily="34" charset="-122"/>
                          <a:cs typeface="Calibri" pitchFamily="34" charset="-120"/>
                        </a:rPr>
                        <a:t>Completed</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338328">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Oct–Nov 2026</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Restart rule; learned gate on Boxes</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200" b="1" dirty="0">
                          <a:solidFill>
                            <a:srgbClr val="1F1F1F"/>
                          </a:solidFill>
                          <a:latin typeface="Calibri" pitchFamily="34" charset="0"/>
                          <a:ea typeface="Calibri" pitchFamily="34" charset="-122"/>
                          <a:cs typeface="Calibri" pitchFamily="34" charset="-120"/>
                        </a:rPr>
                        <a:t>In progress</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338328">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Nov 2026</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Alphabets with multiple requirement levels</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Planned</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338328">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Dec 2026 – Jan 2027</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Execute only the allocated factors; wall-clock measurement</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200" b="1" dirty="0">
                          <a:solidFill>
                            <a:srgbClr val="1F1F1F"/>
                          </a:solidFill>
                          <a:latin typeface="Calibri" pitchFamily="34" charset="0"/>
                          <a:ea typeface="Calibri" pitchFamily="34" charset="-122"/>
                          <a:cs typeface="Calibri" pitchFamily="34" charset="-120"/>
                        </a:rPr>
                        <a:t>Done early (Oct)</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338328">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Feb 2027</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High-requirement regime; replication of headline results</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Planned</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338328">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Mar 2027</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Adaptive order on Boxes, SCONE, ProPara and NPN-Cooking</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Planned</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338328">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Apr 2027</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Final report and presentation</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200" dirty="0">
                          <a:solidFill>
                            <a:srgbClr val="1F1F1F"/>
                          </a:solidFill>
                          <a:latin typeface="Calibri" pitchFamily="34" charset="0"/>
                          <a:ea typeface="Calibri" pitchFamily="34" charset="-122"/>
                          <a:cs typeface="Calibri" pitchFamily="34" charset="-120"/>
                        </a:rPr>
                        <a:t>Planned</a:t>
                      </a:r>
                      <a:endParaRPr lang="en-US" sz="12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tmp/claude-0/-home-claude/97208104-cc8e-5f54-82df-7ee9bd55d797/scratchpad/pr/img/bar.png">    </p:cNvPr>
          <p:cNvPicPr>
            <a:picLocks noChangeAspect="1"/>
          </p:cNvPicPr>
          <p:nvPr/>
        </p:nvPicPr>
        <p:blipFill>
          <a:blip r:embed="rId1"/>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Updates to the Mid-Semester Report</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731520"/>
          <a:ext cx="8229600" cy="914400"/>
        </p:xfrm>
        <a:graphic>
          <a:graphicData uri="http://schemas.openxmlformats.org/drawingml/2006/table">
            <a:tbl>
              <a:tblPr/>
              <a:tblGrid>
                <a:gridCol w="3017520"/>
                <a:gridCol w="5212080"/>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The report says</a:t>
                      </a:r>
                      <a:endParaRPr lang="en-US" sz="15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Updated</a:t>
                      </a:r>
                      <a:endParaRPr lang="en-US" sz="15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r>
              <a:tr h="548640">
                <a:tc>
                  <a:txBody>
                    <a:bodyPr/>
                    <a:lstStyle/>
                    <a:p>
                      <a:pPr indent="0" marL="0">
                        <a:buNone/>
                      </a:pPr>
                      <a:r>
                        <a:rPr lang="en-US" sz="1500" dirty="0">
                          <a:solidFill>
                            <a:srgbClr val="1F1F1F"/>
                          </a:solidFill>
                          <a:latin typeface="Calibri" pitchFamily="34" charset="0"/>
                          <a:ea typeface="Calibri" pitchFamily="34" charset="-122"/>
                          <a:cs typeface="Calibri" pitchFamily="34" charset="-120"/>
                        </a:rPr>
                        <a:t>The learned gate never under-allocates</a:t>
                      </a:r>
                      <a:endParaRPr lang="en-US" sz="15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500" dirty="0">
                          <a:solidFill>
                            <a:srgbClr val="1F1F1F"/>
                          </a:solidFill>
                          <a:latin typeface="Calibri" pitchFamily="34" charset="0"/>
                          <a:ea typeface="Calibri" pitchFamily="34" charset="-122"/>
                          <a:cs typeface="Calibri" pitchFamily="34" charset="-120"/>
                        </a:rPr>
                        <a:t>True of the 10-run sweep only; in the 20-run study all 7 failures give 5-cycles too few factors</a:t>
                      </a:r>
                      <a:endParaRPr lang="en-US" sz="15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r h="548640">
                <a:tc>
                  <a:txBody>
                    <a:bodyPr/>
                    <a:lstStyle/>
                    <a:p>
                      <a:pPr indent="0" marL="0">
                        <a:buNone/>
                      </a:pPr>
                      <a:r>
                        <a:rPr lang="en-US" sz="1500" dirty="0">
                          <a:solidFill>
                            <a:srgbClr val="1F1F1F"/>
                          </a:solidFill>
                          <a:latin typeface="Calibri" pitchFamily="34" charset="0"/>
                          <a:ea typeface="Calibri" pitchFamily="34" charset="-122"/>
                          <a:cs typeface="Calibri" pitchFamily="34" charset="-120"/>
                        </a:rPr>
                        <a:t>The early gate runs started from an open gate</a:t>
                      </a:r>
                      <a:endParaRPr lang="en-US" sz="15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indent="0" marL="0">
                        <a:buNone/>
                      </a:pPr>
                      <a:r>
                        <a:rPr lang="en-US" sz="1500" dirty="0">
                          <a:solidFill>
                            <a:srgbClr val="1F1F1F"/>
                          </a:solidFill>
                          <a:latin typeface="Calibri" pitchFamily="34" charset="0"/>
                          <a:ea typeface="Calibri" pitchFamily="34" charset="-122"/>
                          <a:cs typeface="Calibri" pitchFamily="34" charset="-120"/>
                        </a:rPr>
                        <a:t>The two earliest configurations started nearly closed (mean order about 0.94); the table is relabelled</a:t>
                      </a:r>
                      <a:endParaRPr lang="en-US" sz="15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548640">
                <a:tc>
                  <a:txBody>
                    <a:bodyPr/>
                    <a:lstStyle/>
                    <a:p>
                      <a:pPr indent="0" marL="0">
                        <a:buNone/>
                      </a:pPr>
                      <a:r>
                        <a:rPr lang="en-US" sz="1500" dirty="0">
                          <a:solidFill>
                            <a:srgbClr val="1F1F1F"/>
                          </a:solidFill>
                          <a:latin typeface="Calibri" pitchFamily="34" charset="0"/>
                          <a:ea typeface="Calibri" pitchFamily="34" charset="-122"/>
                          <a:cs typeface="Calibri" pitchFamily="34" charset="-120"/>
                        </a:rPr>
                        <a:t>The exact allocation was reached in one run</a:t>
                      </a:r>
                      <a:endParaRPr lang="en-US" sz="15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indent="0" marL="0">
                        <a:buNone/>
                      </a:pPr>
                      <a:r>
                        <a:rPr lang="en-US" sz="1500" dirty="0">
                          <a:solidFill>
                            <a:srgbClr val="1F1F1F"/>
                          </a:solidFill>
                          <a:latin typeface="Calibri" pitchFamily="34" charset="0"/>
                          <a:ea typeface="Calibri" pitchFamily="34" charset="-122"/>
                          <a:cs typeface="Calibri" pitchFamily="34" charset="-120"/>
                        </a:rPr>
                        <a:t>Reached in 2 early runs, reproduced on 1 October, and now in 13 of 20 runs</a:t>
                      </a:r>
                      <a:endParaRPr lang="en-US" sz="1500" dirty="0">
                        <a:latin typeface="Calibri" charset="0"/>
                        <a:ea typeface="Calibri" charset="0"/>
                        <a:cs typeface="Calibri"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r>
            </a:tbl>
          </a:graphicData>
        </a:graphic>
      </p:graphicFrame>
      <p:sp>
        <p:nvSpPr>
          <p:cNvPr id="7" name="Shape 2"/>
          <p:cNvSpPr/>
          <p:nvPr/>
        </p:nvSpPr>
        <p:spPr>
          <a:xfrm>
            <a:off x="411480" y="3291840"/>
            <a:ext cx="8321040" cy="1280160"/>
          </a:xfrm>
          <a:prstGeom prst="roundRect">
            <a:avLst>
              <a:gd name="adj" fmla="val 3571"/>
            </a:avLst>
          </a:prstGeom>
          <a:solidFill>
            <a:srgbClr val="E3ECF9"/>
          </a:solidFill>
          <a:ln w="12700">
            <a:solidFill>
              <a:srgbClr val="C9D4EA"/>
            </a:solidFill>
            <a:prstDash val="solid"/>
          </a:ln>
        </p:spPr>
      </p:sp>
      <p:sp>
        <p:nvSpPr>
          <p:cNvPr id="8" name="Text 3"/>
          <p:cNvSpPr txBox="1"/>
          <p:nvPr/>
        </p:nvSpPr>
        <p:spPr>
          <a:xfrm>
            <a:off x="594360" y="3337560"/>
            <a:ext cx="7955280" cy="1188720"/>
          </a:xfrm>
          <a:prstGeom prst="rect">
            <a:avLst/>
          </a:prstGeom>
          <a:noFill/>
          <a:ln/>
        </p:spPr>
        <p:txBody>
          <a:bodyPr wrap="square" lIns="0" tIns="0" rIns="0" bIns="0" rtlCol="0" anchor="ctr"/>
          <a:lstStyle/>
          <a:p>
            <a:pPr indent="0" marL="0">
              <a:buNone/>
            </a:pPr>
            <a:r>
              <a:rPr lang="en-US" sz="1600" dirty="0">
                <a:solidFill>
                  <a:srgbClr val="1F4E96"/>
                </a:solidFill>
                <a:latin typeface="Calibri" pitchFamily="34" charset="0"/>
                <a:ea typeface="Calibri" pitchFamily="34" charset="-122"/>
                <a:cs typeface="Calibri" pitchFamily="34" charset="-120"/>
              </a:rPr>
              <a:t>The revised report will carry these changes. Full dates and details are in the accompanying progress document.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Adaptive-Order State Transitions in Linear RNNs: Progress Review, October 2026</dc:title>
  <dc:subject>PptxGenJS Presentation</dc:subject>
  <dc:creator>Utkarsh Shukla, Shashwat Chaturvedi</dc:creator>
  <cp:lastModifiedBy>Utkarsh Shukla, Shashwat Chaturvedi</cp:lastModifiedBy>
  <cp:revision>1</cp:revision>
  <dcterms:created xsi:type="dcterms:W3CDTF">2026-10-14T08:05:21Z</dcterms:created>
  <dcterms:modified xsi:type="dcterms:W3CDTF">2026-10-14T08:05:21Z</dcterms:modified>
</cp:coreProperties>
</file>