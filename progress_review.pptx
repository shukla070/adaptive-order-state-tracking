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project concerns the expressivity–computation trade-off in linear recurrent models, specifically in the DeltaProduct family.
I will present the problem setting, a correction we established to the cost model this line of work assumes, the mechanism we propose, our experimental evidence, and an honest account of what remains undone.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sections. Section two is the substantive contribution — a correction to an assumption this line of work shares, which emerged from an experiment that contradicted a bound we had just 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slide for notation. I will not read it — it is here so that any symbol I use later can be looked up, and so that this deck stands on its own if it is read afterwards.
The three groupings are: the task, the group theory, and the layer itself. Two worth noting now: sigma is the alphabet, the set of symbols a given task uses; and a faithful representation is a rule assigning a matrix to each group element that preserves composition and never gives two different elements the same matrix. That second definition carries the main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the word problem in a permutation group. Symbols are elements of the symmetric group on five letters; the model must output the cumulative product at every position.
This is the standard probe for state tracking in sequence models, for three reasons: there is no shortcut, ground truth is exact, and difficulty is controlled by the alphabet — which becomes our independent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Softmax attention recomputes over the whole history, giving quadratic cost. Linear RNNs maintain a fixed-size state at linear cost, but have historically been weaker at structured state tracking.
The expressivity of a linear RNN on this task is governed by the structure of its state-transition matrix. The method we build on gives that matrix a richer structure and closes much of the gap — at a proportional cost. My project examines whether that cost is being paid uniformly when it need not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construction. The state-transition matrix at each step is a product of n-h generalized Householder factors. Each factor is the identity minus beta times an outer product — it acts on one direction and leaves everything orthogonal to it fixed.
These squares will recur through the talk as notation for the factor count. More factors means a strictly larger reachable set of transitions, at proportionally more computation per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 is one global number. Set it too low and the reachable transition set does not contain what the task needs — and critically, that failure looks exactly like an optimisation failure, so you may not diagnose it. Set it too high and every token pays worst-case cost.
So the research question is: what is the minimum number of factors a given token requires? Answering that determines whether a uniform budget is defensible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classical answer. Transposition length: the minimum number of transpositions whose product gives the permutation.
The rank of P minus the identity equals n minus the number of cycles, which is exactly the transposition length. And each Householder factor is a rank-one perturbation of the identity, so a product of K factors can differ from the identity by rank at most K. Therefore K must be at least ell.
A transposition needs one factor, a five-cycle needs four. Provision four and you are safe. We proved this ourselves by explicit construction, to fifteen decimal places. And it is the assumption the published work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ran the alphabet consisting of all twenty-four five-cycles — every token of transposition length four.
One factor fails, two fails, three solves it at 0.9994.
The bound is correct — it is a rank argument, proved by construction. The measurement is correct. So an assumption joining them must be false. Identifying that assumption is the contribution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false assumption is that the matrix the layer must apply is the permutation matrix of the token. It is not. The layer may apply rho-of-g for any faithful representation of the group the alphabet generates, and the choice of representation belongs to the layer.
Now the specific instance. Five-cycles are even, so an alphabet of five-cycles generates the alternating group A-five, not the full symmetric group. A-five admits a three-dimensional faithful representation — it is isomorphic to the rotation group of the icosahedron. In three-dimensional rotation, every non-identity element fixes only its axis, so the rank of R minus I is two, and Cartan–Dieudonné gives a factorisation into exactly two reflections.
So a five-cycle costs two factors inside A-five, not four. We verified this by constructing the group from geometry and checking every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model. The demand of a token is the minimum, over all faithful representations of the group generated by the whole alphabet, of the rank of rho-of-g minus the identity.
The table shows where our mechanism can and cannot apply. Note the two 'no' rows: where the demand is constant across the alphabet, adaptive order offers nothing. I want to draw attention to that deliberately — it is a limitation we can state in advance, which I regard as a stronger position than claiming the method always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consequence, and I would like it to be the thing you take away.
The demand of a token is a property of the alphabet, not of the token. Adjoin one transposition — the cheapest symbol in the group, length one — and the alphabet now closes over the full symmetric group rather than the alternating group. The symmetric group on five letters admits no faithful representation below dimension four, so the three-dimensional construction is gone, and the demand on every five-cycle doubles.
Adjoining the cheapest symbol doubles the cost of every other symbol. No per-token difficulty model can produce that, and it contradicts the cost accounting implicit in the published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implications, and the third is the one that motivates the mechanism.
The budget cannot be read off the data — two tasks containing identical tokens have different demands. Determining it properly requires finding the minimum faithful representation dimension of the generated group, which is not something a practitioner deploying this layer is going to compute.
Therefore the hyperparameter cannot be set correctly by hand, and that is the argument for learning it. I want to stress that this argument is independent of any efficiency gain. It is established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A monotone halting gate emits a per-token factor count; factors beyond it are disabled. A budget penalty on the expected count drives frugality, and crucially the allocation receives no supervision — the model must infer it from the task.
The lower box is an instance of the theory determining the design. The determinant of a single factor is one minus beta. With beta pinned at two, the determinant of the product is minus-one to the K, so only counts congruent to ell modulo two are reachable — half of all targets become unreachable. A learnable beta can construct an identity from a single factor at beta equals zero. So the gate must scale a learnable beta rather than mask a fixed one. We established that before building, and it determined the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for the record. A 6 GB laptop GPU, one layer, twelve heads, bfloat16, sequences of length 128, twenty thousand steps at constant learning rate.
One note on reporting. Sequence accuracy requires every position in a sequence to be correct, so it is far harsher than token accuracy — at length 128, ninety-nine percent per position gives only twenty-eight percent sequence accuracy. And I state run counts on every result, for reasons I will come to in section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results established by construction rather than by training. These are computed in double precision on CPU with no optimiser involved.
That distinction matters: an optimiser failing to reach a target is not evidence that the target is unreachable. Every representability claim here is settled by explicit construction, so no result in this section depends on an optimiser converging.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reproduction. Both published results reproduce on the 6 GB GPU, including graceful length extrapolation to four times the training length. That matters because every comparison downstream is against this baseline.
Then the matched-compute result. Where the mixture is dominated by low-demand tokens, a fixed-order model must still provision four, while the expected demand is between 1.15 and 1.75. Two to three times less required work at equal accuracy.
Each arm is a single run, and the next two slides are about exactly what that does and does not establish.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state both of these explicitly rather than have them found in the report.
First: the gate has not been trained. The oracle arm is a control condition supplied with ground truth. It bounds what a perfect gate could achieve and establishes nothing about whether one can be learned. The budget loss is implemented and tested but is not wired into any training loop.
Second: there is no measured speedup. The current implementation computes every factor and multiplies the disabled ones by zero. The two arms took 756 and 761 seconds. The ratios I showed are required work, not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measurement protocol, because it governs how every number in this project is reported.
The bfloat16 Triton kernels use non-deterministic atomics, so a configuration does not reproduce exactly from its seed. On these tasks that is not a small variance — outcomes are bistable. Within a fixed step budget a run either escapes the loss plateau and solves the task, or sits at chance. Intermediate values are rare, the escape is abrupt, and it can occur anywhere in the budget.
So a point estimate from a single run is not a meaningful summary. We characterise each configuration by how often it escapes, over repeated runs — fifty runs across five configurations here — and every result carries its run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reading that matters for the project.
Set the measured reliability of each configuration against the benefit adaptive order can deliver on it. Every configuration that trains reliably is one where the mechanism is worth at least two point three times. Every unreliable configuration is worth 1.28 times or less — and for the alternating-group alphabets, by our own demand model, exactly nothing.
So the instability is confined to the regime where the mechanism has nothing to offer anyway. It does not obstruct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objective-by-objective status. The first three are complete: the cost model is proved, the baseline reproduces, the gate is implemented and unit-tested.
The last three have not started. I would summarise the review position as: the theoretical contribution is established, the engineering contribution has not begun, and one task separates the current state from a demonstrable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October is the critical one — training the gate and measuring whether the learned allocation approaches the oracle.
One point worth noting: each stage has a failure condition fixed in advance. If the gate cannot approach the oracle, the outcome is a theory contribution with a control experiment rather than a mechanism paper — and that is written down now, before the answer is known, so that a fallback is a decision rather than a story constructed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First, a correction to the cost model this line of work assumes: the expressivity a token demands is determined by the closure of the alphabet, not by the token. Established by construction, to machine precision. That is the result I would stand behind most firmly.
Second, it renders the hyperparameter unsettable by hand, which is the argument for learning it — and that argument requires no efficiency gain.
Third, the mechanism is implemented but not trained, and every adaptive figure I presented derives from an oracle control. Training the gate is what I do next.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on the parity constraint. The right-hand table is the pattern you get with beta pinned at two — only counts congruent to ell modulo two are reachable, so half of all pairs are lost. That is the constraint that determined the gate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 the forensics. The key reading is that errors are clustered but not absorbing — the three-factor arm recovers, with a median error run of one position. Since a corrupted group-tracking state cannot heal itself, something outside the transition matrices is carrying information. The additive channel is the obvious suspect and is unexamined.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These are the works engaged with directly. A broader survey of the wider linear-attention and state-space landscape is outstanding and scheduled before the final report — I would rather state that than pad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66928" y="1691640"/>
            <a:ext cx="10424160" cy="1645920"/>
          </a:xfrm>
          <a:prstGeom prst="rect">
            <a:avLst/>
          </a:prstGeom>
          <a:noFill/>
          <a:ln/>
        </p:spPr>
        <p:txBody>
          <a:bodyPr wrap="square" lIns="0" tIns="0" rIns="0" bIns="0" rtlCol="0" anchor="ctr"/>
          <a:lstStyle/>
          <a:p>
            <a:pPr indent="0" marL="0">
              <a:lnSpc>
                <a:spcPts val="4600"/>
              </a:lnSpc>
              <a:buNone/>
            </a:pPr>
            <a:r>
              <a:rPr lang="en-US" sz="3600" b="1" dirty="0">
                <a:solidFill>
                  <a:srgbClr val="FFFFFF"/>
                </a:solidFill>
                <a:latin typeface="Cambria" pitchFamily="34" charset="0"/>
                <a:ea typeface="Cambria" pitchFamily="34" charset="-122"/>
                <a:cs typeface="Cambria" pitchFamily="34" charset="-120"/>
              </a:rPr>
              <a:t>Adaptive-Order State Transitions</a:t>
            </a:r>
            <a:endParaRPr lang="en-US" sz="3600" dirty="0"/>
          </a:p>
          <a:p>
            <a:pPr indent="0" marL="0">
              <a:lnSpc>
                <a:spcPts val="4600"/>
              </a:lnSpc>
              <a:buNone/>
            </a:pPr>
            <a:r>
              <a:rPr lang="en-US" sz="3600" b="1" dirty="0">
                <a:solidFill>
                  <a:srgbClr val="FFFFFF"/>
                </a:solidFill>
                <a:latin typeface="Cambria" pitchFamily="34" charset="0"/>
                <a:ea typeface="Cambria" pitchFamily="34" charset="-122"/>
                <a:cs typeface="Cambria" pitchFamily="34" charset="-120"/>
              </a:rPr>
              <a:t>in Linear Recurrent Neural Networks</a:t>
            </a:r>
            <a:endParaRPr lang="en-US" sz="3600" dirty="0"/>
          </a:p>
        </p:txBody>
      </p:sp>
      <p:sp>
        <p:nvSpPr>
          <p:cNvPr id="3" name="Text 1"/>
          <p:cNvSpPr txBox="1"/>
          <p:nvPr/>
        </p:nvSpPr>
        <p:spPr>
          <a:xfrm>
            <a:off x="566928" y="3520440"/>
            <a:ext cx="10058400"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Learning the per-token expressivity budget of a Householder-product state transition</a:t>
            </a:r>
            <a:endParaRPr lang="en-US" sz="1600" dirty="0"/>
          </a:p>
        </p:txBody>
      </p:sp>
      <p:sp>
        <p:nvSpPr>
          <p:cNvPr id="4" name="Shape 2"/>
          <p:cNvSpPr/>
          <p:nvPr/>
        </p:nvSpPr>
        <p:spPr>
          <a:xfrm>
            <a:off x="566928" y="4526280"/>
            <a:ext cx="256032" cy="256032"/>
          </a:xfrm>
          <a:prstGeom prst="rect">
            <a:avLst/>
          </a:prstGeom>
          <a:solidFill>
            <a:srgbClr val="B8791F"/>
          </a:solidFill>
          <a:ln w="15875">
            <a:solidFill>
              <a:srgbClr val="B8791F"/>
            </a:solidFill>
            <a:prstDash val="solid"/>
          </a:ln>
        </p:spPr>
      </p:sp>
      <p:sp>
        <p:nvSpPr>
          <p:cNvPr id="5" name="Shape 3"/>
          <p:cNvSpPr/>
          <p:nvPr/>
        </p:nvSpPr>
        <p:spPr>
          <a:xfrm>
            <a:off x="938174" y="4526280"/>
            <a:ext cx="256032" cy="256032"/>
          </a:xfrm>
          <a:prstGeom prst="rect">
            <a:avLst/>
          </a:prstGeom>
          <a:solidFill>
            <a:srgbClr val="B8791F"/>
          </a:solidFill>
          <a:ln w="15875">
            <a:solidFill>
              <a:srgbClr val="B8791F"/>
            </a:solidFill>
            <a:prstDash val="solid"/>
          </a:ln>
        </p:spPr>
      </p:sp>
      <p:sp>
        <p:nvSpPr>
          <p:cNvPr id="6" name="Shape 4"/>
          <p:cNvSpPr/>
          <p:nvPr/>
        </p:nvSpPr>
        <p:spPr>
          <a:xfrm>
            <a:off x="1309421" y="4526280"/>
            <a:ext cx="256032" cy="256032"/>
          </a:xfrm>
          <a:prstGeom prst="rect">
            <a:avLst/>
          </a:prstGeom>
          <a:solidFill>
            <a:srgbClr val="21295C"/>
          </a:solidFill>
          <a:ln w="15875">
            <a:solidFill>
              <a:srgbClr val="6B76A8"/>
            </a:solidFill>
            <a:prstDash val="solid"/>
          </a:ln>
        </p:spPr>
      </p:sp>
      <p:sp>
        <p:nvSpPr>
          <p:cNvPr id="7" name="Shape 5"/>
          <p:cNvSpPr/>
          <p:nvPr/>
        </p:nvSpPr>
        <p:spPr>
          <a:xfrm>
            <a:off x="1680667" y="4526280"/>
            <a:ext cx="256032" cy="256032"/>
          </a:xfrm>
          <a:prstGeom prst="rect">
            <a:avLst/>
          </a:prstGeom>
          <a:solidFill>
            <a:srgbClr val="21295C"/>
          </a:solidFill>
          <a:ln w="15875">
            <a:solidFill>
              <a:srgbClr val="6B76A8"/>
            </a:solidFill>
            <a:prstDash val="solid"/>
          </a:ln>
        </p:spPr>
      </p:sp>
      <p:sp>
        <p:nvSpPr>
          <p:cNvPr id="8" name="Text 6"/>
          <p:cNvSpPr txBox="1"/>
          <p:nvPr/>
        </p:nvSpPr>
        <p:spPr>
          <a:xfrm>
            <a:off x="566928" y="5303520"/>
            <a:ext cx="10058400" cy="292608"/>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Utkarsh Shukla   ·   B.Tech Artificial Intelligence   ·   NITK Surathkal</a:t>
            </a:r>
            <a:endParaRPr lang="en-US" sz="1500" dirty="0"/>
          </a:p>
        </p:txBody>
      </p:sp>
      <p:sp>
        <p:nvSpPr>
          <p:cNvPr id="9" name="Text 7"/>
          <p:cNvSpPr txBox="1"/>
          <p:nvPr/>
        </p:nvSpPr>
        <p:spPr>
          <a:xfrm>
            <a:off x="566928" y="5650992"/>
            <a:ext cx="10058400" cy="292608"/>
          </a:xfrm>
          <a:prstGeom prst="rect">
            <a:avLst/>
          </a:prstGeom>
          <a:noFill/>
          <a:ln/>
        </p:spPr>
        <p:txBody>
          <a:bodyPr wrap="square" lIns="0" tIns="0" rIns="0" bIns="0" rtlCol="0" anchor="ctr"/>
          <a:lstStyle/>
          <a:p>
            <a:pPr indent="0" marL="0">
              <a:buNone/>
            </a:pPr>
            <a:r>
              <a:rPr lang="en-US" sz="1300" dirty="0">
                <a:solidFill>
                  <a:srgbClr val="9AA6C9"/>
                </a:solidFill>
                <a:latin typeface="Calibri" pitchFamily="34" charset="0"/>
                <a:ea typeface="Calibri" pitchFamily="34" charset="-122"/>
                <a:cs typeface="Calibri" pitchFamily="34" charset="-120"/>
              </a:rPr>
              <a:t>Guide: Anand Kumar M   ·   Major Project IT448   ·   Progress Review,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Outline</a:t>
            </a:r>
            <a:endParaRPr lang="en-US" sz="3000" dirty="0"/>
          </a:p>
        </p:txBody>
      </p:sp>
      <p:sp>
        <p:nvSpPr>
          <p:cNvPr id="4" name="Shape 2"/>
          <p:cNvSpPr/>
          <p:nvPr/>
        </p:nvSpPr>
        <p:spPr>
          <a:xfrm>
            <a:off x="566928" y="1645920"/>
            <a:ext cx="365760" cy="365760"/>
          </a:xfrm>
          <a:prstGeom prst="ellipse">
            <a:avLst/>
          </a:prstGeom>
          <a:solidFill>
            <a:srgbClr val="1C7293"/>
          </a:solidFill>
          <a:ln w="12700">
            <a:solidFill>
              <a:srgbClr val="333333"/>
            </a:solidFill>
            <a:prstDash val="solid"/>
          </a:ln>
        </p:spPr>
      </p:sp>
      <p:sp>
        <p:nvSpPr>
          <p:cNvPr id="5" name="Text 3"/>
          <p:cNvSpPr txBox="1"/>
          <p:nvPr/>
        </p:nvSpPr>
        <p:spPr>
          <a:xfrm>
            <a:off x="566928" y="1645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33856" y="1618488"/>
            <a:ext cx="3017520" cy="310896"/>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Problem setting</a:t>
            </a:r>
            <a:endParaRPr lang="en-US" sz="1700" dirty="0"/>
          </a:p>
        </p:txBody>
      </p:sp>
      <p:sp>
        <p:nvSpPr>
          <p:cNvPr id="7" name="Text 5"/>
          <p:cNvSpPr txBox="1"/>
          <p:nvPr/>
        </p:nvSpPr>
        <p:spPr>
          <a:xfrm>
            <a:off x="4224528" y="1627632"/>
            <a:ext cx="7406640" cy="420624"/>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State tracking, the Householder-product construction, and the hyperparameter it fixes globally</a:t>
            </a:r>
            <a:endParaRPr lang="en-US" sz="1400" dirty="0"/>
          </a:p>
        </p:txBody>
      </p:sp>
      <p:sp>
        <p:nvSpPr>
          <p:cNvPr id="8" name="Shape 6"/>
          <p:cNvSpPr/>
          <p:nvPr/>
        </p:nvSpPr>
        <p:spPr>
          <a:xfrm>
            <a:off x="566928" y="2505456"/>
            <a:ext cx="365760" cy="365760"/>
          </a:xfrm>
          <a:prstGeom prst="ellipse">
            <a:avLst/>
          </a:prstGeom>
          <a:solidFill>
            <a:srgbClr val="B8791F"/>
          </a:solidFill>
          <a:ln w="12700">
            <a:solidFill>
              <a:srgbClr val="333333"/>
            </a:solidFill>
            <a:prstDash val="solid"/>
          </a:ln>
        </p:spPr>
      </p:sp>
      <p:sp>
        <p:nvSpPr>
          <p:cNvPr id="9" name="Text 7"/>
          <p:cNvSpPr txBox="1"/>
          <p:nvPr/>
        </p:nvSpPr>
        <p:spPr>
          <a:xfrm>
            <a:off x="566928" y="25054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33856" y="2478024"/>
            <a:ext cx="3017520" cy="310896"/>
          </a:xfrm>
          <a:prstGeom prst="rect">
            <a:avLst/>
          </a:prstGeom>
          <a:noFill/>
          <a:ln/>
        </p:spPr>
        <p:txBody>
          <a:bodyPr wrap="square" lIns="0" tIns="0" rIns="0" bIns="0" rtlCol="0" anchor="ctr"/>
          <a:lstStyle/>
          <a:p>
            <a:pPr indent="0" marL="0">
              <a:buNone/>
            </a:pPr>
            <a:r>
              <a:rPr lang="en-US" sz="1700" b="1" dirty="0">
                <a:solidFill>
                  <a:srgbClr val="B8791F"/>
                </a:solidFill>
                <a:latin typeface="Calibri" pitchFamily="34" charset="0"/>
                <a:ea typeface="Calibri" pitchFamily="34" charset="-122"/>
                <a:cs typeface="Calibri" pitchFamily="34" charset="-120"/>
              </a:rPr>
              <a:t>The cost model</a:t>
            </a:r>
            <a:endParaRPr lang="en-US" sz="1700" dirty="0"/>
          </a:p>
        </p:txBody>
      </p:sp>
      <p:sp>
        <p:nvSpPr>
          <p:cNvPr id="11" name="Text 9"/>
          <p:cNvSpPr txBox="1"/>
          <p:nvPr/>
        </p:nvSpPr>
        <p:spPr>
          <a:xfrm>
            <a:off x="4224528" y="2487168"/>
            <a:ext cx="7406640" cy="420624"/>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The classical bound, an experimental contradiction, and the correction we established</a:t>
            </a:r>
            <a:endParaRPr lang="en-US" sz="1400" dirty="0"/>
          </a:p>
        </p:txBody>
      </p:sp>
      <p:sp>
        <p:nvSpPr>
          <p:cNvPr id="12" name="Shape 10"/>
          <p:cNvSpPr/>
          <p:nvPr/>
        </p:nvSpPr>
        <p:spPr>
          <a:xfrm>
            <a:off x="566928" y="3364992"/>
            <a:ext cx="365760" cy="365760"/>
          </a:xfrm>
          <a:prstGeom prst="ellipse">
            <a:avLst/>
          </a:prstGeom>
          <a:solidFill>
            <a:srgbClr val="1C7293"/>
          </a:solidFill>
          <a:ln w="12700">
            <a:solidFill>
              <a:srgbClr val="333333"/>
            </a:solidFill>
            <a:prstDash val="solid"/>
          </a:ln>
        </p:spPr>
      </p:sp>
      <p:sp>
        <p:nvSpPr>
          <p:cNvPr id="13" name="Text 11"/>
          <p:cNvSpPr txBox="1"/>
          <p:nvPr/>
        </p:nvSpPr>
        <p:spPr>
          <a:xfrm>
            <a:off x="566928" y="33649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33856" y="3337560"/>
            <a:ext cx="3017520" cy="310896"/>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Proposed mechanism</a:t>
            </a:r>
            <a:endParaRPr lang="en-US" sz="1700" dirty="0"/>
          </a:p>
        </p:txBody>
      </p:sp>
      <p:sp>
        <p:nvSpPr>
          <p:cNvPr id="15" name="Text 13"/>
          <p:cNvSpPr txBox="1"/>
          <p:nvPr/>
        </p:nvSpPr>
        <p:spPr>
          <a:xfrm>
            <a:off x="4224528" y="3346704"/>
            <a:ext cx="7406640" cy="420624"/>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A monotone halting gate under a budget penalty, and a constraint we proved necessary</a:t>
            </a:r>
            <a:endParaRPr lang="en-US" sz="1400" dirty="0"/>
          </a:p>
        </p:txBody>
      </p:sp>
      <p:sp>
        <p:nvSpPr>
          <p:cNvPr id="16" name="Shape 14"/>
          <p:cNvSpPr/>
          <p:nvPr/>
        </p:nvSpPr>
        <p:spPr>
          <a:xfrm>
            <a:off x="566928" y="4224528"/>
            <a:ext cx="365760" cy="365760"/>
          </a:xfrm>
          <a:prstGeom prst="ellipse">
            <a:avLst/>
          </a:prstGeom>
          <a:solidFill>
            <a:srgbClr val="1C7293"/>
          </a:solidFill>
          <a:ln w="12700">
            <a:solidFill>
              <a:srgbClr val="333333"/>
            </a:solidFill>
            <a:prstDash val="solid"/>
          </a:ln>
        </p:spPr>
      </p:sp>
      <p:sp>
        <p:nvSpPr>
          <p:cNvPr id="17" name="Text 15"/>
          <p:cNvSpPr txBox="1"/>
          <p:nvPr/>
        </p:nvSpPr>
        <p:spPr>
          <a:xfrm>
            <a:off x="566928" y="42245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133856" y="4197096"/>
            <a:ext cx="3017520" cy="310896"/>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Experimental evidence</a:t>
            </a:r>
            <a:endParaRPr lang="en-US" sz="1700" dirty="0"/>
          </a:p>
        </p:txBody>
      </p:sp>
      <p:sp>
        <p:nvSpPr>
          <p:cNvPr id="19" name="Text 17"/>
          <p:cNvSpPr txBox="1"/>
          <p:nvPr/>
        </p:nvSpPr>
        <p:spPr>
          <a:xfrm>
            <a:off x="4224528" y="4206240"/>
            <a:ext cx="7406640" cy="420624"/>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Reproduction, matched-compute capability, and the measurement protocol</a:t>
            </a:r>
            <a:endParaRPr lang="en-US" sz="1400" dirty="0"/>
          </a:p>
        </p:txBody>
      </p:sp>
      <p:sp>
        <p:nvSpPr>
          <p:cNvPr id="20" name="Shape 18"/>
          <p:cNvSpPr/>
          <p:nvPr/>
        </p:nvSpPr>
        <p:spPr>
          <a:xfrm>
            <a:off x="566928" y="5084064"/>
            <a:ext cx="365760" cy="365760"/>
          </a:xfrm>
          <a:prstGeom prst="ellipse">
            <a:avLst/>
          </a:prstGeom>
          <a:solidFill>
            <a:srgbClr val="1C7293"/>
          </a:solidFill>
          <a:ln w="12700">
            <a:solidFill>
              <a:srgbClr val="333333"/>
            </a:solidFill>
            <a:prstDash val="solid"/>
          </a:ln>
        </p:spPr>
      </p:sp>
      <p:sp>
        <p:nvSpPr>
          <p:cNvPr id="21" name="Text 19"/>
          <p:cNvSpPr txBox="1"/>
          <p:nvPr/>
        </p:nvSpPr>
        <p:spPr>
          <a:xfrm>
            <a:off x="566928" y="5084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133856" y="5056632"/>
            <a:ext cx="3017520" cy="310896"/>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Status and plan</a:t>
            </a:r>
            <a:endParaRPr lang="en-US" sz="1700" dirty="0"/>
          </a:p>
        </p:txBody>
      </p:sp>
      <p:sp>
        <p:nvSpPr>
          <p:cNvPr id="23" name="Text 21"/>
          <p:cNvSpPr txBox="1"/>
          <p:nvPr/>
        </p:nvSpPr>
        <p:spPr>
          <a:xfrm>
            <a:off x="4224528" y="5065776"/>
            <a:ext cx="7406640" cy="420624"/>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Objectives completed and outstanding; schedule through April 2027</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REFERENCE</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Notation</a:t>
            </a:r>
            <a:endParaRPr lang="en-US" sz="3000" dirty="0"/>
          </a:p>
        </p:txBody>
      </p:sp>
      <p:sp>
        <p:nvSpPr>
          <p:cNvPr id="4" name="Text 2"/>
          <p:cNvSpPr txBox="1"/>
          <p:nvPr/>
        </p:nvSpPr>
        <p:spPr>
          <a:xfrm>
            <a:off x="566928" y="1536192"/>
            <a:ext cx="10881360" cy="292608"/>
          </a:xfrm>
          <a:prstGeom prst="rect">
            <a:avLst/>
          </a:prstGeom>
          <a:noFill/>
          <a:ln/>
        </p:spPr>
        <p:txBody>
          <a:bodyPr wrap="square" lIns="0" tIns="0" rIns="0" bIns="0" rtlCol="0" anchor="ctr"/>
          <a:lstStyle/>
          <a:p>
            <a:pPr indent="0" marL="0">
              <a:lnSpc>
                <a:spcPts val="2100"/>
              </a:lnSpc>
              <a:buNone/>
            </a:pPr>
            <a:r>
              <a:rPr lang="en-US" sz="1400" i="1" dirty="0">
                <a:solidFill>
                  <a:srgbClr val="5C6378"/>
                </a:solidFill>
                <a:latin typeface="Calibri" pitchFamily="34" charset="0"/>
                <a:ea typeface="Calibri" pitchFamily="34" charset="-122"/>
                <a:cs typeface="Calibri" pitchFamily="34" charset="-120"/>
              </a:rPr>
              <a:t>Every symbol used in this presentation. Referred back to as needed.</a:t>
            </a:r>
            <a:endParaRPr lang="en-US" sz="1400" dirty="0"/>
          </a:p>
        </p:txBody>
      </p:sp>
      <p:sp>
        <p:nvSpPr>
          <p:cNvPr id="5" name="Text 3"/>
          <p:cNvSpPr txBox="1"/>
          <p:nvPr/>
        </p:nvSpPr>
        <p:spPr>
          <a:xfrm>
            <a:off x="566928" y="1965960"/>
            <a:ext cx="365760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THE TASK</a:t>
            </a:r>
            <a:endParaRPr lang="en-US" sz="1100" dirty="0"/>
          </a:p>
        </p:txBody>
      </p:sp>
      <p:sp>
        <p:nvSpPr>
          <p:cNvPr id="6" name="Text 4"/>
          <p:cNvSpPr txBox="1"/>
          <p:nvPr/>
        </p:nvSpPr>
        <p:spPr>
          <a:xfrm>
            <a:off x="566928" y="2331720"/>
            <a:ext cx="822960" cy="36576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T</a:t>
            </a:r>
            <a:endParaRPr lang="en-US" sz="1400" dirty="0"/>
          </a:p>
        </p:txBody>
      </p:sp>
      <p:sp>
        <p:nvSpPr>
          <p:cNvPr id="7" name="Text 5"/>
          <p:cNvSpPr txBox="1"/>
          <p:nvPr/>
        </p:nvSpPr>
        <p:spPr>
          <a:xfrm>
            <a:off x="1435608" y="2331720"/>
            <a:ext cx="2788920" cy="36576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length of the input sequence</a:t>
            </a:r>
            <a:endParaRPr lang="en-US" sz="1150" dirty="0"/>
          </a:p>
        </p:txBody>
      </p:sp>
      <p:sp>
        <p:nvSpPr>
          <p:cNvPr id="8" name="Text 6"/>
          <p:cNvSpPr txBox="1"/>
          <p:nvPr/>
        </p:nvSpPr>
        <p:spPr>
          <a:xfrm>
            <a:off x="566928" y="2788920"/>
            <a:ext cx="822960" cy="36576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t</a:t>
            </a:r>
            <a:endParaRPr lang="en-US" sz="1400" dirty="0"/>
          </a:p>
        </p:txBody>
      </p:sp>
      <p:sp>
        <p:nvSpPr>
          <p:cNvPr id="9" name="Text 7"/>
          <p:cNvSpPr txBox="1"/>
          <p:nvPr/>
        </p:nvSpPr>
        <p:spPr>
          <a:xfrm>
            <a:off x="1435608" y="2788920"/>
            <a:ext cx="2788920" cy="36576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position index,  1 ≤ t ≤ T</a:t>
            </a:r>
            <a:endParaRPr lang="en-US" sz="1150" dirty="0"/>
          </a:p>
        </p:txBody>
      </p:sp>
      <p:sp>
        <p:nvSpPr>
          <p:cNvPr id="10" name="Text 8"/>
          <p:cNvSpPr txBox="1"/>
          <p:nvPr/>
        </p:nvSpPr>
        <p:spPr>
          <a:xfrm>
            <a:off x="566928" y="324612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Σ</a:t>
            </a:r>
            <a:endParaRPr lang="en-US" sz="1400" dirty="0"/>
          </a:p>
        </p:txBody>
      </p:sp>
      <p:sp>
        <p:nvSpPr>
          <p:cNvPr id="11" name="Text 9"/>
          <p:cNvSpPr txBox="1"/>
          <p:nvPr/>
        </p:nvSpPr>
        <p:spPr>
          <a:xfrm>
            <a:off x="1435608" y="3246120"/>
            <a:ext cx="278892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the alphabet — the set of symbols the task uses</a:t>
            </a:r>
            <a:endParaRPr lang="en-US" sz="1150" dirty="0"/>
          </a:p>
        </p:txBody>
      </p:sp>
      <p:sp>
        <p:nvSpPr>
          <p:cNvPr id="12" name="Text 10"/>
          <p:cNvSpPr txBox="1"/>
          <p:nvPr/>
        </p:nvSpPr>
        <p:spPr>
          <a:xfrm>
            <a:off x="566928" y="388620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gₜ</a:t>
            </a:r>
            <a:endParaRPr lang="en-US" sz="1400" dirty="0"/>
          </a:p>
        </p:txBody>
      </p:sp>
      <p:sp>
        <p:nvSpPr>
          <p:cNvPr id="13" name="Text 11"/>
          <p:cNvSpPr txBox="1"/>
          <p:nvPr/>
        </p:nvSpPr>
        <p:spPr>
          <a:xfrm>
            <a:off x="1435608" y="3886200"/>
            <a:ext cx="278892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the symbol at position t; one group element</a:t>
            </a:r>
            <a:endParaRPr lang="en-US" sz="1150" dirty="0"/>
          </a:p>
        </p:txBody>
      </p:sp>
      <p:sp>
        <p:nvSpPr>
          <p:cNvPr id="14" name="Text 12"/>
          <p:cNvSpPr txBox="1"/>
          <p:nvPr/>
        </p:nvSpPr>
        <p:spPr>
          <a:xfrm>
            <a:off x="566928" y="452628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hₜ</a:t>
            </a:r>
            <a:endParaRPr lang="en-US" sz="1400" dirty="0"/>
          </a:p>
        </p:txBody>
      </p:sp>
      <p:sp>
        <p:nvSpPr>
          <p:cNvPr id="15" name="Text 13"/>
          <p:cNvSpPr txBox="1"/>
          <p:nvPr/>
        </p:nvSpPr>
        <p:spPr>
          <a:xfrm>
            <a:off x="1435608" y="4526280"/>
            <a:ext cx="278892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the target at position t:  hₜ = g₁·g₂·…·gₜ</a:t>
            </a:r>
            <a:endParaRPr lang="en-US" sz="1150" dirty="0"/>
          </a:p>
        </p:txBody>
      </p:sp>
      <p:sp>
        <p:nvSpPr>
          <p:cNvPr id="16" name="Text 14"/>
          <p:cNvSpPr txBox="1"/>
          <p:nvPr/>
        </p:nvSpPr>
        <p:spPr>
          <a:xfrm>
            <a:off x="566928" y="5166360"/>
            <a:ext cx="822960" cy="73152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⟨Σ⟩</a:t>
            </a:r>
            <a:endParaRPr lang="en-US" sz="1400" dirty="0"/>
          </a:p>
        </p:txBody>
      </p:sp>
      <p:sp>
        <p:nvSpPr>
          <p:cNvPr id="17" name="Text 15"/>
          <p:cNvSpPr txBox="1"/>
          <p:nvPr/>
        </p:nvSpPr>
        <p:spPr>
          <a:xfrm>
            <a:off x="1435608" y="5166360"/>
            <a:ext cx="2788920" cy="73152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the group generated by Σ — every element obtainable by composing symbols of Σ</a:t>
            </a:r>
            <a:endParaRPr lang="en-US" sz="1150" dirty="0"/>
          </a:p>
        </p:txBody>
      </p:sp>
      <p:sp>
        <p:nvSpPr>
          <p:cNvPr id="18" name="Text 16"/>
          <p:cNvSpPr txBox="1"/>
          <p:nvPr/>
        </p:nvSpPr>
        <p:spPr>
          <a:xfrm>
            <a:off x="4453128" y="1965960"/>
            <a:ext cx="384048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THE GROUPS</a:t>
            </a:r>
            <a:endParaRPr lang="en-US" sz="1100" dirty="0"/>
          </a:p>
        </p:txBody>
      </p:sp>
      <p:sp>
        <p:nvSpPr>
          <p:cNvPr id="19" name="Text 17"/>
          <p:cNvSpPr txBox="1"/>
          <p:nvPr/>
        </p:nvSpPr>
        <p:spPr>
          <a:xfrm>
            <a:off x="4453128" y="233172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Sₙ</a:t>
            </a:r>
            <a:endParaRPr lang="en-US" sz="1400" dirty="0"/>
          </a:p>
        </p:txBody>
      </p:sp>
      <p:sp>
        <p:nvSpPr>
          <p:cNvPr id="20" name="Text 18"/>
          <p:cNvSpPr txBox="1"/>
          <p:nvPr/>
        </p:nvSpPr>
        <p:spPr>
          <a:xfrm>
            <a:off x="5321808" y="2331720"/>
            <a:ext cx="297180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symmetric group: all n! rearrangements of n items.  |S₅| = 120</a:t>
            </a:r>
            <a:endParaRPr lang="en-US" sz="1150" dirty="0"/>
          </a:p>
        </p:txBody>
      </p:sp>
      <p:sp>
        <p:nvSpPr>
          <p:cNvPr id="21" name="Text 19"/>
          <p:cNvSpPr txBox="1"/>
          <p:nvPr/>
        </p:nvSpPr>
        <p:spPr>
          <a:xfrm>
            <a:off x="4453128" y="297180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Aₙ</a:t>
            </a:r>
            <a:endParaRPr lang="en-US" sz="1400" dirty="0"/>
          </a:p>
        </p:txBody>
      </p:sp>
      <p:sp>
        <p:nvSpPr>
          <p:cNvPr id="22" name="Text 20"/>
          <p:cNvSpPr txBox="1"/>
          <p:nvPr/>
        </p:nvSpPr>
        <p:spPr>
          <a:xfrm>
            <a:off x="5321808" y="2971800"/>
            <a:ext cx="297180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alternating group: the even half of Sₙ.  |A₅| = 60</a:t>
            </a:r>
            <a:endParaRPr lang="en-US" sz="1150" dirty="0"/>
          </a:p>
        </p:txBody>
      </p:sp>
      <p:sp>
        <p:nvSpPr>
          <p:cNvPr id="23" name="Text 21"/>
          <p:cNvSpPr txBox="1"/>
          <p:nvPr/>
        </p:nvSpPr>
        <p:spPr>
          <a:xfrm>
            <a:off x="4453128" y="361188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ℓ(P)</a:t>
            </a:r>
            <a:endParaRPr lang="en-US" sz="1400" dirty="0"/>
          </a:p>
        </p:txBody>
      </p:sp>
      <p:sp>
        <p:nvSpPr>
          <p:cNvPr id="24" name="Text 22"/>
          <p:cNvSpPr txBox="1"/>
          <p:nvPr/>
        </p:nvSpPr>
        <p:spPr>
          <a:xfrm>
            <a:off x="5321808" y="3611880"/>
            <a:ext cx="297180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transposition length: fewest swaps composing to P</a:t>
            </a:r>
            <a:endParaRPr lang="en-US" sz="1150" dirty="0"/>
          </a:p>
        </p:txBody>
      </p:sp>
      <p:sp>
        <p:nvSpPr>
          <p:cNvPr id="25" name="Text 23"/>
          <p:cNvSpPr txBox="1"/>
          <p:nvPr/>
        </p:nvSpPr>
        <p:spPr>
          <a:xfrm>
            <a:off x="4453128" y="4251960"/>
            <a:ext cx="822960" cy="36576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c(P)</a:t>
            </a:r>
            <a:endParaRPr lang="en-US" sz="1400" dirty="0"/>
          </a:p>
        </p:txBody>
      </p:sp>
      <p:sp>
        <p:nvSpPr>
          <p:cNvPr id="26" name="Text 24"/>
          <p:cNvSpPr txBox="1"/>
          <p:nvPr/>
        </p:nvSpPr>
        <p:spPr>
          <a:xfrm>
            <a:off x="5321808" y="4251960"/>
            <a:ext cx="2971800" cy="36576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number of cycles of P</a:t>
            </a:r>
            <a:endParaRPr lang="en-US" sz="1150" dirty="0"/>
          </a:p>
        </p:txBody>
      </p:sp>
      <p:sp>
        <p:nvSpPr>
          <p:cNvPr id="27" name="Text 25"/>
          <p:cNvSpPr txBox="1"/>
          <p:nvPr/>
        </p:nvSpPr>
        <p:spPr>
          <a:xfrm>
            <a:off x="4453128" y="4709160"/>
            <a:ext cx="822960" cy="91440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ρ</a:t>
            </a:r>
            <a:endParaRPr lang="en-US" sz="1400" dirty="0"/>
          </a:p>
        </p:txBody>
      </p:sp>
      <p:sp>
        <p:nvSpPr>
          <p:cNvPr id="28" name="Text 26"/>
          <p:cNvSpPr txBox="1"/>
          <p:nvPr/>
        </p:nvSpPr>
        <p:spPr>
          <a:xfrm>
            <a:off x="5321808" y="4709160"/>
            <a:ext cx="2971800" cy="91440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a representation — a rule assigning a matrix to each group element, preserving composition. Faithful means distinct elements receive distinct matrices</a:t>
            </a:r>
            <a:endParaRPr lang="en-US" sz="1150" dirty="0"/>
          </a:p>
        </p:txBody>
      </p:sp>
      <p:sp>
        <p:nvSpPr>
          <p:cNvPr id="29" name="Text 27"/>
          <p:cNvSpPr txBox="1"/>
          <p:nvPr/>
        </p:nvSpPr>
        <p:spPr>
          <a:xfrm>
            <a:off x="8522208" y="1965960"/>
            <a:ext cx="361188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THE LAYER</a:t>
            </a:r>
            <a:endParaRPr lang="en-US" sz="1100" dirty="0"/>
          </a:p>
        </p:txBody>
      </p:sp>
      <p:sp>
        <p:nvSpPr>
          <p:cNvPr id="30" name="Text 28"/>
          <p:cNvSpPr txBox="1"/>
          <p:nvPr/>
        </p:nvSpPr>
        <p:spPr>
          <a:xfrm>
            <a:off x="8522208" y="233172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Aₜ</a:t>
            </a:r>
            <a:endParaRPr lang="en-US" sz="1400" dirty="0"/>
          </a:p>
        </p:txBody>
      </p:sp>
      <p:sp>
        <p:nvSpPr>
          <p:cNvPr id="31" name="Text 29"/>
          <p:cNvSpPr txBox="1"/>
          <p:nvPr/>
        </p:nvSpPr>
        <p:spPr>
          <a:xfrm>
            <a:off x="9390888" y="2331720"/>
            <a:ext cx="274320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state-transition matrix applied at step t</a:t>
            </a:r>
            <a:endParaRPr lang="en-US" sz="1150" dirty="0"/>
          </a:p>
        </p:txBody>
      </p:sp>
      <p:sp>
        <p:nvSpPr>
          <p:cNvPr id="32" name="Text 30"/>
          <p:cNvSpPr txBox="1"/>
          <p:nvPr/>
        </p:nvSpPr>
        <p:spPr>
          <a:xfrm>
            <a:off x="8522208" y="2971800"/>
            <a:ext cx="822960" cy="36576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I</a:t>
            </a:r>
            <a:endParaRPr lang="en-US" sz="1400" dirty="0"/>
          </a:p>
        </p:txBody>
      </p:sp>
      <p:sp>
        <p:nvSpPr>
          <p:cNvPr id="33" name="Text 31"/>
          <p:cNvSpPr txBox="1"/>
          <p:nvPr/>
        </p:nvSpPr>
        <p:spPr>
          <a:xfrm>
            <a:off x="9390888" y="2971800"/>
            <a:ext cx="2743200" cy="36576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identity matrix</a:t>
            </a:r>
            <a:endParaRPr lang="en-US" sz="1150" dirty="0"/>
          </a:p>
        </p:txBody>
      </p:sp>
      <p:sp>
        <p:nvSpPr>
          <p:cNvPr id="34" name="Text 32"/>
          <p:cNvSpPr txBox="1"/>
          <p:nvPr/>
        </p:nvSpPr>
        <p:spPr>
          <a:xfrm>
            <a:off x="8522208" y="342900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kᵢ</a:t>
            </a:r>
            <a:endParaRPr lang="en-US" sz="1400" dirty="0"/>
          </a:p>
        </p:txBody>
      </p:sp>
      <p:sp>
        <p:nvSpPr>
          <p:cNvPr id="35" name="Text 33"/>
          <p:cNvSpPr txBox="1"/>
          <p:nvPr/>
        </p:nvSpPr>
        <p:spPr>
          <a:xfrm>
            <a:off x="9390888" y="3429000"/>
            <a:ext cx="274320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unit vector: the direction factor i acts on</a:t>
            </a:r>
            <a:endParaRPr lang="en-US" sz="1150" dirty="0"/>
          </a:p>
        </p:txBody>
      </p:sp>
      <p:sp>
        <p:nvSpPr>
          <p:cNvPr id="36" name="Text 34"/>
          <p:cNvSpPr txBox="1"/>
          <p:nvPr/>
        </p:nvSpPr>
        <p:spPr>
          <a:xfrm>
            <a:off x="8522208" y="406908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βᵢ</a:t>
            </a:r>
            <a:endParaRPr lang="en-US" sz="1400" dirty="0"/>
          </a:p>
        </p:txBody>
      </p:sp>
      <p:sp>
        <p:nvSpPr>
          <p:cNvPr id="37" name="Text 35"/>
          <p:cNvSpPr txBox="1"/>
          <p:nvPr/>
        </p:nvSpPr>
        <p:spPr>
          <a:xfrm>
            <a:off x="9390888" y="4069080"/>
            <a:ext cx="274320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scalar in [0,2]: the strength of factor i</a:t>
            </a:r>
            <a:endParaRPr lang="en-US" sz="1150" dirty="0"/>
          </a:p>
        </p:txBody>
      </p:sp>
      <p:sp>
        <p:nvSpPr>
          <p:cNvPr id="38" name="Text 36"/>
          <p:cNvSpPr txBox="1"/>
          <p:nvPr/>
        </p:nvSpPr>
        <p:spPr>
          <a:xfrm>
            <a:off x="8522208" y="470916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nₕ</a:t>
            </a:r>
            <a:endParaRPr lang="en-US" sz="1400" dirty="0"/>
          </a:p>
        </p:txBody>
      </p:sp>
      <p:sp>
        <p:nvSpPr>
          <p:cNvPr id="39" name="Text 37"/>
          <p:cNvSpPr txBox="1"/>
          <p:nvPr/>
        </p:nvSpPr>
        <p:spPr>
          <a:xfrm>
            <a:off x="9390888" y="4709160"/>
            <a:ext cx="274320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factors per token — the global hyperparameter</a:t>
            </a:r>
            <a:endParaRPr lang="en-US" sz="1150" dirty="0"/>
          </a:p>
        </p:txBody>
      </p:sp>
      <p:sp>
        <p:nvSpPr>
          <p:cNvPr id="40" name="Text 38"/>
          <p:cNvSpPr txBox="1"/>
          <p:nvPr/>
        </p:nvSpPr>
        <p:spPr>
          <a:xfrm>
            <a:off x="8522208" y="534924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nₜ</a:t>
            </a:r>
            <a:endParaRPr lang="en-US" sz="1400" dirty="0"/>
          </a:p>
        </p:txBody>
      </p:sp>
      <p:sp>
        <p:nvSpPr>
          <p:cNvPr id="41" name="Text 39"/>
          <p:cNvSpPr txBox="1"/>
          <p:nvPr/>
        </p:nvSpPr>
        <p:spPr>
          <a:xfrm>
            <a:off x="9390888" y="5349240"/>
            <a:ext cx="274320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factors token t actually uses (our gate's output)</a:t>
            </a:r>
            <a:endParaRPr lang="en-US" sz="1150" dirty="0"/>
          </a:p>
        </p:txBody>
      </p:sp>
      <p:sp>
        <p:nvSpPr>
          <p:cNvPr id="42" name="Text 40"/>
          <p:cNvSpPr txBox="1"/>
          <p:nvPr/>
        </p:nvSpPr>
        <p:spPr>
          <a:xfrm>
            <a:off x="8522208" y="5989320"/>
            <a:ext cx="822960" cy="548640"/>
          </a:xfrm>
          <a:prstGeom prst="rect">
            <a:avLst/>
          </a:prstGeom>
          <a:noFill/>
          <a:ln/>
        </p:spPr>
        <p:txBody>
          <a:bodyPr wrap="square" lIns="0" tIns="0" rIns="0" bIns="0" rtlCol="0" anchor="t"/>
          <a:lstStyle/>
          <a:p>
            <a:pPr indent="0" marL="0">
              <a:buNone/>
            </a:pPr>
            <a:r>
              <a:rPr lang="en-US" sz="1400" b="1" dirty="0">
                <a:solidFill>
                  <a:srgbClr val="21295C"/>
                </a:solidFill>
                <a:latin typeface="Calibri" pitchFamily="34" charset="0"/>
                <a:ea typeface="Calibri" pitchFamily="34" charset="-122"/>
                <a:cs typeface="Calibri" pitchFamily="34" charset="-120"/>
              </a:rPr>
              <a:t>D(g)</a:t>
            </a:r>
            <a:endParaRPr lang="en-US" sz="1400" dirty="0"/>
          </a:p>
        </p:txBody>
      </p:sp>
      <p:sp>
        <p:nvSpPr>
          <p:cNvPr id="43" name="Text 41"/>
          <p:cNvSpPr txBox="1"/>
          <p:nvPr/>
        </p:nvSpPr>
        <p:spPr>
          <a:xfrm>
            <a:off x="9390888" y="5989320"/>
            <a:ext cx="2743200" cy="548640"/>
          </a:xfrm>
          <a:prstGeom prst="rect">
            <a:avLst/>
          </a:prstGeom>
          <a:noFill/>
          <a:ln/>
        </p:spPr>
        <p:txBody>
          <a:bodyPr wrap="square" lIns="0" tIns="0" rIns="0" bIns="0" rtlCol="0" anchor="t"/>
          <a:lstStyle/>
          <a:p>
            <a:pPr indent="0" marL="0">
              <a:lnSpc>
                <a:spcPts val="1400"/>
              </a:lnSpc>
              <a:buNone/>
            </a:pPr>
            <a:r>
              <a:rPr lang="en-US" sz="1150" dirty="0">
                <a:solidFill>
                  <a:srgbClr val="1A1A2E"/>
                </a:solidFill>
                <a:latin typeface="Calibri" pitchFamily="34" charset="0"/>
                <a:ea typeface="Calibri" pitchFamily="34" charset="-122"/>
                <a:cs typeface="Calibri" pitchFamily="34" charset="-120"/>
              </a:rPr>
              <a:t>the demand: minimum factors g requires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PROBLEM SETTING</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Problem setting: state tracking</a:t>
            </a:r>
            <a:endParaRPr lang="en-US" sz="3000" dirty="0"/>
          </a:p>
        </p:txBody>
      </p:sp>
      <p:sp>
        <p:nvSpPr>
          <p:cNvPr id="4" name="Text 2"/>
          <p:cNvSpPr txBox="1"/>
          <p:nvPr/>
        </p:nvSpPr>
        <p:spPr>
          <a:xfrm>
            <a:off x="566928" y="1572768"/>
            <a:ext cx="10881360" cy="457200"/>
          </a:xfrm>
          <a:prstGeom prst="rect">
            <a:avLst/>
          </a:prstGeom>
          <a:noFill/>
          <a:ln/>
        </p:spPr>
        <p:txBody>
          <a:bodyPr wrap="square" lIns="0" tIns="0" rIns="0" bIns="0" rtlCol="0" anchor="ctr"/>
          <a:lstStyle/>
          <a:p>
            <a:pPr indent="0" marL="0">
              <a:lnSpc>
                <a:spcPts val="2100"/>
              </a:lnSpc>
              <a:buNone/>
            </a:pPr>
            <a:r>
              <a:rPr lang="en-US" sz="1550" dirty="0">
                <a:solidFill>
                  <a:srgbClr val="1A1A2E"/>
                </a:solidFill>
                <a:latin typeface="Calibri" pitchFamily="34" charset="0"/>
                <a:ea typeface="Calibri" pitchFamily="34" charset="-122"/>
                <a:cs typeface="Calibri" pitchFamily="34" charset="-120"/>
              </a:rPr>
              <a:t>A sequence model receives symbols drawn from an alphabet of group elements and must report the running product after every symbol.</a:t>
            </a:r>
            <a:endParaRPr lang="en-US" sz="1550" dirty="0"/>
          </a:p>
        </p:txBody>
      </p:sp>
      <p:sp>
        <p:nvSpPr>
          <p:cNvPr id="5" name="Shape 3"/>
          <p:cNvSpPr/>
          <p:nvPr/>
        </p:nvSpPr>
        <p:spPr>
          <a:xfrm>
            <a:off x="566928" y="2103120"/>
            <a:ext cx="11027664" cy="1051560"/>
          </a:xfrm>
          <a:prstGeom prst="roundRect">
            <a:avLst>
              <a:gd name="adj" fmla="val 5217"/>
            </a:avLst>
          </a:prstGeom>
          <a:solidFill>
            <a:srgbClr val="EEF1F6"/>
          </a:solidFill>
          <a:ln w="12700">
            <a:solidFill>
              <a:srgbClr val="EEF1F6"/>
            </a:solidFill>
            <a:prstDash val="solid"/>
          </a:ln>
        </p:spPr>
      </p:sp>
      <p:sp>
        <p:nvSpPr>
          <p:cNvPr id="6" name="Text 4"/>
          <p:cNvSpPr txBox="1"/>
          <p:nvPr/>
        </p:nvSpPr>
        <p:spPr>
          <a:xfrm>
            <a:off x="566928" y="2377440"/>
            <a:ext cx="11027664" cy="438912"/>
          </a:xfrm>
          <a:prstGeom prst="rect">
            <a:avLst/>
          </a:prstGeom>
          <a:noFill/>
          <a:ln/>
        </p:spPr>
        <p:txBody>
          <a:bodyPr wrap="square" lIns="0" tIns="0" rIns="0" bIns="0"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Given symbols  g₁, g₂, …  drawn from  Σ ⊆ S₅ ,    predict   hₜ  =  g₁ · g₂ · … · gₜ    at every position  t</a:t>
            </a:r>
            <a:endParaRPr lang="en-US" sz="1600" dirty="0"/>
          </a:p>
        </p:txBody>
      </p:sp>
      <p:sp>
        <p:nvSpPr>
          <p:cNvPr id="7" name="Shape 5"/>
          <p:cNvSpPr/>
          <p:nvPr/>
        </p:nvSpPr>
        <p:spPr>
          <a:xfrm>
            <a:off x="566928" y="3483864"/>
            <a:ext cx="137160" cy="137160"/>
          </a:xfrm>
          <a:prstGeom prst="ellipse">
            <a:avLst/>
          </a:prstGeom>
          <a:solidFill>
            <a:srgbClr val="1C7293"/>
          </a:solidFill>
          <a:ln w="12700">
            <a:solidFill>
              <a:srgbClr val="333333"/>
            </a:solidFill>
            <a:prstDash val="solid"/>
          </a:ln>
        </p:spPr>
      </p:sp>
      <p:sp>
        <p:nvSpPr>
          <p:cNvPr id="8" name="Text 6"/>
          <p:cNvSpPr txBox="1"/>
          <p:nvPr/>
        </p:nvSpPr>
        <p:spPr>
          <a:xfrm>
            <a:off x="859536" y="3401568"/>
            <a:ext cx="3200400" cy="27432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No shortcut exists.</a:t>
            </a:r>
            <a:endParaRPr lang="en-US" sz="1500" dirty="0"/>
          </a:p>
        </p:txBody>
      </p:sp>
      <p:sp>
        <p:nvSpPr>
          <p:cNvPr id="9" name="Text 7"/>
          <p:cNvSpPr txBox="1"/>
          <p:nvPr/>
        </p:nvSpPr>
        <p:spPr>
          <a:xfrm>
            <a:off x="3858768" y="3410712"/>
            <a:ext cx="7680960" cy="566928"/>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The target at position t depends on the entire prefix. Local pattern matching cannot succeed, and a single error propagates to every subsequent position.</a:t>
            </a:r>
            <a:endParaRPr lang="en-US" sz="1400" dirty="0"/>
          </a:p>
        </p:txBody>
      </p:sp>
      <p:sp>
        <p:nvSpPr>
          <p:cNvPr id="10" name="Shape 8"/>
          <p:cNvSpPr/>
          <p:nvPr/>
        </p:nvSpPr>
        <p:spPr>
          <a:xfrm>
            <a:off x="566928" y="4325112"/>
            <a:ext cx="137160" cy="137160"/>
          </a:xfrm>
          <a:prstGeom prst="ellipse">
            <a:avLst/>
          </a:prstGeom>
          <a:solidFill>
            <a:srgbClr val="1C7293"/>
          </a:solidFill>
          <a:ln w="12700">
            <a:solidFill>
              <a:srgbClr val="333333"/>
            </a:solidFill>
            <a:prstDash val="solid"/>
          </a:ln>
        </p:spPr>
      </p:sp>
      <p:sp>
        <p:nvSpPr>
          <p:cNvPr id="11" name="Text 9"/>
          <p:cNvSpPr txBox="1"/>
          <p:nvPr/>
        </p:nvSpPr>
        <p:spPr>
          <a:xfrm>
            <a:off x="859536" y="4242816"/>
            <a:ext cx="3200400" cy="27432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Ground truth is exact.</a:t>
            </a:r>
            <a:endParaRPr lang="en-US" sz="1500" dirty="0"/>
          </a:p>
        </p:txBody>
      </p:sp>
      <p:sp>
        <p:nvSpPr>
          <p:cNvPr id="12" name="Text 10"/>
          <p:cNvSpPr txBox="1"/>
          <p:nvPr/>
        </p:nvSpPr>
        <p:spPr>
          <a:xfrm>
            <a:off x="3858768" y="4251960"/>
            <a:ext cx="7680960" cy="566928"/>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The task is solvable in closed form, so every prediction is unambiguously correct or incorrect — which matters for the verification methodology in section four.</a:t>
            </a:r>
            <a:endParaRPr lang="en-US" sz="1400" dirty="0"/>
          </a:p>
        </p:txBody>
      </p:sp>
      <p:sp>
        <p:nvSpPr>
          <p:cNvPr id="13" name="Shape 11"/>
          <p:cNvSpPr/>
          <p:nvPr/>
        </p:nvSpPr>
        <p:spPr>
          <a:xfrm>
            <a:off x="566928" y="5166360"/>
            <a:ext cx="137160" cy="137160"/>
          </a:xfrm>
          <a:prstGeom prst="ellipse">
            <a:avLst/>
          </a:prstGeom>
          <a:solidFill>
            <a:srgbClr val="1C7293"/>
          </a:solidFill>
          <a:ln w="12700">
            <a:solidFill>
              <a:srgbClr val="333333"/>
            </a:solidFill>
            <a:prstDash val="solid"/>
          </a:ln>
        </p:spPr>
      </p:sp>
      <p:sp>
        <p:nvSpPr>
          <p:cNvPr id="14" name="Text 12"/>
          <p:cNvSpPr txBox="1"/>
          <p:nvPr/>
        </p:nvSpPr>
        <p:spPr>
          <a:xfrm>
            <a:off x="859536" y="5084064"/>
            <a:ext cx="3200400" cy="27432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Difficulty is controlled.</a:t>
            </a:r>
            <a:endParaRPr lang="en-US" sz="1500" dirty="0"/>
          </a:p>
        </p:txBody>
      </p:sp>
      <p:sp>
        <p:nvSpPr>
          <p:cNvPr id="15" name="Text 13"/>
          <p:cNvSpPr txBox="1"/>
          <p:nvPr/>
        </p:nvSpPr>
        <p:spPr>
          <a:xfrm>
            <a:off x="3858768" y="5093208"/>
            <a:ext cx="7680960" cy="566928"/>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Choosing the alphabet Σ fixes the expressivity the task demands. This is the independent variable throughout.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PROBLEM SETTING</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Architectural context</a:t>
            </a:r>
            <a:endParaRPr lang="en-US" sz="3000" dirty="0"/>
          </a:p>
        </p:txBody>
      </p:sp>
      <p:sp>
        <p:nvSpPr>
          <p:cNvPr id="4" name="Shape 2"/>
          <p:cNvSpPr/>
          <p:nvPr/>
        </p:nvSpPr>
        <p:spPr>
          <a:xfrm>
            <a:off x="566928" y="1572768"/>
            <a:ext cx="5349240" cy="2514600"/>
          </a:xfrm>
          <a:prstGeom prst="roundRect">
            <a:avLst>
              <a:gd name="adj" fmla="val 2182"/>
            </a:avLst>
          </a:prstGeom>
          <a:solidFill>
            <a:srgbClr val="EEF1F6"/>
          </a:solidFill>
          <a:ln w="12700">
            <a:solidFill>
              <a:srgbClr val="EEF1F6"/>
            </a:solidFill>
            <a:prstDash val="solid"/>
          </a:ln>
        </p:spPr>
      </p:sp>
      <p:sp>
        <p:nvSpPr>
          <p:cNvPr id="5" name="Text 3"/>
          <p:cNvSpPr txBox="1"/>
          <p:nvPr/>
        </p:nvSpPr>
        <p:spPr>
          <a:xfrm>
            <a:off x="914400" y="1810512"/>
            <a:ext cx="4572000" cy="329184"/>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Softmax attention</a:t>
            </a:r>
            <a:endParaRPr lang="en-US" sz="1800" dirty="0"/>
          </a:p>
        </p:txBody>
      </p:sp>
      <p:sp>
        <p:nvSpPr>
          <p:cNvPr id="6" name="Text 4"/>
          <p:cNvSpPr txBox="1"/>
          <p:nvPr/>
        </p:nvSpPr>
        <p:spPr>
          <a:xfrm>
            <a:off x="914400" y="2231136"/>
            <a:ext cx="4663440" cy="365760"/>
          </a:xfrm>
          <a:prstGeom prst="rect">
            <a:avLst/>
          </a:prstGeom>
          <a:noFill/>
          <a:ln/>
        </p:spPr>
        <p:txBody>
          <a:bodyPr wrap="square" lIns="0" tIns="0" rIns="0" bIns="0" rtlCol="0" anchor="ctr"/>
          <a:lstStyle/>
          <a:p>
            <a:pPr indent="0" marL="0">
              <a:lnSpc>
                <a:spcPts val="2100"/>
              </a:lnSpc>
              <a:buNone/>
            </a:pPr>
            <a:r>
              <a:rPr lang="en-US" sz="1450" dirty="0">
                <a:solidFill>
                  <a:srgbClr val="1A1A2E"/>
                </a:solidFill>
                <a:latin typeface="Calibri" pitchFamily="34" charset="0"/>
                <a:ea typeface="Calibri" pitchFamily="34" charset="-122"/>
                <a:cs typeface="Calibri" pitchFamily="34" charset="-120"/>
              </a:rPr>
              <a:t>Recomputes over the full history at every position.</a:t>
            </a:r>
            <a:endParaRPr lang="en-US" sz="1450" dirty="0"/>
          </a:p>
        </p:txBody>
      </p:sp>
      <p:sp>
        <p:nvSpPr>
          <p:cNvPr id="7" name="Text 5"/>
          <p:cNvSpPr txBox="1"/>
          <p:nvPr/>
        </p:nvSpPr>
        <p:spPr>
          <a:xfrm>
            <a:off x="914400" y="2688336"/>
            <a:ext cx="4663440" cy="457200"/>
          </a:xfrm>
          <a:prstGeom prst="rect">
            <a:avLst/>
          </a:prstGeom>
          <a:noFill/>
          <a:ln/>
        </p:spPr>
        <p:txBody>
          <a:bodyPr wrap="square" lIns="0" tIns="0" rIns="0" bIns="0" rtlCol="0" anchor="ctr"/>
          <a:lstStyle/>
          <a:p>
            <a:pPr indent="0" marL="0">
              <a:lnSpc>
                <a:spcPts val="2100"/>
              </a:lnSpc>
              <a:buNone/>
            </a:pPr>
            <a:r>
              <a:rPr lang="en-US" sz="1400" dirty="0">
                <a:solidFill>
                  <a:srgbClr val="5C6378"/>
                </a:solidFill>
                <a:latin typeface="Calibri" pitchFamily="34" charset="0"/>
                <a:ea typeface="Calibri" pitchFamily="34" charset="-122"/>
                <a:cs typeface="Calibri" pitchFamily="34" charset="-120"/>
              </a:rPr>
              <a:t>Inference cost is quadratic in sequence length.</a:t>
            </a:r>
            <a:endParaRPr lang="en-US" sz="1400" dirty="0"/>
          </a:p>
        </p:txBody>
      </p:sp>
      <p:sp>
        <p:nvSpPr>
          <p:cNvPr id="8" name="Text 6"/>
          <p:cNvSpPr txBox="1"/>
          <p:nvPr/>
        </p:nvSpPr>
        <p:spPr>
          <a:xfrm>
            <a:off x="914400" y="3401568"/>
            <a:ext cx="4663440" cy="438912"/>
          </a:xfrm>
          <a:prstGeom prst="rect">
            <a:avLst/>
          </a:prstGeom>
          <a:noFill/>
          <a:ln/>
        </p:spPr>
        <p:txBody>
          <a:bodyPr wrap="square" lIns="0" tIns="0" rIns="0" bIns="0" rtlCol="0" anchor="ctr"/>
          <a:lstStyle/>
          <a:p>
            <a:pPr algn="ctr" indent="0" marL="0">
              <a:buNone/>
            </a:pPr>
            <a:r>
              <a:rPr lang="en-US" sz="2000" b="1" dirty="0">
                <a:solidFill>
                  <a:srgbClr val="21295C"/>
                </a:solidFill>
                <a:latin typeface="Calibri" pitchFamily="34" charset="0"/>
                <a:ea typeface="Calibri" pitchFamily="34" charset="-122"/>
                <a:cs typeface="Calibri" pitchFamily="34" charset="-120"/>
              </a:rPr>
              <a:t>O(T²)</a:t>
            </a:r>
            <a:endParaRPr lang="en-US" sz="2000" dirty="0"/>
          </a:p>
        </p:txBody>
      </p:sp>
      <p:sp>
        <p:nvSpPr>
          <p:cNvPr id="9" name="Shape 7"/>
          <p:cNvSpPr/>
          <p:nvPr/>
        </p:nvSpPr>
        <p:spPr>
          <a:xfrm>
            <a:off x="6446520" y="1572768"/>
            <a:ext cx="5349240" cy="2514600"/>
          </a:xfrm>
          <a:prstGeom prst="roundRect">
            <a:avLst>
              <a:gd name="adj" fmla="val 2182"/>
            </a:avLst>
          </a:prstGeom>
          <a:solidFill>
            <a:srgbClr val="EEF1F6"/>
          </a:solidFill>
          <a:ln w="12700">
            <a:solidFill>
              <a:srgbClr val="EEF1F6"/>
            </a:solidFill>
            <a:prstDash val="solid"/>
          </a:ln>
        </p:spPr>
      </p:sp>
      <p:sp>
        <p:nvSpPr>
          <p:cNvPr id="10" name="Text 8"/>
          <p:cNvSpPr txBox="1"/>
          <p:nvPr/>
        </p:nvSpPr>
        <p:spPr>
          <a:xfrm>
            <a:off x="6793992" y="1810512"/>
            <a:ext cx="4572000" cy="329184"/>
          </a:xfrm>
          <a:prstGeom prst="rect">
            <a:avLst/>
          </a:prstGeom>
          <a:noFill/>
          <a:ln/>
        </p:spPr>
        <p:txBody>
          <a:bodyPr wrap="square" lIns="0" tIns="0" rIns="0" bIns="0" rtlCol="0" anchor="ctr"/>
          <a:lstStyle/>
          <a:p>
            <a:pPr indent="0" marL="0">
              <a:buNone/>
            </a:pPr>
            <a:r>
              <a:rPr lang="en-US" sz="1800" b="1" dirty="0">
                <a:solidFill>
                  <a:srgbClr val="1C7293"/>
                </a:solidFill>
                <a:latin typeface="Calibri" pitchFamily="34" charset="0"/>
                <a:ea typeface="Calibri" pitchFamily="34" charset="-122"/>
                <a:cs typeface="Calibri" pitchFamily="34" charset="-120"/>
              </a:rPr>
              <a:t>Linear RNN</a:t>
            </a:r>
            <a:endParaRPr lang="en-US" sz="1800" dirty="0"/>
          </a:p>
        </p:txBody>
      </p:sp>
      <p:sp>
        <p:nvSpPr>
          <p:cNvPr id="11" name="Text 9"/>
          <p:cNvSpPr txBox="1"/>
          <p:nvPr/>
        </p:nvSpPr>
        <p:spPr>
          <a:xfrm>
            <a:off x="6793992" y="2231136"/>
            <a:ext cx="4663440" cy="365760"/>
          </a:xfrm>
          <a:prstGeom prst="rect">
            <a:avLst/>
          </a:prstGeom>
          <a:noFill/>
          <a:ln/>
        </p:spPr>
        <p:txBody>
          <a:bodyPr wrap="square" lIns="0" tIns="0" rIns="0" bIns="0" rtlCol="0" anchor="ctr"/>
          <a:lstStyle/>
          <a:p>
            <a:pPr indent="0" marL="0">
              <a:lnSpc>
                <a:spcPts val="2100"/>
              </a:lnSpc>
              <a:buNone/>
            </a:pPr>
            <a:r>
              <a:rPr lang="en-US" sz="1450" dirty="0">
                <a:solidFill>
                  <a:srgbClr val="1A1A2E"/>
                </a:solidFill>
                <a:latin typeface="Calibri" pitchFamily="34" charset="0"/>
                <a:ea typeface="Calibri" pitchFamily="34" charset="-122"/>
                <a:cs typeface="Calibri" pitchFamily="34" charset="-120"/>
              </a:rPr>
              <a:t>Maintains a fixed-size recurrent state.</a:t>
            </a:r>
            <a:endParaRPr lang="en-US" sz="1450" dirty="0"/>
          </a:p>
        </p:txBody>
      </p:sp>
      <p:sp>
        <p:nvSpPr>
          <p:cNvPr id="12" name="Text 10"/>
          <p:cNvSpPr txBox="1"/>
          <p:nvPr/>
        </p:nvSpPr>
        <p:spPr>
          <a:xfrm>
            <a:off x="6793992" y="2688336"/>
            <a:ext cx="4663440" cy="457200"/>
          </a:xfrm>
          <a:prstGeom prst="rect">
            <a:avLst/>
          </a:prstGeom>
          <a:noFill/>
          <a:ln/>
        </p:spPr>
        <p:txBody>
          <a:bodyPr wrap="square" lIns="0" tIns="0" rIns="0" bIns="0" rtlCol="0" anchor="ctr"/>
          <a:lstStyle/>
          <a:p>
            <a:pPr indent="0" marL="0">
              <a:lnSpc>
                <a:spcPts val="2100"/>
              </a:lnSpc>
              <a:buNone/>
            </a:pPr>
            <a:r>
              <a:rPr lang="en-US" sz="1400" dirty="0">
                <a:solidFill>
                  <a:srgbClr val="5C6378"/>
                </a:solidFill>
                <a:latin typeface="Calibri" pitchFamily="34" charset="0"/>
                <a:ea typeface="Calibri" pitchFamily="34" charset="-122"/>
                <a:cs typeface="Calibri" pitchFamily="34" charset="-120"/>
              </a:rPr>
              <a:t>Linear cost, but historically weaker at exactly this class of task.</a:t>
            </a:r>
            <a:endParaRPr lang="en-US" sz="1400" dirty="0"/>
          </a:p>
        </p:txBody>
      </p:sp>
      <p:sp>
        <p:nvSpPr>
          <p:cNvPr id="13" name="Text 11"/>
          <p:cNvSpPr txBox="1"/>
          <p:nvPr/>
        </p:nvSpPr>
        <p:spPr>
          <a:xfrm>
            <a:off x="6793992" y="3401568"/>
            <a:ext cx="4663440" cy="438912"/>
          </a:xfrm>
          <a:prstGeom prst="rect">
            <a:avLst/>
          </a:prstGeom>
          <a:noFill/>
          <a:ln/>
        </p:spPr>
        <p:txBody>
          <a:bodyPr wrap="square" lIns="0" tIns="0" rIns="0" bIns="0" rtlCol="0" anchor="ctr"/>
          <a:lstStyle/>
          <a:p>
            <a:pPr algn="ctr" indent="0" marL="0">
              <a:buNone/>
            </a:pPr>
            <a:r>
              <a:rPr lang="en-US" sz="2000" b="1" dirty="0">
                <a:solidFill>
                  <a:srgbClr val="21295C"/>
                </a:solidFill>
                <a:latin typeface="Calibri" pitchFamily="34" charset="0"/>
                <a:ea typeface="Calibri" pitchFamily="34" charset="-122"/>
                <a:cs typeface="Calibri" pitchFamily="34" charset="-120"/>
              </a:rPr>
              <a:t>O(T)</a:t>
            </a:r>
            <a:endParaRPr lang="en-US" sz="2000" dirty="0"/>
          </a:p>
        </p:txBody>
      </p:sp>
      <p:sp>
        <p:nvSpPr>
          <p:cNvPr id="14" name="Shape 12"/>
          <p:cNvSpPr/>
          <p:nvPr/>
        </p:nvSpPr>
        <p:spPr>
          <a:xfrm>
            <a:off x="566928" y="4343400"/>
            <a:ext cx="11027664" cy="1783080"/>
          </a:xfrm>
          <a:prstGeom prst="roundRect">
            <a:avLst>
              <a:gd name="adj" fmla="val 3077"/>
            </a:avLst>
          </a:prstGeom>
          <a:solidFill>
            <a:srgbClr val="FAF2E4"/>
          </a:solidFill>
          <a:ln w="12700">
            <a:solidFill>
              <a:srgbClr val="FAF2E4"/>
            </a:solidFill>
            <a:prstDash val="solid"/>
          </a:ln>
        </p:spPr>
      </p:sp>
      <p:sp>
        <p:nvSpPr>
          <p:cNvPr id="15" name="Text 13"/>
          <p:cNvSpPr txBox="1"/>
          <p:nvPr/>
        </p:nvSpPr>
        <p:spPr>
          <a:xfrm>
            <a:off x="950976" y="4572000"/>
            <a:ext cx="10241280" cy="777240"/>
          </a:xfrm>
          <a:prstGeom prst="rect">
            <a:avLst/>
          </a:prstGeom>
          <a:noFill/>
          <a:ln/>
        </p:spPr>
        <p:txBody>
          <a:bodyPr wrap="square" lIns="0" tIns="0" rIns="0" bIns="0" rtlCol="0" anchor="ctr"/>
          <a:lstStyle/>
          <a:p>
            <a:pPr indent="0" marL="0">
              <a:lnSpc>
                <a:spcPts val="2100"/>
              </a:lnSpc>
              <a:buNone/>
            </a:pPr>
            <a:r>
              <a:rPr lang="en-US" sz="1500" dirty="0">
                <a:solidFill>
                  <a:srgbClr val="1A1A2E"/>
                </a:solidFill>
                <a:latin typeface="Calibri" pitchFamily="34" charset="0"/>
                <a:ea typeface="Calibri" pitchFamily="34" charset="-122"/>
                <a:cs typeface="Calibri" pitchFamily="34" charset="-120"/>
              </a:rPr>
              <a:t>The expressivity of a linear RNN on state tracking is governed by the structure of its state-transition matrix. Recent work closes much of the gap by giving that matrix a richer structure — at a proportional cost in computation.</a:t>
            </a:r>
            <a:endParaRPr lang="en-US" sz="1500" dirty="0"/>
          </a:p>
        </p:txBody>
      </p:sp>
      <p:sp>
        <p:nvSpPr>
          <p:cNvPr id="16" name="Text 14"/>
          <p:cNvSpPr txBox="1"/>
          <p:nvPr/>
        </p:nvSpPr>
        <p:spPr>
          <a:xfrm>
            <a:off x="950976" y="5440680"/>
            <a:ext cx="10241280" cy="365760"/>
          </a:xfrm>
          <a:prstGeom prst="rect">
            <a:avLst/>
          </a:prstGeom>
          <a:noFill/>
          <a:ln/>
        </p:spPr>
        <p:txBody>
          <a:bodyPr wrap="square" lIns="0" tIns="0" rIns="0" bIns="0" rtlCol="0" anchor="ctr"/>
          <a:lstStyle/>
          <a:p>
            <a:pPr indent="0" marL="0">
              <a:lnSpc>
                <a:spcPts val="2100"/>
              </a:lnSpc>
              <a:buNone/>
            </a:pPr>
            <a:r>
              <a:rPr lang="en-US" sz="1500" b="1" dirty="0">
                <a:solidFill>
                  <a:srgbClr val="21295C"/>
                </a:solidFill>
                <a:latin typeface="Calibri" pitchFamily="34" charset="0"/>
                <a:ea typeface="Calibri" pitchFamily="34" charset="-122"/>
                <a:cs typeface="Calibri" pitchFamily="34" charset="-120"/>
              </a:rPr>
              <a:t>This project examines that cost, and asks whether it is being paid uniformly when it need not be.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PROBLEM SETTING</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DeltaProduct construction</a:t>
            </a:r>
            <a:endParaRPr lang="en-US" sz="3000" dirty="0"/>
          </a:p>
        </p:txBody>
      </p:sp>
      <p:sp>
        <p:nvSpPr>
          <p:cNvPr id="4" name="Text 2"/>
          <p:cNvSpPr txBox="1"/>
          <p:nvPr/>
        </p:nvSpPr>
        <p:spPr>
          <a:xfrm>
            <a:off x="566928" y="1554480"/>
            <a:ext cx="10881360" cy="292608"/>
          </a:xfrm>
          <a:prstGeom prst="rect">
            <a:avLst/>
          </a:prstGeom>
          <a:noFill/>
          <a:ln/>
        </p:spPr>
        <p:txBody>
          <a:bodyPr wrap="square" lIns="0" tIns="0" rIns="0" bIns="0" rtlCol="0" anchor="ctr"/>
          <a:lstStyle/>
          <a:p>
            <a:pPr indent="0" marL="0">
              <a:lnSpc>
                <a:spcPts val="2100"/>
              </a:lnSpc>
              <a:buNone/>
            </a:pPr>
            <a:r>
              <a:rPr lang="en-US" sz="1350" i="1" dirty="0">
                <a:solidFill>
                  <a:srgbClr val="5C6378"/>
                </a:solidFill>
                <a:latin typeface="Calibri" pitchFamily="34" charset="0"/>
                <a:ea typeface="Calibri" pitchFamily="34" charset="-122"/>
                <a:cs typeface="Calibri" pitchFamily="34" charset="-120"/>
              </a:rPr>
              <a:t>Siems, Carstensen, Zela, Hutter, Pontil &amp; Grazzi  —  NeurIPS 2025</a:t>
            </a:r>
            <a:endParaRPr lang="en-US" sz="1350" dirty="0"/>
          </a:p>
        </p:txBody>
      </p:sp>
      <p:sp>
        <p:nvSpPr>
          <p:cNvPr id="5" name="Shape 3"/>
          <p:cNvSpPr/>
          <p:nvPr/>
        </p:nvSpPr>
        <p:spPr>
          <a:xfrm>
            <a:off x="566928" y="1938528"/>
            <a:ext cx="11027664" cy="1005840"/>
          </a:xfrm>
          <a:prstGeom prst="roundRect">
            <a:avLst>
              <a:gd name="adj" fmla="val 5455"/>
            </a:avLst>
          </a:prstGeom>
          <a:solidFill>
            <a:srgbClr val="EEF1F6"/>
          </a:solidFill>
          <a:ln w="12700">
            <a:solidFill>
              <a:srgbClr val="EEF1F6"/>
            </a:solidFill>
            <a:prstDash val="solid"/>
          </a:ln>
        </p:spPr>
      </p:sp>
      <p:sp>
        <p:nvSpPr>
          <p:cNvPr id="6" name="Text 4"/>
          <p:cNvSpPr txBox="1"/>
          <p:nvPr/>
        </p:nvSpPr>
        <p:spPr>
          <a:xfrm>
            <a:off x="566928" y="2212848"/>
            <a:ext cx="11027664" cy="438912"/>
          </a:xfrm>
          <a:prstGeom prst="rect">
            <a:avLst/>
          </a:prstGeom>
          <a:noFill/>
          <a:ln/>
        </p:spPr>
        <p:txBody>
          <a:bodyPr wrap="square" lIns="0" tIns="0" rIns="0" bIns="0" rtlCol="0" anchor="ctr"/>
          <a:lstStyle/>
          <a:p>
            <a:pPr algn="ctr" indent="0" marL="0">
              <a:buNone/>
            </a:pPr>
            <a:r>
              <a:rPr lang="en-US" sz="1900" b="1" dirty="0">
                <a:solidFill>
                  <a:srgbClr val="21295C"/>
                </a:solidFill>
                <a:latin typeface="Calibri" pitchFamily="34" charset="0"/>
                <a:ea typeface="Calibri" pitchFamily="34" charset="-122"/>
                <a:cs typeface="Calibri" pitchFamily="34" charset="-120"/>
              </a:rPr>
              <a:t>Aₜ  =  ∏ᵢ₌₁…ₙₕ ( I − βᵢ kᵢ kᵢᵀ ) ,     ‖kᵢ‖ = 1 ,   βᵢ ∈ [0, 2]</a:t>
            </a:r>
            <a:endParaRPr lang="en-US" sz="1900" dirty="0"/>
          </a:p>
        </p:txBody>
      </p:sp>
      <p:sp>
        <p:nvSpPr>
          <p:cNvPr id="7" name="Text 5"/>
          <p:cNvSpPr txBox="1"/>
          <p:nvPr/>
        </p:nvSpPr>
        <p:spPr>
          <a:xfrm>
            <a:off x="566928" y="3154680"/>
            <a:ext cx="10881360" cy="502920"/>
          </a:xfrm>
          <a:prstGeom prst="rect">
            <a:avLst/>
          </a:prstGeom>
          <a:noFill/>
          <a:ln/>
        </p:spPr>
        <p:txBody>
          <a:bodyPr wrap="square" lIns="0" tIns="0" rIns="0" bIns="0" rtlCol="0" anchor="ctr"/>
          <a:lstStyle/>
          <a:p>
            <a:pPr indent="0" marL="0">
              <a:lnSpc>
                <a:spcPts val="2100"/>
              </a:lnSpc>
              <a:buNone/>
            </a:pPr>
            <a:r>
              <a:rPr lang="en-US" sz="1500" dirty="0">
                <a:solidFill>
                  <a:srgbClr val="1A1A2E"/>
                </a:solidFill>
                <a:latin typeface="Calibri" pitchFamily="34" charset="0"/>
                <a:ea typeface="Calibri" pitchFamily="34" charset="-122"/>
                <a:cs typeface="Calibri" pitchFamily="34" charset="-120"/>
              </a:rPr>
              <a:t>The state-transition matrix at each step is a product of nₕ generalized Householder factors. Each factor acts on a single direction and leaves its orthogonal complement fixed.</a:t>
            </a:r>
            <a:endParaRPr lang="en-US" sz="1500" dirty="0"/>
          </a:p>
        </p:txBody>
      </p:sp>
      <p:sp>
        <p:nvSpPr>
          <p:cNvPr id="8" name="Shape 6"/>
          <p:cNvSpPr/>
          <p:nvPr/>
        </p:nvSpPr>
        <p:spPr>
          <a:xfrm>
            <a:off x="612648" y="3822192"/>
            <a:ext cx="219456" cy="219456"/>
          </a:xfrm>
          <a:prstGeom prst="rect">
            <a:avLst/>
          </a:prstGeom>
          <a:solidFill>
            <a:srgbClr val="1C7293"/>
          </a:solidFill>
          <a:ln w="15875">
            <a:solidFill>
              <a:srgbClr val="1C7293"/>
            </a:solidFill>
            <a:prstDash val="solid"/>
          </a:ln>
        </p:spPr>
      </p:sp>
      <p:sp>
        <p:nvSpPr>
          <p:cNvPr id="9" name="Shape 7"/>
          <p:cNvSpPr/>
          <p:nvPr/>
        </p:nvSpPr>
        <p:spPr>
          <a:xfrm>
            <a:off x="930859" y="3822192"/>
            <a:ext cx="219456" cy="219456"/>
          </a:xfrm>
          <a:prstGeom prst="rect">
            <a:avLst/>
          </a:prstGeom>
          <a:solidFill>
            <a:srgbClr val="FFFFFF"/>
          </a:solidFill>
          <a:ln w="15875">
            <a:solidFill>
              <a:srgbClr val="B9C0CE"/>
            </a:solidFill>
            <a:prstDash val="solid"/>
          </a:ln>
        </p:spPr>
      </p:sp>
      <p:sp>
        <p:nvSpPr>
          <p:cNvPr id="10" name="Shape 8"/>
          <p:cNvSpPr/>
          <p:nvPr/>
        </p:nvSpPr>
        <p:spPr>
          <a:xfrm>
            <a:off x="1249070" y="3822192"/>
            <a:ext cx="219456" cy="219456"/>
          </a:xfrm>
          <a:prstGeom prst="rect">
            <a:avLst/>
          </a:prstGeom>
          <a:solidFill>
            <a:srgbClr val="FFFFFF"/>
          </a:solidFill>
          <a:ln w="15875">
            <a:solidFill>
              <a:srgbClr val="B9C0CE"/>
            </a:solidFill>
            <a:prstDash val="solid"/>
          </a:ln>
        </p:spPr>
      </p:sp>
      <p:sp>
        <p:nvSpPr>
          <p:cNvPr id="11" name="Shape 9"/>
          <p:cNvSpPr/>
          <p:nvPr/>
        </p:nvSpPr>
        <p:spPr>
          <a:xfrm>
            <a:off x="1567282" y="3822192"/>
            <a:ext cx="219456" cy="219456"/>
          </a:xfrm>
          <a:prstGeom prst="rect">
            <a:avLst/>
          </a:prstGeom>
          <a:solidFill>
            <a:srgbClr val="FFFFFF"/>
          </a:solidFill>
          <a:ln w="15875">
            <a:solidFill>
              <a:srgbClr val="B9C0CE"/>
            </a:solidFill>
            <a:prstDash val="solid"/>
          </a:ln>
        </p:spPr>
      </p:sp>
      <p:sp>
        <p:nvSpPr>
          <p:cNvPr id="12" name="Text 10"/>
          <p:cNvSpPr txBox="1"/>
          <p:nvPr/>
        </p:nvSpPr>
        <p:spPr>
          <a:xfrm>
            <a:off x="2487168" y="3767328"/>
            <a:ext cx="1463040" cy="292608"/>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nₕ = 1</a:t>
            </a:r>
            <a:endParaRPr lang="en-US" sz="1500" dirty="0"/>
          </a:p>
        </p:txBody>
      </p:sp>
      <p:sp>
        <p:nvSpPr>
          <p:cNvPr id="13" name="Text 11"/>
          <p:cNvSpPr txBox="1"/>
          <p:nvPr/>
        </p:nvSpPr>
        <p:spPr>
          <a:xfrm>
            <a:off x="4133088" y="3776472"/>
            <a:ext cx="7498080" cy="292608"/>
          </a:xfrm>
          <a:prstGeom prst="rect">
            <a:avLst/>
          </a:prstGeom>
          <a:noFill/>
          <a:ln/>
        </p:spPr>
        <p:txBody>
          <a:bodyPr wrap="square" lIns="0" tIns="0" rIns="0" bIns="0" rtlCol="0" anchor="ctr"/>
          <a:lstStyle/>
          <a:p>
            <a:pPr indent="0" marL="0">
              <a:lnSpc>
                <a:spcPts val="2100"/>
              </a:lnSpc>
              <a:buNone/>
            </a:pPr>
            <a:r>
              <a:rPr lang="en-US" sz="1450" dirty="0">
                <a:solidFill>
                  <a:srgbClr val="5C6378"/>
                </a:solidFill>
                <a:latin typeface="Calibri" pitchFamily="34" charset="0"/>
                <a:ea typeface="Calibri" pitchFamily="34" charset="-122"/>
                <a:cs typeface="Calibri" pitchFamily="34" charset="-120"/>
              </a:rPr>
              <a:t>reaches only the simplest transitions</a:t>
            </a:r>
            <a:endParaRPr lang="en-US" sz="1450" dirty="0"/>
          </a:p>
        </p:txBody>
      </p:sp>
      <p:sp>
        <p:nvSpPr>
          <p:cNvPr id="14" name="Shape 12"/>
          <p:cNvSpPr/>
          <p:nvPr/>
        </p:nvSpPr>
        <p:spPr>
          <a:xfrm>
            <a:off x="612648" y="4398264"/>
            <a:ext cx="219456" cy="219456"/>
          </a:xfrm>
          <a:prstGeom prst="rect">
            <a:avLst/>
          </a:prstGeom>
          <a:solidFill>
            <a:srgbClr val="1C7293"/>
          </a:solidFill>
          <a:ln w="15875">
            <a:solidFill>
              <a:srgbClr val="1C7293"/>
            </a:solidFill>
            <a:prstDash val="solid"/>
          </a:ln>
        </p:spPr>
      </p:sp>
      <p:sp>
        <p:nvSpPr>
          <p:cNvPr id="15" name="Shape 13"/>
          <p:cNvSpPr/>
          <p:nvPr/>
        </p:nvSpPr>
        <p:spPr>
          <a:xfrm>
            <a:off x="930859" y="4398264"/>
            <a:ext cx="219456" cy="219456"/>
          </a:xfrm>
          <a:prstGeom prst="rect">
            <a:avLst/>
          </a:prstGeom>
          <a:solidFill>
            <a:srgbClr val="1C7293"/>
          </a:solidFill>
          <a:ln w="15875">
            <a:solidFill>
              <a:srgbClr val="1C7293"/>
            </a:solidFill>
            <a:prstDash val="solid"/>
          </a:ln>
        </p:spPr>
      </p:sp>
      <p:sp>
        <p:nvSpPr>
          <p:cNvPr id="16" name="Shape 14"/>
          <p:cNvSpPr/>
          <p:nvPr/>
        </p:nvSpPr>
        <p:spPr>
          <a:xfrm>
            <a:off x="1249070" y="4398264"/>
            <a:ext cx="219456" cy="219456"/>
          </a:xfrm>
          <a:prstGeom prst="rect">
            <a:avLst/>
          </a:prstGeom>
          <a:solidFill>
            <a:srgbClr val="FFFFFF"/>
          </a:solidFill>
          <a:ln w="15875">
            <a:solidFill>
              <a:srgbClr val="B9C0CE"/>
            </a:solidFill>
            <a:prstDash val="solid"/>
          </a:ln>
        </p:spPr>
      </p:sp>
      <p:sp>
        <p:nvSpPr>
          <p:cNvPr id="17" name="Shape 15"/>
          <p:cNvSpPr/>
          <p:nvPr/>
        </p:nvSpPr>
        <p:spPr>
          <a:xfrm>
            <a:off x="1567282" y="4398264"/>
            <a:ext cx="219456" cy="219456"/>
          </a:xfrm>
          <a:prstGeom prst="rect">
            <a:avLst/>
          </a:prstGeom>
          <a:solidFill>
            <a:srgbClr val="FFFFFF"/>
          </a:solidFill>
          <a:ln w="15875">
            <a:solidFill>
              <a:srgbClr val="B9C0CE"/>
            </a:solidFill>
            <a:prstDash val="solid"/>
          </a:ln>
        </p:spPr>
      </p:sp>
      <p:sp>
        <p:nvSpPr>
          <p:cNvPr id="18" name="Text 16"/>
          <p:cNvSpPr txBox="1"/>
          <p:nvPr/>
        </p:nvSpPr>
        <p:spPr>
          <a:xfrm>
            <a:off x="2487168" y="4343400"/>
            <a:ext cx="1463040" cy="292608"/>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nₕ = 2</a:t>
            </a:r>
            <a:endParaRPr lang="en-US" sz="1500" dirty="0"/>
          </a:p>
        </p:txBody>
      </p:sp>
      <p:sp>
        <p:nvSpPr>
          <p:cNvPr id="19" name="Text 17"/>
          <p:cNvSpPr txBox="1"/>
          <p:nvPr/>
        </p:nvSpPr>
        <p:spPr>
          <a:xfrm>
            <a:off x="4133088" y="4352544"/>
            <a:ext cx="7498080" cy="292608"/>
          </a:xfrm>
          <a:prstGeom prst="rect">
            <a:avLst/>
          </a:prstGeom>
          <a:noFill/>
          <a:ln/>
        </p:spPr>
        <p:txBody>
          <a:bodyPr wrap="square" lIns="0" tIns="0" rIns="0" bIns="0" rtlCol="0" anchor="ctr"/>
          <a:lstStyle/>
          <a:p>
            <a:pPr indent="0" marL="0">
              <a:lnSpc>
                <a:spcPts val="2100"/>
              </a:lnSpc>
              <a:buNone/>
            </a:pPr>
            <a:r>
              <a:rPr lang="en-US" sz="1450" dirty="0">
                <a:solidFill>
                  <a:srgbClr val="5C6378"/>
                </a:solidFill>
                <a:latin typeface="Calibri" pitchFamily="34" charset="0"/>
                <a:ea typeface="Calibri" pitchFamily="34" charset="-122"/>
                <a:cs typeface="Calibri" pitchFamily="34" charset="-120"/>
              </a:rPr>
              <a:t>strictly more expressive</a:t>
            </a:r>
            <a:endParaRPr lang="en-US" sz="1450" dirty="0"/>
          </a:p>
        </p:txBody>
      </p:sp>
      <p:sp>
        <p:nvSpPr>
          <p:cNvPr id="20" name="Shape 18"/>
          <p:cNvSpPr/>
          <p:nvPr/>
        </p:nvSpPr>
        <p:spPr>
          <a:xfrm>
            <a:off x="612648" y="4974336"/>
            <a:ext cx="219456" cy="219456"/>
          </a:xfrm>
          <a:prstGeom prst="rect">
            <a:avLst/>
          </a:prstGeom>
          <a:solidFill>
            <a:srgbClr val="1C7293"/>
          </a:solidFill>
          <a:ln w="15875">
            <a:solidFill>
              <a:srgbClr val="1C7293"/>
            </a:solidFill>
            <a:prstDash val="solid"/>
          </a:ln>
        </p:spPr>
      </p:sp>
      <p:sp>
        <p:nvSpPr>
          <p:cNvPr id="21" name="Shape 19"/>
          <p:cNvSpPr/>
          <p:nvPr/>
        </p:nvSpPr>
        <p:spPr>
          <a:xfrm>
            <a:off x="930859" y="4974336"/>
            <a:ext cx="219456" cy="219456"/>
          </a:xfrm>
          <a:prstGeom prst="rect">
            <a:avLst/>
          </a:prstGeom>
          <a:solidFill>
            <a:srgbClr val="1C7293"/>
          </a:solidFill>
          <a:ln w="15875">
            <a:solidFill>
              <a:srgbClr val="1C7293"/>
            </a:solidFill>
            <a:prstDash val="solid"/>
          </a:ln>
        </p:spPr>
      </p:sp>
      <p:sp>
        <p:nvSpPr>
          <p:cNvPr id="22" name="Shape 20"/>
          <p:cNvSpPr/>
          <p:nvPr/>
        </p:nvSpPr>
        <p:spPr>
          <a:xfrm>
            <a:off x="1249070" y="4974336"/>
            <a:ext cx="219456" cy="219456"/>
          </a:xfrm>
          <a:prstGeom prst="rect">
            <a:avLst/>
          </a:prstGeom>
          <a:solidFill>
            <a:srgbClr val="1C7293"/>
          </a:solidFill>
          <a:ln w="15875">
            <a:solidFill>
              <a:srgbClr val="1C7293"/>
            </a:solidFill>
            <a:prstDash val="solid"/>
          </a:ln>
        </p:spPr>
      </p:sp>
      <p:sp>
        <p:nvSpPr>
          <p:cNvPr id="23" name="Shape 21"/>
          <p:cNvSpPr/>
          <p:nvPr/>
        </p:nvSpPr>
        <p:spPr>
          <a:xfrm>
            <a:off x="1567282" y="4974336"/>
            <a:ext cx="219456" cy="219456"/>
          </a:xfrm>
          <a:prstGeom prst="rect">
            <a:avLst/>
          </a:prstGeom>
          <a:solidFill>
            <a:srgbClr val="FFFFFF"/>
          </a:solidFill>
          <a:ln w="15875">
            <a:solidFill>
              <a:srgbClr val="B9C0CE"/>
            </a:solidFill>
            <a:prstDash val="solid"/>
          </a:ln>
        </p:spPr>
      </p:sp>
      <p:sp>
        <p:nvSpPr>
          <p:cNvPr id="24" name="Text 22"/>
          <p:cNvSpPr txBox="1"/>
          <p:nvPr/>
        </p:nvSpPr>
        <p:spPr>
          <a:xfrm>
            <a:off x="2487168" y="4919472"/>
            <a:ext cx="1463040" cy="292608"/>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nₕ = 3</a:t>
            </a:r>
            <a:endParaRPr lang="en-US" sz="1500" dirty="0"/>
          </a:p>
        </p:txBody>
      </p:sp>
      <p:sp>
        <p:nvSpPr>
          <p:cNvPr id="25" name="Text 23"/>
          <p:cNvSpPr txBox="1"/>
          <p:nvPr/>
        </p:nvSpPr>
        <p:spPr>
          <a:xfrm>
            <a:off x="4133088" y="4928616"/>
            <a:ext cx="7498080" cy="292608"/>
          </a:xfrm>
          <a:prstGeom prst="rect">
            <a:avLst/>
          </a:prstGeom>
          <a:noFill/>
          <a:ln/>
        </p:spPr>
        <p:txBody>
          <a:bodyPr wrap="square" lIns="0" tIns="0" rIns="0" bIns="0" rtlCol="0" anchor="ctr"/>
          <a:lstStyle/>
          <a:p>
            <a:pPr indent="0" marL="0">
              <a:lnSpc>
                <a:spcPts val="2100"/>
              </a:lnSpc>
              <a:buNone/>
            </a:pPr>
            <a:r>
              <a:rPr lang="en-US" sz="1450" dirty="0">
                <a:solidFill>
                  <a:srgbClr val="5C6378"/>
                </a:solidFill>
                <a:latin typeface="Calibri" pitchFamily="34" charset="0"/>
                <a:ea typeface="Calibri" pitchFamily="34" charset="-122"/>
                <a:cs typeface="Calibri" pitchFamily="34" charset="-120"/>
              </a:rPr>
              <a:t>strictly more expressive</a:t>
            </a:r>
            <a:endParaRPr lang="en-US" sz="1450" dirty="0"/>
          </a:p>
        </p:txBody>
      </p:sp>
      <p:sp>
        <p:nvSpPr>
          <p:cNvPr id="26" name="Shape 24"/>
          <p:cNvSpPr/>
          <p:nvPr/>
        </p:nvSpPr>
        <p:spPr>
          <a:xfrm>
            <a:off x="612648" y="5550408"/>
            <a:ext cx="219456" cy="219456"/>
          </a:xfrm>
          <a:prstGeom prst="rect">
            <a:avLst/>
          </a:prstGeom>
          <a:solidFill>
            <a:srgbClr val="1C7293"/>
          </a:solidFill>
          <a:ln w="15875">
            <a:solidFill>
              <a:srgbClr val="1C7293"/>
            </a:solidFill>
            <a:prstDash val="solid"/>
          </a:ln>
        </p:spPr>
      </p:sp>
      <p:sp>
        <p:nvSpPr>
          <p:cNvPr id="27" name="Shape 25"/>
          <p:cNvSpPr/>
          <p:nvPr/>
        </p:nvSpPr>
        <p:spPr>
          <a:xfrm>
            <a:off x="930859" y="5550408"/>
            <a:ext cx="219456" cy="219456"/>
          </a:xfrm>
          <a:prstGeom prst="rect">
            <a:avLst/>
          </a:prstGeom>
          <a:solidFill>
            <a:srgbClr val="1C7293"/>
          </a:solidFill>
          <a:ln w="15875">
            <a:solidFill>
              <a:srgbClr val="1C7293"/>
            </a:solidFill>
            <a:prstDash val="solid"/>
          </a:ln>
        </p:spPr>
      </p:sp>
      <p:sp>
        <p:nvSpPr>
          <p:cNvPr id="28" name="Shape 26"/>
          <p:cNvSpPr/>
          <p:nvPr/>
        </p:nvSpPr>
        <p:spPr>
          <a:xfrm>
            <a:off x="1249070" y="5550408"/>
            <a:ext cx="219456" cy="219456"/>
          </a:xfrm>
          <a:prstGeom prst="rect">
            <a:avLst/>
          </a:prstGeom>
          <a:solidFill>
            <a:srgbClr val="1C7293"/>
          </a:solidFill>
          <a:ln w="15875">
            <a:solidFill>
              <a:srgbClr val="1C7293"/>
            </a:solidFill>
            <a:prstDash val="solid"/>
          </a:ln>
        </p:spPr>
      </p:sp>
      <p:sp>
        <p:nvSpPr>
          <p:cNvPr id="29" name="Shape 27"/>
          <p:cNvSpPr/>
          <p:nvPr/>
        </p:nvSpPr>
        <p:spPr>
          <a:xfrm>
            <a:off x="1567282" y="5550408"/>
            <a:ext cx="219456" cy="219456"/>
          </a:xfrm>
          <a:prstGeom prst="rect">
            <a:avLst/>
          </a:prstGeom>
          <a:solidFill>
            <a:srgbClr val="1C7293"/>
          </a:solidFill>
          <a:ln w="15875">
            <a:solidFill>
              <a:srgbClr val="1C7293"/>
            </a:solidFill>
            <a:prstDash val="solid"/>
          </a:ln>
        </p:spPr>
      </p:sp>
      <p:sp>
        <p:nvSpPr>
          <p:cNvPr id="30" name="Text 28"/>
          <p:cNvSpPr txBox="1"/>
          <p:nvPr/>
        </p:nvSpPr>
        <p:spPr>
          <a:xfrm>
            <a:off x="2487168" y="5495544"/>
            <a:ext cx="1463040" cy="292608"/>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nₕ = 4</a:t>
            </a:r>
            <a:endParaRPr lang="en-US" sz="1500" dirty="0"/>
          </a:p>
        </p:txBody>
      </p:sp>
      <p:sp>
        <p:nvSpPr>
          <p:cNvPr id="31" name="Text 29"/>
          <p:cNvSpPr txBox="1"/>
          <p:nvPr/>
        </p:nvSpPr>
        <p:spPr>
          <a:xfrm>
            <a:off x="4133088" y="5504688"/>
            <a:ext cx="7498080" cy="292608"/>
          </a:xfrm>
          <a:prstGeom prst="rect">
            <a:avLst/>
          </a:prstGeom>
          <a:noFill/>
          <a:ln/>
        </p:spPr>
        <p:txBody>
          <a:bodyPr wrap="square" lIns="0" tIns="0" rIns="0" bIns="0" rtlCol="0" anchor="ctr"/>
          <a:lstStyle/>
          <a:p>
            <a:pPr indent="0" marL="0">
              <a:lnSpc>
                <a:spcPts val="2100"/>
              </a:lnSpc>
              <a:buNone/>
            </a:pPr>
            <a:r>
              <a:rPr lang="en-US" sz="1450" dirty="0">
                <a:solidFill>
                  <a:srgbClr val="5C6378"/>
                </a:solidFill>
                <a:latin typeface="Calibri" pitchFamily="34" charset="0"/>
                <a:ea typeface="Calibri" pitchFamily="34" charset="-122"/>
                <a:cs typeface="Calibri" pitchFamily="34" charset="-120"/>
              </a:rPr>
              <a:t>maximal for S₅ — and four times the computation per token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PROBLEM SETTING</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nₕ is a global hyperparameter</a:t>
            </a:r>
            <a:endParaRPr lang="en-US" sz="3000" dirty="0"/>
          </a:p>
        </p:txBody>
      </p:sp>
      <p:sp>
        <p:nvSpPr>
          <p:cNvPr id="4" name="Text 2"/>
          <p:cNvSpPr txBox="1"/>
          <p:nvPr/>
        </p:nvSpPr>
        <p:spPr>
          <a:xfrm>
            <a:off x="566928" y="1572768"/>
            <a:ext cx="10881360" cy="411480"/>
          </a:xfrm>
          <a:prstGeom prst="rect">
            <a:avLst/>
          </a:prstGeom>
          <a:noFill/>
          <a:ln/>
        </p:spPr>
        <p:txBody>
          <a:bodyPr wrap="square" lIns="0" tIns="0" rIns="0" bIns="0" rtlCol="0" anchor="ctr"/>
          <a:lstStyle/>
          <a:p>
            <a:pPr indent="0" marL="0">
              <a:lnSpc>
                <a:spcPts val="2100"/>
              </a:lnSpc>
              <a:buNone/>
            </a:pPr>
            <a:r>
              <a:rPr lang="en-US" sz="1550" dirty="0">
                <a:solidFill>
                  <a:srgbClr val="1A1A2E"/>
                </a:solidFill>
                <a:latin typeface="Calibri" pitchFamily="34" charset="0"/>
                <a:ea typeface="Calibri" pitchFamily="34" charset="-122"/>
                <a:cs typeface="Calibri" pitchFamily="34" charset="-120"/>
              </a:rPr>
              <a:t>It is fixed by hand before training and applied identically to every token, for the lifetime of the model.</a:t>
            </a:r>
            <a:endParaRPr lang="en-US" sz="1550" dirty="0"/>
          </a:p>
        </p:txBody>
      </p:sp>
      <p:sp>
        <p:nvSpPr>
          <p:cNvPr id="5" name="Shape 3"/>
          <p:cNvSpPr/>
          <p:nvPr/>
        </p:nvSpPr>
        <p:spPr>
          <a:xfrm>
            <a:off x="566928" y="2148840"/>
            <a:ext cx="5349240" cy="2103120"/>
          </a:xfrm>
          <a:prstGeom prst="roundRect">
            <a:avLst>
              <a:gd name="adj" fmla="val 2609"/>
            </a:avLst>
          </a:prstGeom>
          <a:solidFill>
            <a:srgbClr val="EEF1F6"/>
          </a:solidFill>
          <a:ln w="12700">
            <a:solidFill>
              <a:srgbClr val="EEF1F6"/>
            </a:solidFill>
            <a:prstDash val="solid"/>
          </a:ln>
        </p:spPr>
      </p:sp>
      <p:sp>
        <p:nvSpPr>
          <p:cNvPr id="6" name="Text 4"/>
          <p:cNvSpPr txBox="1"/>
          <p:nvPr/>
        </p:nvSpPr>
        <p:spPr>
          <a:xfrm>
            <a:off x="914400" y="2377440"/>
            <a:ext cx="4572000" cy="32004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Under-provisioned</a:t>
            </a:r>
            <a:endParaRPr lang="en-US" sz="1700" dirty="0"/>
          </a:p>
        </p:txBody>
      </p:sp>
      <p:sp>
        <p:nvSpPr>
          <p:cNvPr id="7" name="Text 5"/>
          <p:cNvSpPr txBox="1"/>
          <p:nvPr/>
        </p:nvSpPr>
        <p:spPr>
          <a:xfrm>
            <a:off x="914400" y="2816352"/>
            <a:ext cx="4663440" cy="1188720"/>
          </a:xfrm>
          <a:prstGeom prst="rect">
            <a:avLst/>
          </a:prstGeom>
          <a:noFill/>
          <a:ln/>
        </p:spPr>
        <p:txBody>
          <a:bodyPr wrap="square" lIns="0" tIns="0" rIns="0" bIns="0" rtlCol="0" anchor="ctr"/>
          <a:lstStyle/>
          <a:p>
            <a:pPr indent="0" marL="0">
              <a:lnSpc>
                <a:spcPts val="1900"/>
              </a:lnSpc>
              <a:buNone/>
            </a:pPr>
            <a:r>
              <a:rPr lang="en-US" sz="1400" dirty="0">
                <a:solidFill>
                  <a:srgbClr val="5C6378"/>
                </a:solidFill>
                <a:latin typeface="Calibri" pitchFamily="34" charset="0"/>
                <a:ea typeface="Calibri" pitchFamily="34" charset="-122"/>
                <a:cs typeface="Calibri" pitchFamily="34" charset="-120"/>
              </a:rPr>
              <a:t>The reachable transition set does not contain what the task requires. The model fails, and the failure is indistinguishable from an optimisation failure.</a:t>
            </a:r>
            <a:endParaRPr lang="en-US" sz="1400" dirty="0"/>
          </a:p>
        </p:txBody>
      </p:sp>
      <p:sp>
        <p:nvSpPr>
          <p:cNvPr id="8" name="Shape 6"/>
          <p:cNvSpPr/>
          <p:nvPr/>
        </p:nvSpPr>
        <p:spPr>
          <a:xfrm>
            <a:off x="6446520" y="2148840"/>
            <a:ext cx="5349240" cy="2103120"/>
          </a:xfrm>
          <a:prstGeom prst="roundRect">
            <a:avLst>
              <a:gd name="adj" fmla="val 2609"/>
            </a:avLst>
          </a:prstGeom>
          <a:solidFill>
            <a:srgbClr val="EEF1F6"/>
          </a:solidFill>
          <a:ln w="12700">
            <a:solidFill>
              <a:srgbClr val="EEF1F6"/>
            </a:solidFill>
            <a:prstDash val="solid"/>
          </a:ln>
        </p:spPr>
      </p:sp>
      <p:sp>
        <p:nvSpPr>
          <p:cNvPr id="9" name="Text 7"/>
          <p:cNvSpPr txBox="1"/>
          <p:nvPr/>
        </p:nvSpPr>
        <p:spPr>
          <a:xfrm>
            <a:off x="6793992" y="2377440"/>
            <a:ext cx="4572000" cy="32004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Over-provisioned</a:t>
            </a:r>
            <a:endParaRPr lang="en-US" sz="1700" dirty="0"/>
          </a:p>
        </p:txBody>
      </p:sp>
      <p:sp>
        <p:nvSpPr>
          <p:cNvPr id="10" name="Text 8"/>
          <p:cNvSpPr txBox="1"/>
          <p:nvPr/>
        </p:nvSpPr>
        <p:spPr>
          <a:xfrm>
            <a:off x="6793992" y="2816352"/>
            <a:ext cx="4663440" cy="1188720"/>
          </a:xfrm>
          <a:prstGeom prst="rect">
            <a:avLst/>
          </a:prstGeom>
          <a:noFill/>
          <a:ln/>
        </p:spPr>
        <p:txBody>
          <a:bodyPr wrap="square" lIns="0" tIns="0" rIns="0" bIns="0" rtlCol="0" anchor="ctr"/>
          <a:lstStyle/>
          <a:p>
            <a:pPr indent="0" marL="0">
              <a:lnSpc>
                <a:spcPts val="1900"/>
              </a:lnSpc>
              <a:buNone/>
            </a:pPr>
            <a:r>
              <a:rPr lang="en-US" sz="1400" dirty="0">
                <a:solidFill>
                  <a:srgbClr val="5C6378"/>
                </a:solidFill>
                <a:latin typeface="Calibri" pitchFamily="34" charset="0"/>
                <a:ea typeface="Calibri" pitchFamily="34" charset="-122"/>
                <a:cs typeface="Calibri" pitchFamily="34" charset="-120"/>
              </a:rPr>
              <a:t>Every token pays the worst-case cost, including the overwhelming majority that do not require it.</a:t>
            </a:r>
            <a:endParaRPr lang="en-US" sz="1400" dirty="0"/>
          </a:p>
        </p:txBody>
      </p:sp>
      <p:sp>
        <p:nvSpPr>
          <p:cNvPr id="11" name="Shape 9"/>
          <p:cNvSpPr/>
          <p:nvPr/>
        </p:nvSpPr>
        <p:spPr>
          <a:xfrm>
            <a:off x="566928" y="4526280"/>
            <a:ext cx="11027664" cy="1463040"/>
          </a:xfrm>
          <a:prstGeom prst="roundRect">
            <a:avLst>
              <a:gd name="adj" fmla="val 3750"/>
            </a:avLst>
          </a:prstGeom>
          <a:solidFill>
            <a:srgbClr val="FAF2E4"/>
          </a:solidFill>
          <a:ln w="12700">
            <a:solidFill>
              <a:srgbClr val="FAF2E4"/>
            </a:solidFill>
            <a:prstDash val="solid"/>
          </a:ln>
        </p:spPr>
      </p:sp>
      <p:sp>
        <p:nvSpPr>
          <p:cNvPr id="12" name="Text 10"/>
          <p:cNvSpPr txBox="1"/>
          <p:nvPr/>
        </p:nvSpPr>
        <p:spPr>
          <a:xfrm>
            <a:off x="950976" y="4709160"/>
            <a:ext cx="10241280" cy="274320"/>
          </a:xfrm>
          <a:prstGeom prst="rect">
            <a:avLst/>
          </a:prstGeom>
          <a:noFill/>
          <a:ln/>
        </p:spPr>
        <p:txBody>
          <a:bodyPr wrap="square" lIns="0" tIns="0" rIns="0" bIns="0" rtlCol="0" anchor="ctr"/>
          <a:lstStyle/>
          <a:p>
            <a:pPr indent="0" marL="0">
              <a:lnSpc>
                <a:spcPts val="2100"/>
              </a:lnSpc>
              <a:buNone/>
            </a:pPr>
            <a:r>
              <a:rPr lang="en-US" sz="1200" b="1" spc="150" kern="0" dirty="0">
                <a:solidFill>
                  <a:srgbClr val="B8791F"/>
                </a:solidFill>
                <a:latin typeface="Calibri" pitchFamily="34" charset="0"/>
                <a:ea typeface="Calibri" pitchFamily="34" charset="-122"/>
                <a:cs typeface="Calibri" pitchFamily="34" charset="-120"/>
              </a:rPr>
              <a:t>Research question</a:t>
            </a:r>
            <a:endParaRPr lang="en-US" sz="1200" dirty="0"/>
          </a:p>
        </p:txBody>
      </p:sp>
      <p:sp>
        <p:nvSpPr>
          <p:cNvPr id="13" name="Text 11"/>
          <p:cNvSpPr txBox="1"/>
          <p:nvPr/>
        </p:nvSpPr>
        <p:spPr>
          <a:xfrm>
            <a:off x="950976" y="5047488"/>
            <a:ext cx="10241280" cy="411480"/>
          </a:xfrm>
          <a:prstGeom prst="rect">
            <a:avLst/>
          </a:prstGeom>
          <a:noFill/>
          <a:ln/>
        </p:spPr>
        <p:txBody>
          <a:bodyPr wrap="square" lIns="0" tIns="0" rIns="0" bIns="0" rtlCol="0" anchor="ctr"/>
          <a:lstStyle/>
          <a:p>
            <a:pPr indent="0" marL="0">
              <a:lnSpc>
                <a:spcPts val="2100"/>
              </a:lnSpc>
              <a:buNone/>
            </a:pPr>
            <a:r>
              <a:rPr lang="en-US" sz="1800" b="1" dirty="0">
                <a:solidFill>
                  <a:srgbClr val="21295C"/>
                </a:solidFill>
                <a:latin typeface="Calibri" pitchFamily="34" charset="0"/>
                <a:ea typeface="Calibri" pitchFamily="34" charset="-122"/>
                <a:cs typeface="Calibri" pitchFamily="34" charset="-120"/>
              </a:rPr>
              <a:t>What is the minimum number of Householder factors a given token requires?</a:t>
            </a:r>
            <a:endParaRPr lang="en-US" sz="1800" dirty="0"/>
          </a:p>
        </p:txBody>
      </p:sp>
      <p:sp>
        <p:nvSpPr>
          <p:cNvPr id="14" name="Text 12"/>
          <p:cNvSpPr txBox="1"/>
          <p:nvPr/>
        </p:nvSpPr>
        <p:spPr>
          <a:xfrm>
            <a:off x="950976" y="5513832"/>
            <a:ext cx="10241280" cy="320040"/>
          </a:xfrm>
          <a:prstGeom prst="rect">
            <a:avLst/>
          </a:prstGeom>
          <a:noFill/>
          <a:ln/>
        </p:spPr>
        <p:txBody>
          <a:bodyPr wrap="square" lIns="0" tIns="0" rIns="0" bIns="0" rtlCol="0" anchor="ctr"/>
          <a:lstStyle/>
          <a:p>
            <a:pPr indent="0" marL="0">
              <a:lnSpc>
                <a:spcPts val="2100"/>
              </a:lnSpc>
              <a:buNone/>
            </a:pPr>
            <a:r>
              <a:rPr lang="en-US" sz="1400" dirty="0">
                <a:solidFill>
                  <a:srgbClr val="5C6378"/>
                </a:solidFill>
                <a:latin typeface="Calibri" pitchFamily="34" charset="0"/>
                <a:ea typeface="Calibri" pitchFamily="34" charset="-122"/>
                <a:cs typeface="Calibri" pitchFamily="34" charset="-120"/>
              </a:rPr>
              <a:t>Answering this determines whether a uniform budget is defensible.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COST MODEL</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classical cost model</a:t>
            </a:r>
            <a:endParaRPr lang="en-US" sz="3000" dirty="0"/>
          </a:p>
        </p:txBody>
      </p:sp>
      <p:sp>
        <p:nvSpPr>
          <p:cNvPr id="4" name="Text 2"/>
          <p:cNvSpPr txBox="1"/>
          <p:nvPr/>
        </p:nvSpPr>
        <p:spPr>
          <a:xfrm>
            <a:off x="566928" y="1536192"/>
            <a:ext cx="10881360" cy="384048"/>
          </a:xfrm>
          <a:prstGeom prst="rect">
            <a:avLst/>
          </a:prstGeom>
          <a:noFill/>
          <a:ln/>
        </p:spPr>
        <p:txBody>
          <a:bodyPr wrap="square" lIns="0" tIns="0" rIns="0" bIns="0" rtlCol="0" anchor="ctr"/>
          <a:lstStyle/>
          <a:p>
            <a:pPr indent="0" marL="0">
              <a:lnSpc>
                <a:spcPts val="2100"/>
              </a:lnSpc>
              <a:buNone/>
            </a:pPr>
            <a:r>
              <a:rPr lang="en-US" sz="1500" dirty="0">
                <a:solidFill>
                  <a:srgbClr val="1A1A2E"/>
                </a:solidFill>
                <a:latin typeface="Calibri" pitchFamily="34" charset="0"/>
                <a:ea typeface="Calibri" pitchFamily="34" charset="-122"/>
                <a:cs typeface="Calibri" pitchFamily="34" charset="-120"/>
              </a:rPr>
              <a:t>For a permutation P, the transposition length ℓ(P) is the minimum number of transpositions whose product is P.</a:t>
            </a:r>
            <a:endParaRPr lang="en-US" sz="1500" dirty="0"/>
          </a:p>
        </p:txBody>
      </p:sp>
      <p:sp>
        <p:nvSpPr>
          <p:cNvPr id="5" name="Shape 3"/>
          <p:cNvSpPr/>
          <p:nvPr/>
        </p:nvSpPr>
        <p:spPr>
          <a:xfrm>
            <a:off x="566928" y="2011680"/>
            <a:ext cx="11027664" cy="1572768"/>
          </a:xfrm>
          <a:prstGeom prst="roundRect">
            <a:avLst>
              <a:gd name="adj" fmla="val 3488"/>
            </a:avLst>
          </a:prstGeom>
          <a:solidFill>
            <a:srgbClr val="EEF1F6"/>
          </a:solidFill>
          <a:ln w="12700">
            <a:solidFill>
              <a:srgbClr val="EEF1F6"/>
            </a:solidFill>
            <a:prstDash val="solid"/>
          </a:ln>
        </p:spPr>
      </p:sp>
      <p:sp>
        <p:nvSpPr>
          <p:cNvPr id="6" name="Text 4"/>
          <p:cNvSpPr txBox="1"/>
          <p:nvPr/>
        </p:nvSpPr>
        <p:spPr>
          <a:xfrm>
            <a:off x="566928" y="2231136"/>
            <a:ext cx="11027664" cy="438912"/>
          </a:xfrm>
          <a:prstGeom prst="rect">
            <a:avLst/>
          </a:prstGeom>
          <a:noFill/>
          <a:ln/>
        </p:spPr>
        <p:txBody>
          <a:bodyPr wrap="square" lIns="0" tIns="0" rIns="0" bIns="0"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rank( P − I )  =  n − c(P)  =  ℓ(P)          and each factor is a rank-1 perturbation of I</a:t>
            </a:r>
            <a:endParaRPr lang="en-US" sz="1600" dirty="0"/>
          </a:p>
        </p:txBody>
      </p:sp>
      <p:sp>
        <p:nvSpPr>
          <p:cNvPr id="7" name="Text 5"/>
          <p:cNvSpPr txBox="1"/>
          <p:nvPr/>
        </p:nvSpPr>
        <p:spPr>
          <a:xfrm>
            <a:off x="566928" y="2743200"/>
            <a:ext cx="11027664" cy="438912"/>
          </a:xfrm>
          <a:prstGeom prst="rect">
            <a:avLst/>
          </a:prstGeom>
          <a:noFill/>
          <a:ln/>
        </p:spPr>
        <p:txBody>
          <a:bodyPr wrap="square" lIns="0" tIns="0" rIns="0" bIns="0" rtlCol="0" anchor="ctr"/>
          <a:lstStyle/>
          <a:p>
            <a:pPr algn="ctr" indent="0" marL="0">
              <a:buNone/>
            </a:pPr>
            <a:r>
              <a:rPr lang="en-US" sz="1900" b="1" dirty="0">
                <a:solidFill>
                  <a:srgbClr val="21295C"/>
                </a:solidFill>
                <a:latin typeface="Calibri" pitchFamily="34" charset="0"/>
                <a:ea typeface="Calibri" pitchFamily="34" charset="-122"/>
                <a:cs typeface="Calibri" pitchFamily="34" charset="-120"/>
              </a:rPr>
              <a:t>⟹    rank( A − I )  ≤  K        ⟹        K  ≥  ℓ</a:t>
            </a:r>
            <a:endParaRPr lang="en-US" sz="1900" dirty="0"/>
          </a:p>
        </p:txBody>
      </p:sp>
      <p:sp>
        <p:nvSpPr>
          <p:cNvPr id="8" name="Text 6"/>
          <p:cNvSpPr txBox="1"/>
          <p:nvPr/>
        </p:nvSpPr>
        <p:spPr>
          <a:xfrm>
            <a:off x="566928" y="3657600"/>
            <a:ext cx="10881360" cy="292608"/>
          </a:xfrm>
          <a:prstGeom prst="rect">
            <a:avLst/>
          </a:prstGeom>
          <a:noFill/>
          <a:ln/>
        </p:spPr>
        <p:txBody>
          <a:bodyPr wrap="square" lIns="0" tIns="0" rIns="0" bIns="0" rtlCol="0" anchor="ctr"/>
          <a:lstStyle/>
          <a:p>
            <a:pPr indent="0" marL="0">
              <a:lnSpc>
                <a:spcPts val="2100"/>
              </a:lnSpc>
              <a:buNone/>
            </a:pPr>
            <a:r>
              <a:rPr lang="en-US" sz="1300" i="1" dirty="0">
                <a:solidFill>
                  <a:srgbClr val="5C6378"/>
                </a:solidFill>
                <a:latin typeface="Calibri" pitchFamily="34" charset="0"/>
                <a:ea typeface="Calibri" pitchFamily="34" charset="-122"/>
                <a:cs typeface="Calibri" pitchFamily="34" charset="-120"/>
              </a:rPr>
              <a:t>c(P) is the number of cycles of P. The bound holds for every β, free or pinned.</a:t>
            </a:r>
            <a:endParaRPr lang="en-US" sz="1300" dirty="0"/>
          </a:p>
        </p:txBody>
      </p:sp>
      <p:sp>
        <p:nvSpPr>
          <p:cNvPr id="9" name="Text 7"/>
          <p:cNvSpPr txBox="1"/>
          <p:nvPr/>
        </p:nvSpPr>
        <p:spPr>
          <a:xfrm>
            <a:off x="658368" y="4160520"/>
            <a:ext cx="384048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Token</a:t>
            </a:r>
            <a:endParaRPr lang="en-US" sz="1250" dirty="0"/>
          </a:p>
        </p:txBody>
      </p:sp>
      <p:sp>
        <p:nvSpPr>
          <p:cNvPr id="10" name="Text 8"/>
          <p:cNvSpPr txBox="1"/>
          <p:nvPr/>
        </p:nvSpPr>
        <p:spPr>
          <a:xfrm>
            <a:off x="4498848" y="4160520"/>
            <a:ext cx="109728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ℓ</a:t>
            </a:r>
            <a:endParaRPr lang="en-US" sz="1250" dirty="0"/>
          </a:p>
        </p:txBody>
      </p:sp>
      <p:sp>
        <p:nvSpPr>
          <p:cNvPr id="11" name="Text 9"/>
          <p:cNvSpPr txBox="1"/>
          <p:nvPr/>
        </p:nvSpPr>
        <p:spPr>
          <a:xfrm>
            <a:off x="5596128" y="4160520"/>
            <a:ext cx="274320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Factors required</a:t>
            </a:r>
            <a:endParaRPr lang="en-US" sz="1250" dirty="0"/>
          </a:p>
        </p:txBody>
      </p:sp>
      <p:sp>
        <p:nvSpPr>
          <p:cNvPr id="12" name="Text 10"/>
          <p:cNvSpPr txBox="1"/>
          <p:nvPr/>
        </p:nvSpPr>
        <p:spPr>
          <a:xfrm>
            <a:off x="658368" y="4544568"/>
            <a:ext cx="384048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a transposition</a:t>
            </a:r>
            <a:endParaRPr lang="en-US" sz="1450" dirty="0"/>
          </a:p>
        </p:txBody>
      </p:sp>
      <p:sp>
        <p:nvSpPr>
          <p:cNvPr id="13" name="Text 11"/>
          <p:cNvSpPr txBox="1"/>
          <p:nvPr/>
        </p:nvSpPr>
        <p:spPr>
          <a:xfrm>
            <a:off x="4498848" y="4544568"/>
            <a:ext cx="109728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a:t>
            </a:r>
            <a:endParaRPr lang="en-US" sz="1450" dirty="0"/>
          </a:p>
        </p:txBody>
      </p:sp>
      <p:sp>
        <p:nvSpPr>
          <p:cNvPr id="14" name="Text 12"/>
          <p:cNvSpPr txBox="1"/>
          <p:nvPr/>
        </p:nvSpPr>
        <p:spPr>
          <a:xfrm>
            <a:off x="5596128" y="4544568"/>
            <a:ext cx="2743200" cy="310896"/>
          </a:xfrm>
          <a:prstGeom prst="rect">
            <a:avLst/>
          </a:prstGeom>
          <a:noFill/>
          <a:ln/>
        </p:spPr>
        <p:txBody>
          <a:bodyPr wrap="square" lIns="0" tIns="0" rIns="0" bIns="0" rtlCol="0" anchor="ctr"/>
          <a:lstStyle/>
          <a:p>
            <a:pPr indent="0" marL="0">
              <a:buNone/>
            </a:pPr>
            <a:endParaRPr lang="en-US" sz="1450" dirty="0"/>
          </a:p>
        </p:txBody>
      </p:sp>
      <p:sp>
        <p:nvSpPr>
          <p:cNvPr id="15" name="Text 13"/>
          <p:cNvSpPr txBox="1"/>
          <p:nvPr/>
        </p:nvSpPr>
        <p:spPr>
          <a:xfrm>
            <a:off x="658368" y="5111496"/>
            <a:ext cx="384048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a 5-cycle</a:t>
            </a:r>
            <a:endParaRPr lang="en-US" sz="1450" dirty="0"/>
          </a:p>
        </p:txBody>
      </p:sp>
      <p:sp>
        <p:nvSpPr>
          <p:cNvPr id="16" name="Text 14"/>
          <p:cNvSpPr txBox="1"/>
          <p:nvPr/>
        </p:nvSpPr>
        <p:spPr>
          <a:xfrm>
            <a:off x="4498848" y="5111496"/>
            <a:ext cx="109728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4</a:t>
            </a:r>
            <a:endParaRPr lang="en-US" sz="1450" dirty="0"/>
          </a:p>
        </p:txBody>
      </p:sp>
      <p:sp>
        <p:nvSpPr>
          <p:cNvPr id="17" name="Text 15"/>
          <p:cNvSpPr txBox="1"/>
          <p:nvPr/>
        </p:nvSpPr>
        <p:spPr>
          <a:xfrm>
            <a:off x="5596128" y="5111496"/>
            <a:ext cx="2743200" cy="310896"/>
          </a:xfrm>
          <a:prstGeom prst="rect">
            <a:avLst/>
          </a:prstGeom>
          <a:noFill/>
          <a:ln/>
        </p:spPr>
        <p:txBody>
          <a:bodyPr wrap="square" lIns="0" tIns="0" rIns="0" bIns="0" rtlCol="0" anchor="ctr"/>
          <a:lstStyle/>
          <a:p>
            <a:pPr indent="0" marL="0">
              <a:buNone/>
            </a:pPr>
            <a:endParaRPr lang="en-US" sz="1450" dirty="0"/>
          </a:p>
        </p:txBody>
      </p:sp>
      <p:sp>
        <p:nvSpPr>
          <p:cNvPr id="18" name="Shape 16"/>
          <p:cNvSpPr/>
          <p:nvPr/>
        </p:nvSpPr>
        <p:spPr>
          <a:xfrm>
            <a:off x="5596128" y="4572000"/>
            <a:ext cx="219456" cy="219456"/>
          </a:xfrm>
          <a:prstGeom prst="rect">
            <a:avLst/>
          </a:prstGeom>
          <a:solidFill>
            <a:srgbClr val="1C7293"/>
          </a:solidFill>
          <a:ln w="15875">
            <a:solidFill>
              <a:srgbClr val="1C7293"/>
            </a:solidFill>
            <a:prstDash val="solid"/>
          </a:ln>
        </p:spPr>
      </p:sp>
      <p:sp>
        <p:nvSpPr>
          <p:cNvPr id="19" name="Shape 17"/>
          <p:cNvSpPr/>
          <p:nvPr/>
        </p:nvSpPr>
        <p:spPr>
          <a:xfrm>
            <a:off x="5914339" y="4572000"/>
            <a:ext cx="219456" cy="219456"/>
          </a:xfrm>
          <a:prstGeom prst="rect">
            <a:avLst/>
          </a:prstGeom>
          <a:solidFill>
            <a:srgbClr val="FFFFFF"/>
          </a:solidFill>
          <a:ln w="15875">
            <a:solidFill>
              <a:srgbClr val="B9C0CE"/>
            </a:solidFill>
            <a:prstDash val="solid"/>
          </a:ln>
        </p:spPr>
      </p:sp>
      <p:sp>
        <p:nvSpPr>
          <p:cNvPr id="20" name="Shape 18"/>
          <p:cNvSpPr/>
          <p:nvPr/>
        </p:nvSpPr>
        <p:spPr>
          <a:xfrm>
            <a:off x="6232550" y="4572000"/>
            <a:ext cx="219456" cy="219456"/>
          </a:xfrm>
          <a:prstGeom prst="rect">
            <a:avLst/>
          </a:prstGeom>
          <a:solidFill>
            <a:srgbClr val="FFFFFF"/>
          </a:solidFill>
          <a:ln w="15875">
            <a:solidFill>
              <a:srgbClr val="B9C0CE"/>
            </a:solidFill>
            <a:prstDash val="solid"/>
          </a:ln>
        </p:spPr>
      </p:sp>
      <p:sp>
        <p:nvSpPr>
          <p:cNvPr id="21" name="Shape 19"/>
          <p:cNvSpPr/>
          <p:nvPr/>
        </p:nvSpPr>
        <p:spPr>
          <a:xfrm>
            <a:off x="6550762" y="4572000"/>
            <a:ext cx="219456" cy="219456"/>
          </a:xfrm>
          <a:prstGeom prst="rect">
            <a:avLst/>
          </a:prstGeom>
          <a:solidFill>
            <a:srgbClr val="FFFFFF"/>
          </a:solidFill>
          <a:ln w="15875">
            <a:solidFill>
              <a:srgbClr val="B9C0CE"/>
            </a:solidFill>
            <a:prstDash val="solid"/>
          </a:ln>
        </p:spPr>
      </p:sp>
      <p:sp>
        <p:nvSpPr>
          <p:cNvPr id="22" name="Shape 20"/>
          <p:cNvSpPr/>
          <p:nvPr/>
        </p:nvSpPr>
        <p:spPr>
          <a:xfrm>
            <a:off x="5596128" y="5138928"/>
            <a:ext cx="219456" cy="219456"/>
          </a:xfrm>
          <a:prstGeom prst="rect">
            <a:avLst/>
          </a:prstGeom>
          <a:solidFill>
            <a:srgbClr val="1C7293"/>
          </a:solidFill>
          <a:ln w="15875">
            <a:solidFill>
              <a:srgbClr val="1C7293"/>
            </a:solidFill>
            <a:prstDash val="solid"/>
          </a:ln>
        </p:spPr>
      </p:sp>
      <p:sp>
        <p:nvSpPr>
          <p:cNvPr id="23" name="Shape 21"/>
          <p:cNvSpPr/>
          <p:nvPr/>
        </p:nvSpPr>
        <p:spPr>
          <a:xfrm>
            <a:off x="5914339" y="5138928"/>
            <a:ext cx="219456" cy="219456"/>
          </a:xfrm>
          <a:prstGeom prst="rect">
            <a:avLst/>
          </a:prstGeom>
          <a:solidFill>
            <a:srgbClr val="1C7293"/>
          </a:solidFill>
          <a:ln w="15875">
            <a:solidFill>
              <a:srgbClr val="1C7293"/>
            </a:solidFill>
            <a:prstDash val="solid"/>
          </a:ln>
        </p:spPr>
      </p:sp>
      <p:sp>
        <p:nvSpPr>
          <p:cNvPr id="24" name="Shape 22"/>
          <p:cNvSpPr/>
          <p:nvPr/>
        </p:nvSpPr>
        <p:spPr>
          <a:xfrm>
            <a:off x="6232550" y="5138928"/>
            <a:ext cx="219456" cy="219456"/>
          </a:xfrm>
          <a:prstGeom prst="rect">
            <a:avLst/>
          </a:prstGeom>
          <a:solidFill>
            <a:srgbClr val="1C7293"/>
          </a:solidFill>
          <a:ln w="15875">
            <a:solidFill>
              <a:srgbClr val="1C7293"/>
            </a:solidFill>
            <a:prstDash val="solid"/>
          </a:ln>
        </p:spPr>
      </p:sp>
      <p:sp>
        <p:nvSpPr>
          <p:cNvPr id="25" name="Shape 23"/>
          <p:cNvSpPr/>
          <p:nvPr/>
        </p:nvSpPr>
        <p:spPr>
          <a:xfrm>
            <a:off x="6550762" y="5138928"/>
            <a:ext cx="219456" cy="219456"/>
          </a:xfrm>
          <a:prstGeom prst="rect">
            <a:avLst/>
          </a:prstGeom>
          <a:solidFill>
            <a:srgbClr val="1C7293"/>
          </a:solidFill>
          <a:ln w="15875">
            <a:solidFill>
              <a:srgbClr val="1C7293"/>
            </a:solidFill>
            <a:prstDash val="solid"/>
          </a:ln>
        </p:spPr>
      </p:sp>
      <p:sp>
        <p:nvSpPr>
          <p:cNvPr id="26" name="Shape 24"/>
          <p:cNvSpPr/>
          <p:nvPr/>
        </p:nvSpPr>
        <p:spPr>
          <a:xfrm>
            <a:off x="7863840" y="4114800"/>
            <a:ext cx="3712464" cy="1737360"/>
          </a:xfrm>
          <a:prstGeom prst="roundRect">
            <a:avLst>
              <a:gd name="adj" fmla="val 3158"/>
            </a:avLst>
          </a:prstGeom>
          <a:solidFill>
            <a:srgbClr val="FAF2E4"/>
          </a:solidFill>
          <a:ln w="12700">
            <a:solidFill>
              <a:srgbClr val="FAF2E4"/>
            </a:solidFill>
            <a:prstDash val="solid"/>
          </a:ln>
        </p:spPr>
      </p:sp>
      <p:sp>
        <p:nvSpPr>
          <p:cNvPr id="27" name="Text 25"/>
          <p:cNvSpPr txBox="1"/>
          <p:nvPr/>
        </p:nvSpPr>
        <p:spPr>
          <a:xfrm>
            <a:off x="8183880" y="4389120"/>
            <a:ext cx="3108960" cy="640080"/>
          </a:xfrm>
          <a:prstGeom prst="rect">
            <a:avLst/>
          </a:prstGeom>
          <a:noFill/>
          <a:ln/>
        </p:spPr>
        <p:txBody>
          <a:bodyPr wrap="square" lIns="0" tIns="0" rIns="0" bIns="0" rtlCol="0" anchor="ctr"/>
          <a:lstStyle/>
          <a:p>
            <a:pPr indent="0" marL="0">
              <a:lnSpc>
                <a:spcPts val="2100"/>
              </a:lnSpc>
              <a:buNone/>
            </a:pPr>
            <a:r>
              <a:rPr lang="en-US" sz="1600" b="1" dirty="0">
                <a:solidFill>
                  <a:srgbClr val="21295C"/>
                </a:solidFill>
                <a:latin typeface="Calibri" pitchFamily="34" charset="0"/>
                <a:ea typeface="Calibri" pitchFamily="34" charset="-122"/>
                <a:cs typeface="Calibri" pitchFamily="34" charset="-120"/>
              </a:rPr>
              <a:t>Provision nₕ = 4 and the task is representable.</a:t>
            </a:r>
            <a:endParaRPr lang="en-US" sz="1600" dirty="0"/>
          </a:p>
        </p:txBody>
      </p:sp>
      <p:sp>
        <p:nvSpPr>
          <p:cNvPr id="28" name="Text 26"/>
          <p:cNvSpPr txBox="1"/>
          <p:nvPr/>
        </p:nvSpPr>
        <p:spPr>
          <a:xfrm>
            <a:off x="8183880" y="5120640"/>
            <a:ext cx="3108960" cy="54864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We proved this bound ourselves, by construction, to 1.2 × 10⁻¹⁵.</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COST MODEL</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An experimental contradiction</a:t>
            </a:r>
            <a:endParaRPr lang="en-US" sz="3000" dirty="0"/>
          </a:p>
        </p:txBody>
      </p:sp>
      <p:sp>
        <p:nvSpPr>
          <p:cNvPr id="4" name="Text 2"/>
          <p:cNvSpPr txBox="1"/>
          <p:nvPr/>
        </p:nvSpPr>
        <p:spPr>
          <a:xfrm>
            <a:off x="566928" y="1554480"/>
            <a:ext cx="10881360" cy="411480"/>
          </a:xfrm>
          <a:prstGeom prst="rect">
            <a:avLst/>
          </a:prstGeom>
          <a:noFill/>
          <a:ln/>
        </p:spPr>
        <p:txBody>
          <a:bodyPr wrap="square" lIns="0" tIns="0" rIns="0" bIns="0" rtlCol="0" anchor="ctr"/>
          <a:lstStyle/>
          <a:p>
            <a:pPr indent="0" marL="0">
              <a:lnSpc>
                <a:spcPts val="2100"/>
              </a:lnSpc>
              <a:buNone/>
            </a:pPr>
            <a:r>
              <a:rPr lang="en-US" sz="1500" dirty="0">
                <a:solidFill>
                  <a:srgbClr val="1A1A2E"/>
                </a:solidFill>
                <a:latin typeface="Calibri" pitchFamily="34" charset="0"/>
                <a:ea typeface="Calibri" pitchFamily="34" charset="-122"/>
                <a:cs typeface="Calibri" pitchFamily="34" charset="-120"/>
              </a:rPr>
              <a:t>Alphabet: the 24 five-cycles of S₅, every token of transposition length 4. Fixed-order arms, identical configuration.</a:t>
            </a:r>
            <a:endParaRPr lang="en-US" sz="1500" dirty="0"/>
          </a:p>
        </p:txBody>
      </p:sp>
      <p:sp>
        <p:nvSpPr>
          <p:cNvPr id="5" name="Shape 3"/>
          <p:cNvSpPr/>
          <p:nvPr/>
        </p:nvSpPr>
        <p:spPr>
          <a:xfrm>
            <a:off x="566928" y="2148840"/>
            <a:ext cx="2615184" cy="2057400"/>
          </a:xfrm>
          <a:prstGeom prst="roundRect">
            <a:avLst>
              <a:gd name="adj" fmla="val 2667"/>
            </a:avLst>
          </a:prstGeom>
          <a:solidFill>
            <a:srgbClr val="EEF1F6"/>
          </a:solidFill>
          <a:ln w="12700">
            <a:solidFill>
              <a:srgbClr val="EEF1F6"/>
            </a:solidFill>
            <a:prstDash val="solid"/>
          </a:ln>
        </p:spPr>
      </p:sp>
      <p:sp>
        <p:nvSpPr>
          <p:cNvPr id="6" name="Text 4"/>
          <p:cNvSpPr txBox="1"/>
          <p:nvPr/>
        </p:nvSpPr>
        <p:spPr>
          <a:xfrm>
            <a:off x="822960" y="2359152"/>
            <a:ext cx="2103120" cy="292608"/>
          </a:xfrm>
          <a:prstGeom prst="rect">
            <a:avLst/>
          </a:prstGeom>
          <a:noFill/>
          <a:ln/>
        </p:spPr>
        <p:txBody>
          <a:bodyPr wrap="square" lIns="0" tIns="0" rIns="0" bIns="0" rtlCol="0" anchor="ctr"/>
          <a:lstStyle/>
          <a:p>
            <a:pPr indent="0" marL="0">
              <a:lnSpc>
                <a:spcPts val="2100"/>
              </a:lnSpc>
              <a:buNone/>
            </a:pPr>
            <a:r>
              <a:rPr lang="en-US" sz="1600" b="1" dirty="0">
                <a:solidFill>
                  <a:srgbClr val="21295C"/>
                </a:solidFill>
                <a:latin typeface="Calibri" pitchFamily="34" charset="0"/>
                <a:ea typeface="Calibri" pitchFamily="34" charset="-122"/>
                <a:cs typeface="Calibri" pitchFamily="34" charset="-120"/>
              </a:rPr>
              <a:t>nₕ = 1</a:t>
            </a:r>
            <a:endParaRPr lang="en-US" sz="1600" dirty="0"/>
          </a:p>
        </p:txBody>
      </p:sp>
      <p:sp>
        <p:nvSpPr>
          <p:cNvPr id="7" name="Shape 5"/>
          <p:cNvSpPr/>
          <p:nvPr/>
        </p:nvSpPr>
        <p:spPr>
          <a:xfrm>
            <a:off x="822960" y="2788920"/>
            <a:ext cx="192024" cy="192024"/>
          </a:xfrm>
          <a:prstGeom prst="rect">
            <a:avLst/>
          </a:prstGeom>
          <a:solidFill>
            <a:srgbClr val="1C7293"/>
          </a:solidFill>
          <a:ln w="15875">
            <a:solidFill>
              <a:srgbClr val="1C7293"/>
            </a:solidFill>
            <a:prstDash val="solid"/>
          </a:ln>
        </p:spPr>
      </p:sp>
      <p:sp>
        <p:nvSpPr>
          <p:cNvPr id="8" name="Shape 6"/>
          <p:cNvSpPr/>
          <p:nvPr/>
        </p:nvSpPr>
        <p:spPr>
          <a:xfrm>
            <a:off x="1101395" y="2788920"/>
            <a:ext cx="192024" cy="192024"/>
          </a:xfrm>
          <a:prstGeom prst="rect">
            <a:avLst/>
          </a:prstGeom>
          <a:solidFill>
            <a:srgbClr val="FFFFFF"/>
          </a:solidFill>
          <a:ln w="15875">
            <a:solidFill>
              <a:srgbClr val="B9C0CE"/>
            </a:solidFill>
            <a:prstDash val="solid"/>
          </a:ln>
        </p:spPr>
      </p:sp>
      <p:sp>
        <p:nvSpPr>
          <p:cNvPr id="9" name="Shape 7"/>
          <p:cNvSpPr/>
          <p:nvPr/>
        </p:nvSpPr>
        <p:spPr>
          <a:xfrm>
            <a:off x="1379830" y="2788920"/>
            <a:ext cx="192024" cy="192024"/>
          </a:xfrm>
          <a:prstGeom prst="rect">
            <a:avLst/>
          </a:prstGeom>
          <a:solidFill>
            <a:srgbClr val="FFFFFF"/>
          </a:solidFill>
          <a:ln w="15875">
            <a:solidFill>
              <a:srgbClr val="B9C0CE"/>
            </a:solidFill>
            <a:prstDash val="solid"/>
          </a:ln>
        </p:spPr>
      </p:sp>
      <p:sp>
        <p:nvSpPr>
          <p:cNvPr id="10" name="Shape 8"/>
          <p:cNvSpPr/>
          <p:nvPr/>
        </p:nvSpPr>
        <p:spPr>
          <a:xfrm>
            <a:off x="1658264" y="2788920"/>
            <a:ext cx="192024" cy="192024"/>
          </a:xfrm>
          <a:prstGeom prst="rect">
            <a:avLst/>
          </a:prstGeom>
          <a:solidFill>
            <a:srgbClr val="FFFFFF"/>
          </a:solidFill>
          <a:ln w="15875">
            <a:solidFill>
              <a:srgbClr val="B9C0CE"/>
            </a:solidFill>
            <a:prstDash val="solid"/>
          </a:ln>
        </p:spPr>
      </p:sp>
      <p:sp>
        <p:nvSpPr>
          <p:cNvPr id="11" name="Text 9"/>
          <p:cNvSpPr txBox="1"/>
          <p:nvPr/>
        </p:nvSpPr>
        <p:spPr>
          <a:xfrm>
            <a:off x="822960" y="3291840"/>
            <a:ext cx="2103120" cy="411480"/>
          </a:xfrm>
          <a:prstGeom prst="rect">
            <a:avLst/>
          </a:prstGeom>
          <a:noFill/>
          <a:ln/>
        </p:spPr>
        <p:txBody>
          <a:bodyPr wrap="square" lIns="0" tIns="0" rIns="0" bIns="0" rtlCol="0" anchor="ctr"/>
          <a:lstStyle/>
          <a:p>
            <a:pPr indent="0" marL="0">
              <a:buNone/>
            </a:pPr>
            <a:r>
              <a:rPr lang="en-US" sz="1800" b="1" dirty="0">
                <a:solidFill>
                  <a:srgbClr val="5C6378"/>
                </a:solidFill>
                <a:latin typeface="Cambria" pitchFamily="34" charset="0"/>
                <a:ea typeface="Cambria" pitchFamily="34" charset="-122"/>
                <a:cs typeface="Cambria" pitchFamily="34" charset="-120"/>
              </a:rPr>
              <a:t>0.065</a:t>
            </a:r>
            <a:endParaRPr lang="en-US" sz="1800" dirty="0"/>
          </a:p>
        </p:txBody>
      </p:sp>
      <p:sp>
        <p:nvSpPr>
          <p:cNvPr id="12" name="Text 10"/>
          <p:cNvSpPr txBox="1"/>
          <p:nvPr/>
        </p:nvSpPr>
        <p:spPr>
          <a:xfrm>
            <a:off x="822960" y="3767328"/>
            <a:ext cx="2103120" cy="256032"/>
          </a:xfrm>
          <a:prstGeom prst="rect">
            <a:avLst/>
          </a:prstGeom>
          <a:noFill/>
          <a:ln/>
        </p:spPr>
        <p:txBody>
          <a:bodyPr wrap="square" lIns="0" tIns="0" rIns="0" bIns="0" rtlCol="0" anchor="ctr"/>
          <a:lstStyle/>
          <a:p>
            <a:pPr indent="0" marL="0">
              <a:lnSpc>
                <a:spcPts val="2100"/>
              </a:lnSpc>
              <a:buNone/>
            </a:pPr>
            <a:r>
              <a:rPr lang="en-US" sz="1150" dirty="0">
                <a:solidFill>
                  <a:srgbClr val="5C6378"/>
                </a:solidFill>
                <a:latin typeface="Calibri" pitchFamily="34" charset="0"/>
                <a:ea typeface="Calibri" pitchFamily="34" charset="-122"/>
                <a:cs typeface="Calibri" pitchFamily="34" charset="-120"/>
              </a:rPr>
              <a:t>token accuracy</a:t>
            </a:r>
            <a:endParaRPr lang="en-US" sz="1150" dirty="0"/>
          </a:p>
        </p:txBody>
      </p:sp>
      <p:sp>
        <p:nvSpPr>
          <p:cNvPr id="13" name="Shape 11"/>
          <p:cNvSpPr/>
          <p:nvPr/>
        </p:nvSpPr>
        <p:spPr>
          <a:xfrm>
            <a:off x="3364992" y="2148840"/>
            <a:ext cx="2615184" cy="2057400"/>
          </a:xfrm>
          <a:prstGeom prst="roundRect">
            <a:avLst>
              <a:gd name="adj" fmla="val 2667"/>
            </a:avLst>
          </a:prstGeom>
          <a:solidFill>
            <a:srgbClr val="EEF1F6"/>
          </a:solidFill>
          <a:ln w="12700">
            <a:solidFill>
              <a:srgbClr val="EEF1F6"/>
            </a:solidFill>
            <a:prstDash val="solid"/>
          </a:ln>
        </p:spPr>
      </p:sp>
      <p:sp>
        <p:nvSpPr>
          <p:cNvPr id="14" name="Text 12"/>
          <p:cNvSpPr txBox="1"/>
          <p:nvPr/>
        </p:nvSpPr>
        <p:spPr>
          <a:xfrm>
            <a:off x="3621024" y="2359152"/>
            <a:ext cx="2103120" cy="292608"/>
          </a:xfrm>
          <a:prstGeom prst="rect">
            <a:avLst/>
          </a:prstGeom>
          <a:noFill/>
          <a:ln/>
        </p:spPr>
        <p:txBody>
          <a:bodyPr wrap="square" lIns="0" tIns="0" rIns="0" bIns="0" rtlCol="0" anchor="ctr"/>
          <a:lstStyle/>
          <a:p>
            <a:pPr indent="0" marL="0">
              <a:lnSpc>
                <a:spcPts val="2100"/>
              </a:lnSpc>
              <a:buNone/>
            </a:pPr>
            <a:r>
              <a:rPr lang="en-US" sz="1600" b="1" dirty="0">
                <a:solidFill>
                  <a:srgbClr val="21295C"/>
                </a:solidFill>
                <a:latin typeface="Calibri" pitchFamily="34" charset="0"/>
                <a:ea typeface="Calibri" pitchFamily="34" charset="-122"/>
                <a:cs typeface="Calibri" pitchFamily="34" charset="-120"/>
              </a:rPr>
              <a:t>nₕ = 2</a:t>
            </a:r>
            <a:endParaRPr lang="en-US" sz="1600" dirty="0"/>
          </a:p>
        </p:txBody>
      </p:sp>
      <p:sp>
        <p:nvSpPr>
          <p:cNvPr id="15" name="Shape 13"/>
          <p:cNvSpPr/>
          <p:nvPr/>
        </p:nvSpPr>
        <p:spPr>
          <a:xfrm>
            <a:off x="3621024" y="2788920"/>
            <a:ext cx="192024" cy="192024"/>
          </a:xfrm>
          <a:prstGeom prst="rect">
            <a:avLst/>
          </a:prstGeom>
          <a:solidFill>
            <a:srgbClr val="1C7293"/>
          </a:solidFill>
          <a:ln w="15875">
            <a:solidFill>
              <a:srgbClr val="1C7293"/>
            </a:solidFill>
            <a:prstDash val="solid"/>
          </a:ln>
        </p:spPr>
      </p:sp>
      <p:sp>
        <p:nvSpPr>
          <p:cNvPr id="16" name="Shape 14"/>
          <p:cNvSpPr/>
          <p:nvPr/>
        </p:nvSpPr>
        <p:spPr>
          <a:xfrm>
            <a:off x="3899459" y="2788920"/>
            <a:ext cx="192024" cy="192024"/>
          </a:xfrm>
          <a:prstGeom prst="rect">
            <a:avLst/>
          </a:prstGeom>
          <a:solidFill>
            <a:srgbClr val="1C7293"/>
          </a:solidFill>
          <a:ln w="15875">
            <a:solidFill>
              <a:srgbClr val="1C7293"/>
            </a:solidFill>
            <a:prstDash val="solid"/>
          </a:ln>
        </p:spPr>
      </p:sp>
      <p:sp>
        <p:nvSpPr>
          <p:cNvPr id="17" name="Shape 15"/>
          <p:cNvSpPr/>
          <p:nvPr/>
        </p:nvSpPr>
        <p:spPr>
          <a:xfrm>
            <a:off x="4177894" y="2788920"/>
            <a:ext cx="192024" cy="192024"/>
          </a:xfrm>
          <a:prstGeom prst="rect">
            <a:avLst/>
          </a:prstGeom>
          <a:solidFill>
            <a:srgbClr val="FFFFFF"/>
          </a:solidFill>
          <a:ln w="15875">
            <a:solidFill>
              <a:srgbClr val="B9C0CE"/>
            </a:solidFill>
            <a:prstDash val="solid"/>
          </a:ln>
        </p:spPr>
      </p:sp>
      <p:sp>
        <p:nvSpPr>
          <p:cNvPr id="18" name="Shape 16"/>
          <p:cNvSpPr/>
          <p:nvPr/>
        </p:nvSpPr>
        <p:spPr>
          <a:xfrm>
            <a:off x="4456328" y="2788920"/>
            <a:ext cx="192024" cy="192024"/>
          </a:xfrm>
          <a:prstGeom prst="rect">
            <a:avLst/>
          </a:prstGeom>
          <a:solidFill>
            <a:srgbClr val="FFFFFF"/>
          </a:solidFill>
          <a:ln w="15875">
            <a:solidFill>
              <a:srgbClr val="B9C0CE"/>
            </a:solidFill>
            <a:prstDash val="solid"/>
          </a:ln>
        </p:spPr>
      </p:sp>
      <p:sp>
        <p:nvSpPr>
          <p:cNvPr id="19" name="Text 17"/>
          <p:cNvSpPr txBox="1"/>
          <p:nvPr/>
        </p:nvSpPr>
        <p:spPr>
          <a:xfrm>
            <a:off x="3621024" y="3291840"/>
            <a:ext cx="2103120" cy="411480"/>
          </a:xfrm>
          <a:prstGeom prst="rect">
            <a:avLst/>
          </a:prstGeom>
          <a:noFill/>
          <a:ln/>
        </p:spPr>
        <p:txBody>
          <a:bodyPr wrap="square" lIns="0" tIns="0" rIns="0" bIns="0" rtlCol="0" anchor="ctr"/>
          <a:lstStyle/>
          <a:p>
            <a:pPr indent="0" marL="0">
              <a:buNone/>
            </a:pPr>
            <a:r>
              <a:rPr lang="en-US" sz="1800" b="1" dirty="0">
                <a:solidFill>
                  <a:srgbClr val="5C6378"/>
                </a:solidFill>
                <a:latin typeface="Cambria" pitchFamily="34" charset="0"/>
                <a:ea typeface="Cambria" pitchFamily="34" charset="-122"/>
                <a:cs typeface="Cambria" pitchFamily="34" charset="-120"/>
              </a:rPr>
              <a:t>0.121</a:t>
            </a:r>
            <a:endParaRPr lang="en-US" sz="1800" dirty="0"/>
          </a:p>
        </p:txBody>
      </p:sp>
      <p:sp>
        <p:nvSpPr>
          <p:cNvPr id="20" name="Text 18"/>
          <p:cNvSpPr txBox="1"/>
          <p:nvPr/>
        </p:nvSpPr>
        <p:spPr>
          <a:xfrm>
            <a:off x="3621024" y="3767328"/>
            <a:ext cx="2103120" cy="256032"/>
          </a:xfrm>
          <a:prstGeom prst="rect">
            <a:avLst/>
          </a:prstGeom>
          <a:noFill/>
          <a:ln/>
        </p:spPr>
        <p:txBody>
          <a:bodyPr wrap="square" lIns="0" tIns="0" rIns="0" bIns="0" rtlCol="0" anchor="ctr"/>
          <a:lstStyle/>
          <a:p>
            <a:pPr indent="0" marL="0">
              <a:lnSpc>
                <a:spcPts val="2100"/>
              </a:lnSpc>
              <a:buNone/>
            </a:pPr>
            <a:r>
              <a:rPr lang="en-US" sz="1150" dirty="0">
                <a:solidFill>
                  <a:srgbClr val="5C6378"/>
                </a:solidFill>
                <a:latin typeface="Calibri" pitchFamily="34" charset="0"/>
                <a:ea typeface="Calibri" pitchFamily="34" charset="-122"/>
                <a:cs typeface="Calibri" pitchFamily="34" charset="-120"/>
              </a:rPr>
              <a:t>token accuracy</a:t>
            </a:r>
            <a:endParaRPr lang="en-US" sz="1150" dirty="0"/>
          </a:p>
        </p:txBody>
      </p:sp>
      <p:sp>
        <p:nvSpPr>
          <p:cNvPr id="21" name="Shape 19"/>
          <p:cNvSpPr/>
          <p:nvPr/>
        </p:nvSpPr>
        <p:spPr>
          <a:xfrm>
            <a:off x="6163056" y="2148840"/>
            <a:ext cx="2615184" cy="2057400"/>
          </a:xfrm>
          <a:prstGeom prst="roundRect">
            <a:avLst>
              <a:gd name="adj" fmla="val 2667"/>
            </a:avLst>
          </a:prstGeom>
          <a:solidFill>
            <a:srgbClr val="FAF2E4"/>
          </a:solidFill>
          <a:ln w="12700">
            <a:solidFill>
              <a:srgbClr val="FAF2E4"/>
            </a:solidFill>
            <a:prstDash val="solid"/>
          </a:ln>
        </p:spPr>
      </p:sp>
      <p:sp>
        <p:nvSpPr>
          <p:cNvPr id="22" name="Text 20"/>
          <p:cNvSpPr txBox="1"/>
          <p:nvPr/>
        </p:nvSpPr>
        <p:spPr>
          <a:xfrm>
            <a:off x="6419088" y="2359152"/>
            <a:ext cx="2103120" cy="292608"/>
          </a:xfrm>
          <a:prstGeom prst="rect">
            <a:avLst/>
          </a:prstGeom>
          <a:noFill/>
          <a:ln/>
        </p:spPr>
        <p:txBody>
          <a:bodyPr wrap="square" lIns="0" tIns="0" rIns="0" bIns="0" rtlCol="0" anchor="ctr"/>
          <a:lstStyle/>
          <a:p>
            <a:pPr indent="0" marL="0">
              <a:lnSpc>
                <a:spcPts val="2100"/>
              </a:lnSpc>
              <a:buNone/>
            </a:pPr>
            <a:r>
              <a:rPr lang="en-US" sz="1600" b="1" dirty="0">
                <a:solidFill>
                  <a:srgbClr val="21295C"/>
                </a:solidFill>
                <a:latin typeface="Calibri" pitchFamily="34" charset="0"/>
                <a:ea typeface="Calibri" pitchFamily="34" charset="-122"/>
                <a:cs typeface="Calibri" pitchFamily="34" charset="-120"/>
              </a:rPr>
              <a:t>nₕ = 3</a:t>
            </a:r>
            <a:endParaRPr lang="en-US" sz="1600" dirty="0"/>
          </a:p>
        </p:txBody>
      </p:sp>
      <p:sp>
        <p:nvSpPr>
          <p:cNvPr id="23" name="Shape 21"/>
          <p:cNvSpPr/>
          <p:nvPr/>
        </p:nvSpPr>
        <p:spPr>
          <a:xfrm>
            <a:off x="6419088" y="2788920"/>
            <a:ext cx="192024" cy="192024"/>
          </a:xfrm>
          <a:prstGeom prst="rect">
            <a:avLst/>
          </a:prstGeom>
          <a:solidFill>
            <a:srgbClr val="B8791F"/>
          </a:solidFill>
          <a:ln w="15875">
            <a:solidFill>
              <a:srgbClr val="B8791F"/>
            </a:solidFill>
            <a:prstDash val="solid"/>
          </a:ln>
        </p:spPr>
      </p:sp>
      <p:sp>
        <p:nvSpPr>
          <p:cNvPr id="24" name="Shape 22"/>
          <p:cNvSpPr/>
          <p:nvPr/>
        </p:nvSpPr>
        <p:spPr>
          <a:xfrm>
            <a:off x="6697523" y="2788920"/>
            <a:ext cx="192024" cy="192024"/>
          </a:xfrm>
          <a:prstGeom prst="rect">
            <a:avLst/>
          </a:prstGeom>
          <a:solidFill>
            <a:srgbClr val="B8791F"/>
          </a:solidFill>
          <a:ln w="15875">
            <a:solidFill>
              <a:srgbClr val="B8791F"/>
            </a:solidFill>
            <a:prstDash val="solid"/>
          </a:ln>
        </p:spPr>
      </p:sp>
      <p:sp>
        <p:nvSpPr>
          <p:cNvPr id="25" name="Shape 23"/>
          <p:cNvSpPr/>
          <p:nvPr/>
        </p:nvSpPr>
        <p:spPr>
          <a:xfrm>
            <a:off x="6975958" y="2788920"/>
            <a:ext cx="192024" cy="192024"/>
          </a:xfrm>
          <a:prstGeom prst="rect">
            <a:avLst/>
          </a:prstGeom>
          <a:solidFill>
            <a:srgbClr val="B8791F"/>
          </a:solidFill>
          <a:ln w="15875">
            <a:solidFill>
              <a:srgbClr val="B8791F"/>
            </a:solidFill>
            <a:prstDash val="solid"/>
          </a:ln>
        </p:spPr>
      </p:sp>
      <p:sp>
        <p:nvSpPr>
          <p:cNvPr id="26" name="Shape 24"/>
          <p:cNvSpPr/>
          <p:nvPr/>
        </p:nvSpPr>
        <p:spPr>
          <a:xfrm>
            <a:off x="7254392" y="2788920"/>
            <a:ext cx="192024" cy="192024"/>
          </a:xfrm>
          <a:prstGeom prst="rect">
            <a:avLst/>
          </a:prstGeom>
          <a:solidFill>
            <a:srgbClr val="FFFFFF"/>
          </a:solidFill>
          <a:ln w="15875">
            <a:solidFill>
              <a:srgbClr val="B9C0CE"/>
            </a:solidFill>
            <a:prstDash val="solid"/>
          </a:ln>
        </p:spPr>
      </p:sp>
      <p:sp>
        <p:nvSpPr>
          <p:cNvPr id="27" name="Text 25"/>
          <p:cNvSpPr txBox="1"/>
          <p:nvPr/>
        </p:nvSpPr>
        <p:spPr>
          <a:xfrm>
            <a:off x="6419088" y="3291840"/>
            <a:ext cx="2103120" cy="411480"/>
          </a:xfrm>
          <a:prstGeom prst="rect">
            <a:avLst/>
          </a:prstGeom>
          <a:noFill/>
          <a:ln/>
        </p:spPr>
        <p:txBody>
          <a:bodyPr wrap="square" lIns="0" tIns="0" rIns="0" bIns="0" rtlCol="0" anchor="ctr"/>
          <a:lstStyle/>
          <a:p>
            <a:pPr indent="0" marL="0">
              <a:buNone/>
            </a:pPr>
            <a:r>
              <a:rPr lang="en-US" sz="2200" b="1" dirty="0">
                <a:solidFill>
                  <a:srgbClr val="B8791F"/>
                </a:solidFill>
                <a:latin typeface="Cambria" pitchFamily="34" charset="0"/>
                <a:ea typeface="Cambria" pitchFamily="34" charset="-122"/>
                <a:cs typeface="Cambria" pitchFamily="34" charset="-120"/>
              </a:rPr>
              <a:t>0.9994</a:t>
            </a:r>
            <a:endParaRPr lang="en-US" sz="2200" dirty="0"/>
          </a:p>
        </p:txBody>
      </p:sp>
      <p:sp>
        <p:nvSpPr>
          <p:cNvPr id="28" name="Text 26"/>
          <p:cNvSpPr txBox="1"/>
          <p:nvPr/>
        </p:nvSpPr>
        <p:spPr>
          <a:xfrm>
            <a:off x="6419088" y="3767328"/>
            <a:ext cx="2103120" cy="256032"/>
          </a:xfrm>
          <a:prstGeom prst="rect">
            <a:avLst/>
          </a:prstGeom>
          <a:noFill/>
          <a:ln/>
        </p:spPr>
        <p:txBody>
          <a:bodyPr wrap="square" lIns="0" tIns="0" rIns="0" bIns="0" rtlCol="0" anchor="ctr"/>
          <a:lstStyle/>
          <a:p>
            <a:pPr indent="0" marL="0">
              <a:lnSpc>
                <a:spcPts val="2100"/>
              </a:lnSpc>
              <a:buNone/>
            </a:pPr>
            <a:r>
              <a:rPr lang="en-US" sz="1150" dirty="0">
                <a:solidFill>
                  <a:srgbClr val="5C6378"/>
                </a:solidFill>
                <a:latin typeface="Calibri" pitchFamily="34" charset="0"/>
                <a:ea typeface="Calibri" pitchFamily="34" charset="-122"/>
                <a:cs typeface="Calibri" pitchFamily="34" charset="-120"/>
              </a:rPr>
              <a:t>token accuracy</a:t>
            </a:r>
            <a:endParaRPr lang="en-US" sz="1150" dirty="0"/>
          </a:p>
        </p:txBody>
      </p:sp>
      <p:sp>
        <p:nvSpPr>
          <p:cNvPr id="29" name="Shape 27"/>
          <p:cNvSpPr/>
          <p:nvPr/>
        </p:nvSpPr>
        <p:spPr>
          <a:xfrm>
            <a:off x="8961120" y="2148840"/>
            <a:ext cx="2615184" cy="2057400"/>
          </a:xfrm>
          <a:prstGeom prst="roundRect">
            <a:avLst>
              <a:gd name="adj" fmla="val 2667"/>
            </a:avLst>
          </a:prstGeom>
          <a:solidFill>
            <a:srgbClr val="EEF1F6"/>
          </a:solidFill>
          <a:ln w="12700">
            <a:solidFill>
              <a:srgbClr val="EEF1F6"/>
            </a:solidFill>
            <a:prstDash val="solid"/>
          </a:ln>
        </p:spPr>
      </p:sp>
      <p:sp>
        <p:nvSpPr>
          <p:cNvPr id="30" name="Text 28"/>
          <p:cNvSpPr txBox="1"/>
          <p:nvPr/>
        </p:nvSpPr>
        <p:spPr>
          <a:xfrm>
            <a:off x="9217152" y="2359152"/>
            <a:ext cx="2103120" cy="292608"/>
          </a:xfrm>
          <a:prstGeom prst="rect">
            <a:avLst/>
          </a:prstGeom>
          <a:noFill/>
          <a:ln/>
        </p:spPr>
        <p:txBody>
          <a:bodyPr wrap="square" lIns="0" tIns="0" rIns="0" bIns="0" rtlCol="0" anchor="ctr"/>
          <a:lstStyle/>
          <a:p>
            <a:pPr indent="0" marL="0">
              <a:lnSpc>
                <a:spcPts val="2100"/>
              </a:lnSpc>
              <a:buNone/>
            </a:pPr>
            <a:r>
              <a:rPr lang="en-US" sz="1600" b="1" dirty="0">
                <a:solidFill>
                  <a:srgbClr val="21295C"/>
                </a:solidFill>
                <a:latin typeface="Calibri" pitchFamily="34" charset="0"/>
                <a:ea typeface="Calibri" pitchFamily="34" charset="-122"/>
                <a:cs typeface="Calibri" pitchFamily="34" charset="-120"/>
              </a:rPr>
              <a:t>nₕ = 4</a:t>
            </a:r>
            <a:endParaRPr lang="en-US" sz="1600" dirty="0"/>
          </a:p>
        </p:txBody>
      </p:sp>
      <p:sp>
        <p:nvSpPr>
          <p:cNvPr id="31" name="Shape 29"/>
          <p:cNvSpPr/>
          <p:nvPr/>
        </p:nvSpPr>
        <p:spPr>
          <a:xfrm>
            <a:off x="9217152" y="2788920"/>
            <a:ext cx="192024" cy="192024"/>
          </a:xfrm>
          <a:prstGeom prst="rect">
            <a:avLst/>
          </a:prstGeom>
          <a:solidFill>
            <a:srgbClr val="1C7293"/>
          </a:solidFill>
          <a:ln w="15875">
            <a:solidFill>
              <a:srgbClr val="1C7293"/>
            </a:solidFill>
            <a:prstDash val="solid"/>
          </a:ln>
        </p:spPr>
      </p:sp>
      <p:sp>
        <p:nvSpPr>
          <p:cNvPr id="32" name="Shape 30"/>
          <p:cNvSpPr/>
          <p:nvPr/>
        </p:nvSpPr>
        <p:spPr>
          <a:xfrm>
            <a:off x="9495587" y="2788920"/>
            <a:ext cx="192024" cy="192024"/>
          </a:xfrm>
          <a:prstGeom prst="rect">
            <a:avLst/>
          </a:prstGeom>
          <a:solidFill>
            <a:srgbClr val="1C7293"/>
          </a:solidFill>
          <a:ln w="15875">
            <a:solidFill>
              <a:srgbClr val="1C7293"/>
            </a:solidFill>
            <a:prstDash val="solid"/>
          </a:ln>
        </p:spPr>
      </p:sp>
      <p:sp>
        <p:nvSpPr>
          <p:cNvPr id="33" name="Shape 31"/>
          <p:cNvSpPr/>
          <p:nvPr/>
        </p:nvSpPr>
        <p:spPr>
          <a:xfrm>
            <a:off x="9774022" y="2788920"/>
            <a:ext cx="192024" cy="192024"/>
          </a:xfrm>
          <a:prstGeom prst="rect">
            <a:avLst/>
          </a:prstGeom>
          <a:solidFill>
            <a:srgbClr val="1C7293"/>
          </a:solidFill>
          <a:ln w="15875">
            <a:solidFill>
              <a:srgbClr val="1C7293"/>
            </a:solidFill>
            <a:prstDash val="solid"/>
          </a:ln>
        </p:spPr>
      </p:sp>
      <p:sp>
        <p:nvSpPr>
          <p:cNvPr id="34" name="Shape 32"/>
          <p:cNvSpPr/>
          <p:nvPr/>
        </p:nvSpPr>
        <p:spPr>
          <a:xfrm>
            <a:off x="10052456" y="2788920"/>
            <a:ext cx="192024" cy="192024"/>
          </a:xfrm>
          <a:prstGeom prst="rect">
            <a:avLst/>
          </a:prstGeom>
          <a:solidFill>
            <a:srgbClr val="1C7293"/>
          </a:solidFill>
          <a:ln w="15875">
            <a:solidFill>
              <a:srgbClr val="1C7293"/>
            </a:solidFill>
            <a:prstDash val="solid"/>
          </a:ln>
        </p:spPr>
      </p:sp>
      <p:sp>
        <p:nvSpPr>
          <p:cNvPr id="35" name="Text 33"/>
          <p:cNvSpPr txBox="1"/>
          <p:nvPr/>
        </p:nvSpPr>
        <p:spPr>
          <a:xfrm>
            <a:off x="9217152" y="3291840"/>
            <a:ext cx="2103120" cy="411480"/>
          </a:xfrm>
          <a:prstGeom prst="rect">
            <a:avLst/>
          </a:prstGeom>
          <a:noFill/>
          <a:ln/>
        </p:spPr>
        <p:txBody>
          <a:bodyPr wrap="square" lIns="0" tIns="0" rIns="0" bIns="0" rtlCol="0" anchor="ctr"/>
          <a:lstStyle/>
          <a:p>
            <a:pPr indent="0" marL="0">
              <a:buNone/>
            </a:pPr>
            <a:r>
              <a:rPr lang="en-US" sz="1800" b="1" dirty="0">
                <a:solidFill>
                  <a:srgbClr val="5C6378"/>
                </a:solidFill>
                <a:latin typeface="Cambria" pitchFamily="34" charset="0"/>
                <a:ea typeface="Cambria" pitchFamily="34" charset="-122"/>
                <a:cs typeface="Cambria" pitchFamily="34" charset="-120"/>
              </a:rPr>
              <a:t>0.9995</a:t>
            </a:r>
            <a:endParaRPr lang="en-US" sz="1800" dirty="0"/>
          </a:p>
        </p:txBody>
      </p:sp>
      <p:sp>
        <p:nvSpPr>
          <p:cNvPr id="36" name="Text 34"/>
          <p:cNvSpPr txBox="1"/>
          <p:nvPr/>
        </p:nvSpPr>
        <p:spPr>
          <a:xfrm>
            <a:off x="9217152" y="3767328"/>
            <a:ext cx="2103120" cy="256032"/>
          </a:xfrm>
          <a:prstGeom prst="rect">
            <a:avLst/>
          </a:prstGeom>
          <a:noFill/>
          <a:ln/>
        </p:spPr>
        <p:txBody>
          <a:bodyPr wrap="square" lIns="0" tIns="0" rIns="0" bIns="0" rtlCol="0" anchor="ctr"/>
          <a:lstStyle/>
          <a:p>
            <a:pPr indent="0" marL="0">
              <a:lnSpc>
                <a:spcPts val="2100"/>
              </a:lnSpc>
              <a:buNone/>
            </a:pPr>
            <a:r>
              <a:rPr lang="en-US" sz="1150" dirty="0">
                <a:solidFill>
                  <a:srgbClr val="5C6378"/>
                </a:solidFill>
                <a:latin typeface="Calibri" pitchFamily="34" charset="0"/>
                <a:ea typeface="Calibri" pitchFamily="34" charset="-122"/>
                <a:cs typeface="Calibri" pitchFamily="34" charset="-120"/>
              </a:rPr>
              <a:t>token accuracy</a:t>
            </a:r>
            <a:endParaRPr lang="en-US" sz="1150" dirty="0"/>
          </a:p>
        </p:txBody>
      </p:sp>
      <p:sp>
        <p:nvSpPr>
          <p:cNvPr id="37" name="Shape 35"/>
          <p:cNvSpPr/>
          <p:nvPr/>
        </p:nvSpPr>
        <p:spPr>
          <a:xfrm>
            <a:off x="566928" y="4480560"/>
            <a:ext cx="11027664" cy="1463040"/>
          </a:xfrm>
          <a:prstGeom prst="roundRect">
            <a:avLst>
              <a:gd name="adj" fmla="val 3750"/>
            </a:avLst>
          </a:prstGeom>
          <a:solidFill>
            <a:srgbClr val="21295C"/>
          </a:solidFill>
          <a:ln w="12700">
            <a:solidFill>
              <a:srgbClr val="21295C"/>
            </a:solidFill>
            <a:prstDash val="solid"/>
          </a:ln>
        </p:spPr>
      </p:sp>
      <p:sp>
        <p:nvSpPr>
          <p:cNvPr id="38" name="Text 36"/>
          <p:cNvSpPr txBox="1"/>
          <p:nvPr/>
        </p:nvSpPr>
        <p:spPr>
          <a:xfrm>
            <a:off x="950976" y="4718304"/>
            <a:ext cx="102412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Three factors solve a task whose tokens provably require four.</a:t>
            </a:r>
            <a:endParaRPr lang="en-US" sz="2000" dirty="0"/>
          </a:p>
        </p:txBody>
      </p:sp>
      <p:sp>
        <p:nvSpPr>
          <p:cNvPr id="39" name="Text 37"/>
          <p:cNvSpPr txBox="1"/>
          <p:nvPr/>
        </p:nvSpPr>
        <p:spPr>
          <a:xfrm>
            <a:off x="950976" y="5193792"/>
            <a:ext cx="10241280" cy="365760"/>
          </a:xfrm>
          <a:prstGeom prst="rect">
            <a:avLst/>
          </a:prstGeom>
          <a:noFill/>
          <a:ln/>
        </p:spPr>
        <p:txBody>
          <a:bodyPr wrap="square" lIns="0" tIns="0" rIns="0" bIns="0" rtlCol="0" anchor="ctr"/>
          <a:lstStyle/>
          <a:p>
            <a:pPr indent="0" marL="0">
              <a:lnSpc>
                <a:spcPts val="2100"/>
              </a:lnSpc>
              <a:buNone/>
            </a:pPr>
            <a:r>
              <a:rPr lang="en-US" sz="1450" dirty="0">
                <a:solidFill>
                  <a:srgbClr val="CADCFC"/>
                </a:solidFill>
                <a:latin typeface="Calibri" pitchFamily="34" charset="0"/>
                <a:ea typeface="Calibri" pitchFamily="34" charset="-122"/>
                <a:cs typeface="Calibri" pitchFamily="34" charset="-120"/>
              </a:rPr>
              <a:t>The bound is correct and the measurement is correct. Therefore an assumption joining them is false.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COST MODEL</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Resolution: representational freedom</a:t>
            </a:r>
            <a:endParaRPr lang="en-US" sz="3000" dirty="0"/>
          </a:p>
        </p:txBody>
      </p:sp>
      <p:sp>
        <p:nvSpPr>
          <p:cNvPr id="4" name="Shape 2"/>
          <p:cNvSpPr/>
          <p:nvPr/>
        </p:nvSpPr>
        <p:spPr>
          <a:xfrm>
            <a:off x="566928" y="1554480"/>
            <a:ext cx="11027664" cy="1143000"/>
          </a:xfrm>
          <a:prstGeom prst="roundRect">
            <a:avLst>
              <a:gd name="adj" fmla="val 4800"/>
            </a:avLst>
          </a:prstGeom>
          <a:solidFill>
            <a:srgbClr val="EEF1F6"/>
          </a:solidFill>
          <a:ln w="12700">
            <a:solidFill>
              <a:srgbClr val="EEF1F6"/>
            </a:solidFill>
            <a:prstDash val="solid"/>
          </a:ln>
        </p:spPr>
      </p:sp>
      <p:sp>
        <p:nvSpPr>
          <p:cNvPr id="5" name="Text 3"/>
          <p:cNvSpPr txBox="1"/>
          <p:nvPr/>
        </p:nvSpPr>
        <p:spPr>
          <a:xfrm>
            <a:off x="950976" y="1773936"/>
            <a:ext cx="10241280" cy="365760"/>
          </a:xfrm>
          <a:prstGeom prst="rect">
            <a:avLst/>
          </a:prstGeom>
          <a:noFill/>
          <a:ln/>
        </p:spPr>
        <p:txBody>
          <a:bodyPr wrap="square" lIns="0" tIns="0" rIns="0" bIns="0" rtlCol="0" anchor="ctr"/>
          <a:lstStyle/>
          <a:p>
            <a:pPr indent="0" marL="0">
              <a:lnSpc>
                <a:spcPts val="2100"/>
              </a:lnSpc>
              <a:buNone/>
            </a:pPr>
            <a:r>
              <a:rPr lang="en-US" sz="1550" dirty="0">
                <a:solidFill>
                  <a:srgbClr val="1A1A2E"/>
                </a:solidFill>
                <a:latin typeface="Calibri" pitchFamily="34" charset="0"/>
                <a:ea typeface="Calibri" pitchFamily="34" charset="-122"/>
                <a:cs typeface="Calibri" pitchFamily="34" charset="-120"/>
              </a:rPr>
              <a:t>The false assumption: that the matrix the layer must apply is the permutation matrix of the token.</a:t>
            </a:r>
            <a:endParaRPr lang="en-US" sz="1550" dirty="0"/>
          </a:p>
        </p:txBody>
      </p:sp>
      <p:sp>
        <p:nvSpPr>
          <p:cNvPr id="6" name="Text 4"/>
          <p:cNvSpPr txBox="1"/>
          <p:nvPr/>
        </p:nvSpPr>
        <p:spPr>
          <a:xfrm>
            <a:off x="950976" y="2176272"/>
            <a:ext cx="10241280" cy="411480"/>
          </a:xfrm>
          <a:prstGeom prst="rect">
            <a:avLst/>
          </a:prstGeom>
          <a:noFill/>
          <a:ln/>
        </p:spPr>
        <p:txBody>
          <a:bodyPr wrap="square" lIns="0" tIns="0" rIns="0" bIns="0" rtlCol="0" anchor="ctr"/>
          <a:lstStyle/>
          <a:p>
            <a:pPr indent="0" marL="0">
              <a:lnSpc>
                <a:spcPts val="2100"/>
              </a:lnSpc>
              <a:buNone/>
            </a:pPr>
            <a:r>
              <a:rPr lang="en-US" sz="1550" b="1" dirty="0">
                <a:solidFill>
                  <a:srgbClr val="21295C"/>
                </a:solidFill>
                <a:latin typeface="Calibri" pitchFamily="34" charset="0"/>
                <a:ea typeface="Calibri" pitchFamily="34" charset="-122"/>
                <a:cs typeface="Calibri" pitchFamily="34" charset="-120"/>
              </a:rPr>
              <a:t>The layer may apply ρ(g) for any faithful representation ρ of the group generated by the alphabet. The choice of ρ is the layer's, not ours.</a:t>
            </a:r>
            <a:endParaRPr lang="en-US" sz="1550" dirty="0"/>
          </a:p>
        </p:txBody>
      </p:sp>
      <p:sp>
        <p:nvSpPr>
          <p:cNvPr id="7" name="Text 5"/>
          <p:cNvSpPr txBox="1"/>
          <p:nvPr/>
        </p:nvSpPr>
        <p:spPr>
          <a:xfrm>
            <a:off x="566928" y="2971800"/>
            <a:ext cx="10881360" cy="347472"/>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The instance that resolves the contradiction</a:t>
            </a:r>
            <a:endParaRPr lang="en-US" sz="1700" dirty="0"/>
          </a:p>
        </p:txBody>
      </p:sp>
      <p:sp>
        <p:nvSpPr>
          <p:cNvPr id="8" name="Shape 6"/>
          <p:cNvSpPr/>
          <p:nvPr/>
        </p:nvSpPr>
        <p:spPr>
          <a:xfrm>
            <a:off x="566928" y="3456432"/>
            <a:ext cx="365760" cy="365760"/>
          </a:xfrm>
          <a:prstGeom prst="ellipse">
            <a:avLst/>
          </a:prstGeom>
          <a:solidFill>
            <a:srgbClr val="1C7293"/>
          </a:solidFill>
          <a:ln w="12700">
            <a:solidFill>
              <a:srgbClr val="333333"/>
            </a:solidFill>
            <a:prstDash val="solid"/>
          </a:ln>
        </p:spPr>
      </p:sp>
      <p:sp>
        <p:nvSpPr>
          <p:cNvPr id="9" name="Text 7"/>
          <p:cNvSpPr txBox="1"/>
          <p:nvPr/>
        </p:nvSpPr>
        <p:spPr>
          <a:xfrm>
            <a:off x="566928" y="34564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133856" y="3474720"/>
            <a:ext cx="10424160" cy="365760"/>
          </a:xfrm>
          <a:prstGeom prst="rect">
            <a:avLst/>
          </a:prstGeom>
          <a:noFill/>
          <a:ln/>
        </p:spPr>
        <p:txBody>
          <a:bodyPr wrap="square" lIns="0" tIns="0" rIns="0" bIns="0" rtlCol="0" anchor="ctr"/>
          <a:lstStyle/>
          <a:p>
            <a:pPr indent="0" marL="0">
              <a:lnSpc>
                <a:spcPts val="2100"/>
              </a:lnSpc>
              <a:buNone/>
            </a:pPr>
            <a:r>
              <a:rPr lang="en-US" sz="1450" dirty="0">
                <a:solidFill>
                  <a:srgbClr val="1A1A2E"/>
                </a:solidFill>
                <a:latin typeface="Calibri" pitchFamily="34" charset="0"/>
                <a:ea typeface="Calibri" pitchFamily="34" charset="-122"/>
                <a:cs typeface="Calibri" pitchFamily="34" charset="-120"/>
              </a:rPr>
              <a:t>Five-cycles are even permutations, so an alphabet of five-cycles generates A₅, not S₅.</a:t>
            </a:r>
            <a:endParaRPr lang="en-US" sz="1450" dirty="0"/>
          </a:p>
        </p:txBody>
      </p:sp>
      <p:sp>
        <p:nvSpPr>
          <p:cNvPr id="11" name="Shape 9"/>
          <p:cNvSpPr/>
          <p:nvPr/>
        </p:nvSpPr>
        <p:spPr>
          <a:xfrm>
            <a:off x="566928" y="4059936"/>
            <a:ext cx="365760" cy="365760"/>
          </a:xfrm>
          <a:prstGeom prst="ellipse">
            <a:avLst/>
          </a:prstGeom>
          <a:solidFill>
            <a:srgbClr val="1C7293"/>
          </a:solidFill>
          <a:ln w="12700">
            <a:solidFill>
              <a:srgbClr val="333333"/>
            </a:solidFill>
            <a:prstDash val="solid"/>
          </a:ln>
        </p:spPr>
      </p:sp>
      <p:sp>
        <p:nvSpPr>
          <p:cNvPr id="12" name="Text 10"/>
          <p:cNvSpPr txBox="1"/>
          <p:nvPr/>
        </p:nvSpPr>
        <p:spPr>
          <a:xfrm>
            <a:off x="566928" y="40599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133856" y="4078224"/>
            <a:ext cx="10424160" cy="365760"/>
          </a:xfrm>
          <a:prstGeom prst="rect">
            <a:avLst/>
          </a:prstGeom>
          <a:noFill/>
          <a:ln/>
        </p:spPr>
        <p:txBody>
          <a:bodyPr wrap="square" lIns="0" tIns="0" rIns="0" bIns="0" rtlCol="0" anchor="ctr"/>
          <a:lstStyle/>
          <a:p>
            <a:pPr indent="0" marL="0">
              <a:lnSpc>
                <a:spcPts val="2100"/>
              </a:lnSpc>
              <a:buNone/>
            </a:pPr>
            <a:r>
              <a:rPr lang="en-US" sz="1450" dirty="0">
                <a:solidFill>
                  <a:srgbClr val="1A1A2E"/>
                </a:solidFill>
                <a:latin typeface="Calibri" pitchFamily="34" charset="0"/>
                <a:ea typeface="Calibri" pitchFamily="34" charset="-122"/>
                <a:cs typeface="Calibri" pitchFamily="34" charset="-120"/>
              </a:rPr>
              <a:t>A₅ admits a 3-dimensional faithful representation: it is isomorphic to the rotation group of the icosahedron.</a:t>
            </a:r>
            <a:endParaRPr lang="en-US" sz="1450" dirty="0"/>
          </a:p>
        </p:txBody>
      </p:sp>
      <p:sp>
        <p:nvSpPr>
          <p:cNvPr id="14" name="Shape 12"/>
          <p:cNvSpPr/>
          <p:nvPr/>
        </p:nvSpPr>
        <p:spPr>
          <a:xfrm>
            <a:off x="566928" y="4663440"/>
            <a:ext cx="365760" cy="365760"/>
          </a:xfrm>
          <a:prstGeom prst="ellipse">
            <a:avLst/>
          </a:prstGeom>
          <a:solidFill>
            <a:srgbClr val="1C7293"/>
          </a:solidFill>
          <a:ln w="12700">
            <a:solidFill>
              <a:srgbClr val="333333"/>
            </a:solidFill>
            <a:prstDash val="solid"/>
          </a:ln>
        </p:spPr>
      </p:sp>
      <p:sp>
        <p:nvSpPr>
          <p:cNvPr id="15" name="Text 13"/>
          <p:cNvSpPr txBox="1"/>
          <p:nvPr/>
        </p:nvSpPr>
        <p:spPr>
          <a:xfrm>
            <a:off x="566928" y="4663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33856" y="4681728"/>
            <a:ext cx="10424160" cy="365760"/>
          </a:xfrm>
          <a:prstGeom prst="rect">
            <a:avLst/>
          </a:prstGeom>
          <a:noFill/>
          <a:ln/>
        </p:spPr>
        <p:txBody>
          <a:bodyPr wrap="square" lIns="0" tIns="0" rIns="0" bIns="0" rtlCol="0" anchor="ctr"/>
          <a:lstStyle/>
          <a:p>
            <a:pPr indent="0" marL="0">
              <a:lnSpc>
                <a:spcPts val="2100"/>
              </a:lnSpc>
              <a:buNone/>
            </a:pPr>
            <a:r>
              <a:rPr lang="en-US" sz="1450" dirty="0">
                <a:solidFill>
                  <a:srgbClr val="1A1A2E"/>
                </a:solidFill>
                <a:latin typeface="Calibri" pitchFamily="34" charset="0"/>
                <a:ea typeface="Calibri" pitchFamily="34" charset="-122"/>
                <a:cs typeface="Calibri" pitchFamily="34" charset="-120"/>
              </a:rPr>
              <a:t>In SO(3) every non-identity rotation fixes exactly its axis, so rank(R − I) = 2, and by Cartan–Dieudonné it factors into exactly two reflections.</a:t>
            </a:r>
            <a:endParaRPr lang="en-US" sz="1450" dirty="0"/>
          </a:p>
        </p:txBody>
      </p:sp>
      <p:sp>
        <p:nvSpPr>
          <p:cNvPr id="17" name="Shape 15"/>
          <p:cNvSpPr/>
          <p:nvPr/>
        </p:nvSpPr>
        <p:spPr>
          <a:xfrm>
            <a:off x="566928" y="5266944"/>
            <a:ext cx="365760" cy="365760"/>
          </a:xfrm>
          <a:prstGeom prst="ellipse">
            <a:avLst/>
          </a:prstGeom>
          <a:solidFill>
            <a:srgbClr val="B8791F"/>
          </a:solidFill>
          <a:ln w="12700">
            <a:solidFill>
              <a:srgbClr val="333333"/>
            </a:solidFill>
            <a:prstDash val="solid"/>
          </a:ln>
        </p:spPr>
      </p:sp>
      <p:sp>
        <p:nvSpPr>
          <p:cNvPr id="18" name="Text 16"/>
          <p:cNvSpPr txBox="1"/>
          <p:nvPr/>
        </p:nvSpPr>
        <p:spPr>
          <a:xfrm>
            <a:off x="566928" y="52669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133856" y="5285232"/>
            <a:ext cx="10424160" cy="365760"/>
          </a:xfrm>
          <a:prstGeom prst="rect">
            <a:avLst/>
          </a:prstGeom>
          <a:noFill/>
          <a:ln/>
        </p:spPr>
        <p:txBody>
          <a:bodyPr wrap="square" lIns="0" tIns="0" rIns="0" bIns="0" rtlCol="0" anchor="ctr"/>
          <a:lstStyle/>
          <a:p>
            <a:pPr indent="0" marL="0">
              <a:lnSpc>
                <a:spcPts val="2100"/>
              </a:lnSpc>
              <a:buNone/>
            </a:pPr>
            <a:r>
              <a:rPr lang="en-US" sz="1450" b="1" dirty="0">
                <a:solidFill>
                  <a:srgbClr val="21295C"/>
                </a:solidFill>
                <a:latin typeface="Calibri" pitchFamily="34" charset="0"/>
                <a:ea typeface="Calibri" pitchFamily="34" charset="-122"/>
                <a:cs typeface="Calibri" pitchFamily="34" charset="-120"/>
              </a:rPr>
              <a:t>Hence a five-cycle costs two factors inside A₅, not four.</a:t>
            </a:r>
            <a:endParaRPr lang="en-US" sz="1450" dirty="0"/>
          </a:p>
        </p:txBody>
      </p:sp>
      <p:sp>
        <p:nvSpPr>
          <p:cNvPr id="20" name="Text 18"/>
          <p:cNvSpPr txBox="1"/>
          <p:nvPr/>
        </p:nvSpPr>
        <p:spPr>
          <a:xfrm>
            <a:off x="566928" y="5943600"/>
            <a:ext cx="11027664" cy="502920"/>
          </a:xfrm>
          <a:prstGeom prst="rect">
            <a:avLst/>
          </a:prstGeom>
          <a:noFill/>
          <a:ln/>
        </p:spPr>
        <p:txBody>
          <a:bodyPr wrap="square" lIns="0" tIns="0" rIns="0" bIns="0" rtlCol="0" anchor="ctr"/>
          <a:lstStyle/>
          <a:p>
            <a:pPr indent="0" marL="0">
              <a:lnSpc>
                <a:spcPts val="1600"/>
              </a:lnSpc>
              <a:buNone/>
            </a:pPr>
            <a:r>
              <a:rPr lang="en-US" sz="1250" i="1" dirty="0">
                <a:solidFill>
                  <a:srgbClr val="5C6378"/>
                </a:solidFill>
                <a:latin typeface="Calibri" pitchFamily="34" charset="0"/>
                <a:ea typeface="Calibri" pitchFamily="34" charset="-122"/>
                <a:cs typeface="Calibri" pitchFamily="34" charset="-120"/>
              </a:rPr>
              <a:t>Verified by constructing the icosahedral group from geometry: order 60, element-order profile {1:1, 2:15, 3:20, 5:24}, explicit isomorphism, every non-identity element of rank 2, two-reflection factorisation to 1.31 × 10⁻¹⁵.</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COST MODEL</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corrected cost model</a:t>
            </a:r>
            <a:endParaRPr lang="en-US" sz="3000" dirty="0"/>
          </a:p>
        </p:txBody>
      </p:sp>
      <p:sp>
        <p:nvSpPr>
          <p:cNvPr id="4" name="Shape 2"/>
          <p:cNvSpPr/>
          <p:nvPr/>
        </p:nvSpPr>
        <p:spPr>
          <a:xfrm>
            <a:off x="566928" y="1554480"/>
            <a:ext cx="11027664" cy="1051560"/>
          </a:xfrm>
          <a:prstGeom prst="roundRect">
            <a:avLst>
              <a:gd name="adj" fmla="val 5217"/>
            </a:avLst>
          </a:prstGeom>
          <a:solidFill>
            <a:srgbClr val="FAF2E4"/>
          </a:solidFill>
          <a:ln w="12700">
            <a:solidFill>
              <a:srgbClr val="FAF2E4"/>
            </a:solidFill>
            <a:prstDash val="solid"/>
          </a:ln>
        </p:spPr>
      </p:sp>
      <p:sp>
        <p:nvSpPr>
          <p:cNvPr id="5" name="Text 3"/>
          <p:cNvSpPr txBox="1"/>
          <p:nvPr/>
        </p:nvSpPr>
        <p:spPr>
          <a:xfrm>
            <a:off x="566928" y="1847088"/>
            <a:ext cx="11027664" cy="438912"/>
          </a:xfrm>
          <a:prstGeom prst="rect">
            <a:avLst/>
          </a:prstGeom>
          <a:noFill/>
          <a:ln/>
        </p:spPr>
        <p:txBody>
          <a:bodyPr wrap="square" lIns="0" tIns="0" rIns="0" bIns="0" rtlCol="0" anchor="ctr"/>
          <a:lstStyle/>
          <a:p>
            <a:pPr algn="ctr" indent="0" marL="0">
              <a:buNone/>
            </a:pPr>
            <a:r>
              <a:rPr lang="en-US" sz="1900" b="1" dirty="0">
                <a:solidFill>
                  <a:srgbClr val="21295C"/>
                </a:solidFill>
                <a:latin typeface="Calibri" pitchFamily="34" charset="0"/>
                <a:ea typeface="Calibri" pitchFamily="34" charset="-122"/>
                <a:cs typeface="Calibri" pitchFamily="34" charset="-120"/>
              </a:rPr>
              <a:t>D(g)   =   min over faithful representations ρ of ⟨Σ⟩   of   rank( ρ(g) − I )</a:t>
            </a:r>
            <a:endParaRPr lang="en-US" sz="1900" dirty="0"/>
          </a:p>
        </p:txBody>
      </p:sp>
      <p:sp>
        <p:nvSpPr>
          <p:cNvPr id="6" name="Text 4"/>
          <p:cNvSpPr txBox="1"/>
          <p:nvPr/>
        </p:nvSpPr>
        <p:spPr>
          <a:xfrm>
            <a:off x="566928" y="2834640"/>
            <a:ext cx="10881360" cy="411480"/>
          </a:xfrm>
          <a:prstGeom prst="rect">
            <a:avLst/>
          </a:prstGeom>
          <a:noFill/>
          <a:ln/>
        </p:spPr>
        <p:txBody>
          <a:bodyPr wrap="square" lIns="0" tIns="0" rIns="0" bIns="0" rtlCol="0" anchor="ctr"/>
          <a:lstStyle/>
          <a:p>
            <a:pPr indent="0" marL="0">
              <a:lnSpc>
                <a:spcPts val="2100"/>
              </a:lnSpc>
              <a:buNone/>
            </a:pPr>
            <a:r>
              <a:rPr lang="en-US" sz="1500" dirty="0">
                <a:solidFill>
                  <a:srgbClr val="1A1A2E"/>
                </a:solidFill>
                <a:latin typeface="Calibri" pitchFamily="34" charset="0"/>
                <a:ea typeface="Calibri" pitchFamily="34" charset="-122"/>
                <a:cs typeface="Calibri" pitchFamily="34" charset="-120"/>
              </a:rPr>
              <a:t>The minimum is taken over representations of the group generated by the whole alphabet Σ — not over anything computable from the token g alone.</a:t>
            </a:r>
            <a:endParaRPr lang="en-US" sz="1500" dirty="0"/>
          </a:p>
        </p:txBody>
      </p:sp>
      <p:sp>
        <p:nvSpPr>
          <p:cNvPr id="7" name="Text 5"/>
          <p:cNvSpPr txBox="1"/>
          <p:nvPr/>
        </p:nvSpPr>
        <p:spPr>
          <a:xfrm>
            <a:off x="658368" y="3429000"/>
            <a:ext cx="137160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Group</a:t>
            </a:r>
            <a:endParaRPr lang="en-US" sz="1250" dirty="0"/>
          </a:p>
        </p:txBody>
      </p:sp>
      <p:sp>
        <p:nvSpPr>
          <p:cNvPr id="8" name="Text 6"/>
          <p:cNvSpPr txBox="1"/>
          <p:nvPr/>
        </p:nvSpPr>
        <p:spPr>
          <a:xfrm>
            <a:off x="2029968" y="3429000"/>
            <a:ext cx="128016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Order</a:t>
            </a:r>
            <a:endParaRPr lang="en-US" sz="1250" dirty="0"/>
          </a:p>
        </p:txBody>
      </p:sp>
      <p:sp>
        <p:nvSpPr>
          <p:cNvPr id="9" name="Text 7"/>
          <p:cNvSpPr txBox="1"/>
          <p:nvPr/>
        </p:nvSpPr>
        <p:spPr>
          <a:xfrm>
            <a:off x="3310128" y="3429000"/>
            <a:ext cx="265176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Min faithful dim</a:t>
            </a:r>
            <a:endParaRPr lang="en-US" sz="1250" dirty="0"/>
          </a:p>
        </p:txBody>
      </p:sp>
      <p:sp>
        <p:nvSpPr>
          <p:cNvPr id="10" name="Text 8"/>
          <p:cNvSpPr txBox="1"/>
          <p:nvPr/>
        </p:nvSpPr>
        <p:spPr>
          <a:xfrm>
            <a:off x="5961888" y="3429000"/>
            <a:ext cx="274320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D over non-identity</a:t>
            </a:r>
            <a:endParaRPr lang="en-US" sz="1250" dirty="0"/>
          </a:p>
        </p:txBody>
      </p:sp>
      <p:sp>
        <p:nvSpPr>
          <p:cNvPr id="11" name="Text 9"/>
          <p:cNvSpPr txBox="1"/>
          <p:nvPr/>
        </p:nvSpPr>
        <p:spPr>
          <a:xfrm>
            <a:off x="8705088" y="3429000"/>
            <a:ext cx="137160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ℓ range</a:t>
            </a:r>
            <a:endParaRPr lang="en-US" sz="1250" dirty="0"/>
          </a:p>
        </p:txBody>
      </p:sp>
      <p:sp>
        <p:nvSpPr>
          <p:cNvPr id="12" name="Text 10"/>
          <p:cNvSpPr txBox="1"/>
          <p:nvPr/>
        </p:nvSpPr>
        <p:spPr>
          <a:xfrm>
            <a:off x="10076688" y="3429000"/>
            <a:ext cx="182880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Adaptivity applicable</a:t>
            </a:r>
            <a:endParaRPr lang="en-US" sz="1250" dirty="0"/>
          </a:p>
        </p:txBody>
      </p:sp>
      <p:sp>
        <p:nvSpPr>
          <p:cNvPr id="13" name="Text 11"/>
          <p:cNvSpPr txBox="1"/>
          <p:nvPr/>
        </p:nvSpPr>
        <p:spPr>
          <a:xfrm>
            <a:off x="658368" y="381304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S₃</a:t>
            </a:r>
            <a:endParaRPr lang="en-US" sz="1450" dirty="0"/>
          </a:p>
        </p:txBody>
      </p:sp>
      <p:sp>
        <p:nvSpPr>
          <p:cNvPr id="14" name="Text 12"/>
          <p:cNvSpPr txBox="1"/>
          <p:nvPr/>
        </p:nvSpPr>
        <p:spPr>
          <a:xfrm>
            <a:off x="2029968" y="3813048"/>
            <a:ext cx="12801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6</a:t>
            </a:r>
            <a:endParaRPr lang="en-US" sz="1450" dirty="0"/>
          </a:p>
        </p:txBody>
      </p:sp>
      <p:sp>
        <p:nvSpPr>
          <p:cNvPr id="15" name="Text 13"/>
          <p:cNvSpPr txBox="1"/>
          <p:nvPr/>
        </p:nvSpPr>
        <p:spPr>
          <a:xfrm>
            <a:off x="3310128" y="3813048"/>
            <a:ext cx="26517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2</a:t>
            </a:r>
            <a:endParaRPr lang="en-US" sz="1450" dirty="0"/>
          </a:p>
        </p:txBody>
      </p:sp>
      <p:sp>
        <p:nvSpPr>
          <p:cNvPr id="16" name="Text 14"/>
          <p:cNvSpPr txBox="1"/>
          <p:nvPr/>
        </p:nvSpPr>
        <p:spPr>
          <a:xfrm>
            <a:off x="5961888" y="3813048"/>
            <a:ext cx="27432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1, 2</a:t>
            </a:r>
            <a:endParaRPr lang="en-US" sz="1450" dirty="0"/>
          </a:p>
        </p:txBody>
      </p:sp>
      <p:sp>
        <p:nvSpPr>
          <p:cNvPr id="17" name="Text 15"/>
          <p:cNvSpPr txBox="1"/>
          <p:nvPr/>
        </p:nvSpPr>
        <p:spPr>
          <a:xfrm>
            <a:off x="8705088" y="381304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1–2</a:t>
            </a:r>
            <a:endParaRPr lang="en-US" sz="1450" dirty="0"/>
          </a:p>
        </p:txBody>
      </p:sp>
      <p:sp>
        <p:nvSpPr>
          <p:cNvPr id="18" name="Text 16"/>
          <p:cNvSpPr txBox="1"/>
          <p:nvPr/>
        </p:nvSpPr>
        <p:spPr>
          <a:xfrm>
            <a:off x="10076688" y="3813048"/>
            <a:ext cx="18288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yes</a:t>
            </a:r>
            <a:endParaRPr lang="en-US" sz="1450" dirty="0"/>
          </a:p>
        </p:txBody>
      </p:sp>
      <p:sp>
        <p:nvSpPr>
          <p:cNvPr id="19" name="Text 17"/>
          <p:cNvSpPr txBox="1"/>
          <p:nvPr/>
        </p:nvSpPr>
        <p:spPr>
          <a:xfrm>
            <a:off x="658368" y="417880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S₄</a:t>
            </a:r>
            <a:endParaRPr lang="en-US" sz="1450" dirty="0"/>
          </a:p>
        </p:txBody>
      </p:sp>
      <p:sp>
        <p:nvSpPr>
          <p:cNvPr id="20" name="Text 18"/>
          <p:cNvSpPr txBox="1"/>
          <p:nvPr/>
        </p:nvSpPr>
        <p:spPr>
          <a:xfrm>
            <a:off x="2029968" y="4178808"/>
            <a:ext cx="12801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24</a:t>
            </a:r>
            <a:endParaRPr lang="en-US" sz="1450" dirty="0"/>
          </a:p>
        </p:txBody>
      </p:sp>
      <p:sp>
        <p:nvSpPr>
          <p:cNvPr id="21" name="Text 19"/>
          <p:cNvSpPr txBox="1"/>
          <p:nvPr/>
        </p:nvSpPr>
        <p:spPr>
          <a:xfrm>
            <a:off x="3310128" y="4178808"/>
            <a:ext cx="26517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3</a:t>
            </a:r>
            <a:endParaRPr lang="en-US" sz="1450" dirty="0"/>
          </a:p>
        </p:txBody>
      </p:sp>
      <p:sp>
        <p:nvSpPr>
          <p:cNvPr id="22" name="Text 20"/>
          <p:cNvSpPr txBox="1"/>
          <p:nvPr/>
        </p:nvSpPr>
        <p:spPr>
          <a:xfrm>
            <a:off x="5961888" y="4178808"/>
            <a:ext cx="27432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1, 2, 3</a:t>
            </a:r>
            <a:endParaRPr lang="en-US" sz="1450" dirty="0"/>
          </a:p>
        </p:txBody>
      </p:sp>
      <p:sp>
        <p:nvSpPr>
          <p:cNvPr id="23" name="Text 21"/>
          <p:cNvSpPr txBox="1"/>
          <p:nvPr/>
        </p:nvSpPr>
        <p:spPr>
          <a:xfrm>
            <a:off x="8705088" y="417880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1–3</a:t>
            </a:r>
            <a:endParaRPr lang="en-US" sz="1450" dirty="0"/>
          </a:p>
        </p:txBody>
      </p:sp>
      <p:sp>
        <p:nvSpPr>
          <p:cNvPr id="24" name="Text 22"/>
          <p:cNvSpPr txBox="1"/>
          <p:nvPr/>
        </p:nvSpPr>
        <p:spPr>
          <a:xfrm>
            <a:off x="10076688" y="4178808"/>
            <a:ext cx="18288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yes</a:t>
            </a:r>
            <a:endParaRPr lang="en-US" sz="1450" dirty="0"/>
          </a:p>
        </p:txBody>
      </p:sp>
      <p:sp>
        <p:nvSpPr>
          <p:cNvPr id="25" name="Text 23"/>
          <p:cNvSpPr txBox="1"/>
          <p:nvPr/>
        </p:nvSpPr>
        <p:spPr>
          <a:xfrm>
            <a:off x="658368" y="454456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A₄</a:t>
            </a:r>
            <a:endParaRPr lang="en-US" sz="1450" dirty="0"/>
          </a:p>
        </p:txBody>
      </p:sp>
      <p:sp>
        <p:nvSpPr>
          <p:cNvPr id="26" name="Text 24"/>
          <p:cNvSpPr txBox="1"/>
          <p:nvPr/>
        </p:nvSpPr>
        <p:spPr>
          <a:xfrm>
            <a:off x="2029968" y="4544568"/>
            <a:ext cx="12801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12</a:t>
            </a:r>
            <a:endParaRPr lang="en-US" sz="1450" dirty="0"/>
          </a:p>
        </p:txBody>
      </p:sp>
      <p:sp>
        <p:nvSpPr>
          <p:cNvPr id="27" name="Text 25"/>
          <p:cNvSpPr txBox="1"/>
          <p:nvPr/>
        </p:nvSpPr>
        <p:spPr>
          <a:xfrm>
            <a:off x="3310128" y="4544568"/>
            <a:ext cx="26517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3</a:t>
            </a:r>
            <a:endParaRPr lang="en-US" sz="1450" dirty="0"/>
          </a:p>
        </p:txBody>
      </p:sp>
      <p:sp>
        <p:nvSpPr>
          <p:cNvPr id="28" name="Text 26"/>
          <p:cNvSpPr txBox="1"/>
          <p:nvPr/>
        </p:nvSpPr>
        <p:spPr>
          <a:xfrm>
            <a:off x="5961888" y="4544568"/>
            <a:ext cx="27432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2 only</a:t>
            </a:r>
            <a:endParaRPr lang="en-US" sz="1450" dirty="0"/>
          </a:p>
        </p:txBody>
      </p:sp>
      <p:sp>
        <p:nvSpPr>
          <p:cNvPr id="29" name="Text 27"/>
          <p:cNvSpPr txBox="1"/>
          <p:nvPr/>
        </p:nvSpPr>
        <p:spPr>
          <a:xfrm>
            <a:off x="8705088" y="454456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2</a:t>
            </a:r>
            <a:endParaRPr lang="en-US" sz="1450" dirty="0"/>
          </a:p>
        </p:txBody>
      </p:sp>
      <p:sp>
        <p:nvSpPr>
          <p:cNvPr id="30" name="Text 28"/>
          <p:cNvSpPr txBox="1"/>
          <p:nvPr/>
        </p:nvSpPr>
        <p:spPr>
          <a:xfrm>
            <a:off x="10076688" y="4544568"/>
            <a:ext cx="1828800" cy="310896"/>
          </a:xfrm>
          <a:prstGeom prst="rect">
            <a:avLst/>
          </a:prstGeom>
          <a:noFill/>
          <a:ln/>
        </p:spPr>
        <p:txBody>
          <a:bodyPr wrap="square" lIns="0" tIns="0" rIns="0" bIns="0" rtlCol="0" anchor="ctr"/>
          <a:lstStyle/>
          <a:p>
            <a:pPr indent="0" marL="0">
              <a:buNone/>
            </a:pPr>
            <a:r>
              <a:rPr lang="en-US" sz="1450" dirty="0">
                <a:solidFill>
                  <a:srgbClr val="B8791F"/>
                </a:solidFill>
                <a:latin typeface="Calibri" pitchFamily="34" charset="0"/>
                <a:ea typeface="Calibri" pitchFamily="34" charset="-122"/>
                <a:cs typeface="Calibri" pitchFamily="34" charset="-120"/>
              </a:rPr>
              <a:t>no</a:t>
            </a:r>
            <a:endParaRPr lang="en-US" sz="1450" dirty="0"/>
          </a:p>
        </p:txBody>
      </p:sp>
      <p:sp>
        <p:nvSpPr>
          <p:cNvPr id="31" name="Text 29"/>
          <p:cNvSpPr txBox="1"/>
          <p:nvPr/>
        </p:nvSpPr>
        <p:spPr>
          <a:xfrm>
            <a:off x="658368" y="491032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A₅</a:t>
            </a:r>
            <a:endParaRPr lang="en-US" sz="1450" dirty="0"/>
          </a:p>
        </p:txBody>
      </p:sp>
      <p:sp>
        <p:nvSpPr>
          <p:cNvPr id="32" name="Text 30"/>
          <p:cNvSpPr txBox="1"/>
          <p:nvPr/>
        </p:nvSpPr>
        <p:spPr>
          <a:xfrm>
            <a:off x="2029968" y="4910328"/>
            <a:ext cx="12801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60</a:t>
            </a:r>
            <a:endParaRPr lang="en-US" sz="1450" dirty="0"/>
          </a:p>
        </p:txBody>
      </p:sp>
      <p:sp>
        <p:nvSpPr>
          <p:cNvPr id="33" name="Text 31"/>
          <p:cNvSpPr txBox="1"/>
          <p:nvPr/>
        </p:nvSpPr>
        <p:spPr>
          <a:xfrm>
            <a:off x="3310128" y="4910328"/>
            <a:ext cx="26517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3</a:t>
            </a:r>
            <a:endParaRPr lang="en-US" sz="1450" dirty="0"/>
          </a:p>
        </p:txBody>
      </p:sp>
      <p:sp>
        <p:nvSpPr>
          <p:cNvPr id="34" name="Text 32"/>
          <p:cNvSpPr txBox="1"/>
          <p:nvPr/>
        </p:nvSpPr>
        <p:spPr>
          <a:xfrm>
            <a:off x="5961888" y="4910328"/>
            <a:ext cx="27432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2 only</a:t>
            </a:r>
            <a:endParaRPr lang="en-US" sz="1450" dirty="0"/>
          </a:p>
        </p:txBody>
      </p:sp>
      <p:sp>
        <p:nvSpPr>
          <p:cNvPr id="35" name="Text 33"/>
          <p:cNvSpPr txBox="1"/>
          <p:nvPr/>
        </p:nvSpPr>
        <p:spPr>
          <a:xfrm>
            <a:off x="8705088" y="491032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2–4</a:t>
            </a:r>
            <a:endParaRPr lang="en-US" sz="1450" dirty="0"/>
          </a:p>
        </p:txBody>
      </p:sp>
      <p:sp>
        <p:nvSpPr>
          <p:cNvPr id="36" name="Text 34"/>
          <p:cNvSpPr txBox="1"/>
          <p:nvPr/>
        </p:nvSpPr>
        <p:spPr>
          <a:xfrm>
            <a:off x="10076688" y="4910328"/>
            <a:ext cx="1828800" cy="310896"/>
          </a:xfrm>
          <a:prstGeom prst="rect">
            <a:avLst/>
          </a:prstGeom>
          <a:noFill/>
          <a:ln/>
        </p:spPr>
        <p:txBody>
          <a:bodyPr wrap="square" lIns="0" tIns="0" rIns="0" bIns="0" rtlCol="0" anchor="ctr"/>
          <a:lstStyle/>
          <a:p>
            <a:pPr indent="0" marL="0">
              <a:buNone/>
            </a:pPr>
            <a:r>
              <a:rPr lang="en-US" sz="1450" dirty="0">
                <a:solidFill>
                  <a:srgbClr val="B8791F"/>
                </a:solidFill>
                <a:latin typeface="Calibri" pitchFamily="34" charset="0"/>
                <a:ea typeface="Calibri" pitchFamily="34" charset="-122"/>
                <a:cs typeface="Calibri" pitchFamily="34" charset="-120"/>
              </a:rPr>
              <a:t>no</a:t>
            </a:r>
            <a:endParaRPr lang="en-US" sz="1450" dirty="0"/>
          </a:p>
        </p:txBody>
      </p:sp>
      <p:sp>
        <p:nvSpPr>
          <p:cNvPr id="37" name="Text 35"/>
          <p:cNvSpPr txBox="1"/>
          <p:nvPr/>
        </p:nvSpPr>
        <p:spPr>
          <a:xfrm>
            <a:off x="658368" y="527608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S₅</a:t>
            </a:r>
            <a:endParaRPr lang="en-US" sz="1450" dirty="0"/>
          </a:p>
        </p:txBody>
      </p:sp>
      <p:sp>
        <p:nvSpPr>
          <p:cNvPr id="38" name="Text 36"/>
          <p:cNvSpPr txBox="1"/>
          <p:nvPr/>
        </p:nvSpPr>
        <p:spPr>
          <a:xfrm>
            <a:off x="2029968" y="5276088"/>
            <a:ext cx="12801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120</a:t>
            </a:r>
            <a:endParaRPr lang="en-US" sz="1450" dirty="0"/>
          </a:p>
        </p:txBody>
      </p:sp>
      <p:sp>
        <p:nvSpPr>
          <p:cNvPr id="39" name="Text 37"/>
          <p:cNvSpPr txBox="1"/>
          <p:nvPr/>
        </p:nvSpPr>
        <p:spPr>
          <a:xfrm>
            <a:off x="3310128" y="5276088"/>
            <a:ext cx="26517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4</a:t>
            </a:r>
            <a:endParaRPr lang="en-US" sz="1450" dirty="0"/>
          </a:p>
        </p:txBody>
      </p:sp>
      <p:sp>
        <p:nvSpPr>
          <p:cNvPr id="40" name="Text 38"/>
          <p:cNvSpPr txBox="1"/>
          <p:nvPr/>
        </p:nvSpPr>
        <p:spPr>
          <a:xfrm>
            <a:off x="5961888" y="5276088"/>
            <a:ext cx="27432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1, 2, 3, 4</a:t>
            </a:r>
            <a:endParaRPr lang="en-US" sz="1450" dirty="0"/>
          </a:p>
        </p:txBody>
      </p:sp>
      <p:sp>
        <p:nvSpPr>
          <p:cNvPr id="41" name="Text 39"/>
          <p:cNvSpPr txBox="1"/>
          <p:nvPr/>
        </p:nvSpPr>
        <p:spPr>
          <a:xfrm>
            <a:off x="8705088" y="527608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1–4</a:t>
            </a:r>
            <a:endParaRPr lang="en-US" sz="1450" dirty="0"/>
          </a:p>
        </p:txBody>
      </p:sp>
      <p:sp>
        <p:nvSpPr>
          <p:cNvPr id="42" name="Text 40"/>
          <p:cNvSpPr txBox="1"/>
          <p:nvPr/>
        </p:nvSpPr>
        <p:spPr>
          <a:xfrm>
            <a:off x="10076688" y="5276088"/>
            <a:ext cx="18288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yes</a:t>
            </a:r>
            <a:endParaRPr lang="en-US" sz="1450" dirty="0"/>
          </a:p>
        </p:txBody>
      </p:sp>
      <p:sp>
        <p:nvSpPr>
          <p:cNvPr id="43" name="Shape 41"/>
          <p:cNvSpPr/>
          <p:nvPr/>
        </p:nvSpPr>
        <p:spPr>
          <a:xfrm>
            <a:off x="566928" y="5623560"/>
            <a:ext cx="11027664" cy="841248"/>
          </a:xfrm>
          <a:prstGeom prst="roundRect">
            <a:avLst>
              <a:gd name="adj" fmla="val 6522"/>
            </a:avLst>
          </a:prstGeom>
          <a:solidFill>
            <a:srgbClr val="EEF1F6"/>
          </a:solidFill>
          <a:ln w="12700">
            <a:solidFill>
              <a:srgbClr val="EEF1F6"/>
            </a:solidFill>
            <a:prstDash val="solid"/>
          </a:ln>
        </p:spPr>
      </p:sp>
      <p:sp>
        <p:nvSpPr>
          <p:cNvPr id="44" name="Text 42"/>
          <p:cNvSpPr txBox="1"/>
          <p:nvPr/>
        </p:nvSpPr>
        <p:spPr>
          <a:xfrm>
            <a:off x="950976" y="5833872"/>
            <a:ext cx="10241280" cy="457200"/>
          </a:xfrm>
          <a:prstGeom prst="rect">
            <a:avLst/>
          </a:prstGeom>
          <a:noFill/>
          <a:ln/>
        </p:spPr>
        <p:txBody>
          <a:bodyPr wrap="square" lIns="0" tIns="0" rIns="0" bIns="0" rtlCol="0" anchor="ctr"/>
          <a:lstStyle/>
          <a:p>
            <a:pPr indent="0" marL="0">
              <a:lnSpc>
                <a:spcPts val="2100"/>
              </a:lnSpc>
              <a:buNone/>
            </a:pPr>
            <a:r>
              <a:rPr lang="en-US" sz="1400" dirty="0">
                <a:solidFill>
                  <a:srgbClr val="5C6378"/>
                </a:solidFill>
                <a:latin typeface="Calibri" pitchFamily="34" charset="0"/>
                <a:ea typeface="Calibri" pitchFamily="34" charset="-122"/>
                <a:cs typeface="Calibri" pitchFamily="34" charset="-120"/>
              </a:rPr>
              <a:t>Where D is constant across the alphabet — A₄ and A₅ — adaptive order cannot help at all. We can now predict this before running an experiment.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66928" y="777240"/>
            <a:ext cx="10881360" cy="292608"/>
          </a:xfrm>
          <a:prstGeom prst="rect">
            <a:avLst/>
          </a:prstGeom>
          <a:noFill/>
          <a:ln/>
        </p:spPr>
        <p:txBody>
          <a:bodyPr wrap="square" lIns="0" tIns="0" rIns="0" bIns="0" rtlCol="0" anchor="ctr"/>
          <a:lstStyle/>
          <a:p>
            <a:pPr indent="0" marL="0">
              <a:buNone/>
            </a:pPr>
            <a:r>
              <a:rPr lang="en-US" sz="1200" b="1" spc="300" kern="0" dirty="0">
                <a:solidFill>
                  <a:srgbClr val="B8791F"/>
                </a:solidFill>
                <a:latin typeface="Calibri" pitchFamily="34" charset="0"/>
                <a:ea typeface="Calibri" pitchFamily="34" charset="-122"/>
                <a:cs typeface="Calibri" pitchFamily="34" charset="-120"/>
              </a:rPr>
              <a:t>CONSEQUENCE</a:t>
            </a:r>
            <a:endParaRPr lang="en-US" sz="1200" dirty="0"/>
          </a:p>
        </p:txBody>
      </p:sp>
      <p:sp>
        <p:nvSpPr>
          <p:cNvPr id="3" name="Text 1"/>
          <p:cNvSpPr txBox="1"/>
          <p:nvPr/>
        </p:nvSpPr>
        <p:spPr>
          <a:xfrm>
            <a:off x="566928" y="1325880"/>
            <a:ext cx="10881360" cy="1234440"/>
          </a:xfrm>
          <a:prstGeom prst="rect">
            <a:avLst/>
          </a:prstGeom>
          <a:noFill/>
          <a:ln/>
        </p:spPr>
        <p:txBody>
          <a:bodyPr wrap="square" lIns="0" tIns="0" rIns="0" bIns="0" rtlCol="0" anchor="ctr"/>
          <a:lstStyle/>
          <a:p>
            <a:pPr indent="0" marL="0">
              <a:lnSpc>
                <a:spcPts val="4400"/>
              </a:lnSpc>
              <a:buNone/>
            </a:pPr>
            <a:r>
              <a:rPr lang="en-US" sz="3000" b="1" dirty="0">
                <a:solidFill>
                  <a:srgbClr val="FFFFFF"/>
                </a:solidFill>
                <a:latin typeface="Cambria" pitchFamily="34" charset="0"/>
                <a:ea typeface="Cambria" pitchFamily="34" charset="-122"/>
                <a:cs typeface="Cambria" pitchFamily="34" charset="-120"/>
              </a:rPr>
              <a:t>The demand of a token is a property of the alphabet,</a:t>
            </a:r>
            <a:endParaRPr lang="en-US" sz="3000" dirty="0"/>
          </a:p>
          <a:p>
            <a:pPr indent="0" marL="0">
              <a:lnSpc>
                <a:spcPts val="4400"/>
              </a:lnSpc>
              <a:buNone/>
            </a:pPr>
            <a:r>
              <a:rPr lang="en-US" sz="3000" b="1" dirty="0">
                <a:solidFill>
                  <a:srgbClr val="FFFFFF"/>
                </a:solidFill>
                <a:latin typeface="Cambria" pitchFamily="34" charset="0"/>
                <a:ea typeface="Cambria" pitchFamily="34" charset="-122"/>
                <a:cs typeface="Cambria" pitchFamily="34" charset="-120"/>
              </a:rPr>
              <a:t>not a property of the token.</a:t>
            </a:r>
            <a:endParaRPr lang="en-US" sz="3000" dirty="0"/>
          </a:p>
        </p:txBody>
      </p:sp>
      <p:sp>
        <p:nvSpPr>
          <p:cNvPr id="4" name="Text 2"/>
          <p:cNvSpPr txBox="1"/>
          <p:nvPr/>
        </p:nvSpPr>
        <p:spPr>
          <a:xfrm>
            <a:off x="566928" y="2834640"/>
            <a:ext cx="10332720" cy="914400"/>
          </a:xfrm>
          <a:prstGeom prst="rect">
            <a:avLst/>
          </a:prstGeom>
          <a:noFill/>
          <a:ln/>
        </p:spPr>
        <p:txBody>
          <a:bodyPr wrap="square" lIns="0" tIns="0" rIns="0" bIns="0" rtlCol="0" anchor="ctr"/>
          <a:lstStyle/>
          <a:p>
            <a:pPr indent="0" marL="0">
              <a:lnSpc>
                <a:spcPts val="2100"/>
              </a:lnSpc>
              <a:buNone/>
            </a:pPr>
            <a:r>
              <a:rPr lang="en-US" sz="1550" dirty="0">
                <a:solidFill>
                  <a:srgbClr val="CADCFC"/>
                </a:solidFill>
                <a:latin typeface="Calibri" pitchFamily="34" charset="0"/>
                <a:ea typeface="Calibri" pitchFamily="34" charset="-122"/>
                <a:cs typeface="Calibri" pitchFamily="34" charset="-120"/>
              </a:rPr>
              <a:t>Adjoining a single transposition to an alphabet of five-cycles closes it over S₅ rather than A₅. S₅ admits no faithful representation below dimension 4, so the three-dimensional construction is unavailable and the demand of every five-cycle doubles from 2 to 4.</a:t>
            </a:r>
            <a:endParaRPr lang="en-US" sz="1550" dirty="0"/>
          </a:p>
        </p:txBody>
      </p:sp>
      <p:sp>
        <p:nvSpPr>
          <p:cNvPr id="5" name="Shape 3"/>
          <p:cNvSpPr/>
          <p:nvPr/>
        </p:nvSpPr>
        <p:spPr>
          <a:xfrm>
            <a:off x="566928" y="3931920"/>
            <a:ext cx="11027664" cy="1234440"/>
          </a:xfrm>
          <a:prstGeom prst="roundRect">
            <a:avLst>
              <a:gd name="adj" fmla="val 4444"/>
            </a:avLst>
          </a:prstGeom>
          <a:solidFill>
            <a:srgbClr val="B8791F"/>
          </a:solidFill>
          <a:ln w="12700">
            <a:solidFill>
              <a:srgbClr val="B8791F"/>
            </a:solidFill>
            <a:prstDash val="solid"/>
          </a:ln>
        </p:spPr>
      </p:sp>
      <p:sp>
        <p:nvSpPr>
          <p:cNvPr id="6" name="Text 4"/>
          <p:cNvSpPr txBox="1"/>
          <p:nvPr/>
        </p:nvSpPr>
        <p:spPr>
          <a:xfrm>
            <a:off x="1024128" y="4224528"/>
            <a:ext cx="10149840" cy="685800"/>
          </a:xfrm>
          <a:prstGeom prst="rect">
            <a:avLst/>
          </a:prstGeom>
          <a:noFill/>
          <a:ln/>
        </p:spPr>
        <p:txBody>
          <a:bodyPr wrap="square" lIns="0" tIns="0" rIns="0" bIns="0" rtlCol="0" anchor="ctr"/>
          <a:lstStyle/>
          <a:p>
            <a:pPr indent="0" marL="0">
              <a:buNone/>
            </a:pPr>
            <a:r>
              <a:rPr lang="en-US" sz="2100" b="1" dirty="0">
                <a:solidFill>
                  <a:srgbClr val="2A1B00"/>
                </a:solidFill>
                <a:latin typeface="Cambria" pitchFamily="34" charset="0"/>
                <a:ea typeface="Cambria" pitchFamily="34" charset="-122"/>
                <a:cs typeface="Cambria" pitchFamily="34" charset="-120"/>
              </a:rPr>
              <a:t>Adjoining the cheapest symbol in the group doubles the cost of every other symbol.</a:t>
            </a:r>
            <a:endParaRPr lang="en-US" sz="2100" dirty="0"/>
          </a:p>
        </p:txBody>
      </p:sp>
      <p:sp>
        <p:nvSpPr>
          <p:cNvPr id="7" name="Text 5"/>
          <p:cNvSpPr txBox="1"/>
          <p:nvPr/>
        </p:nvSpPr>
        <p:spPr>
          <a:xfrm>
            <a:off x="566928" y="5440680"/>
            <a:ext cx="10881360" cy="640080"/>
          </a:xfrm>
          <a:prstGeom prst="rect">
            <a:avLst/>
          </a:prstGeom>
          <a:noFill/>
          <a:ln/>
        </p:spPr>
        <p:txBody>
          <a:bodyPr wrap="square" lIns="0" tIns="0" rIns="0" bIns="0" rtlCol="0" anchor="ctr"/>
          <a:lstStyle/>
          <a:p>
            <a:pPr indent="0" marL="0">
              <a:lnSpc>
                <a:spcPts val="2100"/>
              </a:lnSpc>
              <a:buNone/>
            </a:pPr>
            <a:r>
              <a:rPr lang="en-US" sz="1400" dirty="0">
                <a:solidFill>
                  <a:srgbClr val="9AA6C9"/>
                </a:solidFill>
                <a:latin typeface="Calibri" pitchFamily="34" charset="0"/>
                <a:ea typeface="Calibri" pitchFamily="34" charset="-122"/>
                <a:cs typeface="Calibri" pitchFamily="34" charset="-120"/>
              </a:rPr>
              <a:t>No per-token difficulty model can produce this behaviour. It contradicts the cost accounting implicit in the published work, and it is the part of this project that is ours.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COST MODEL</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Implication for the hyperparameter</a:t>
            </a:r>
            <a:endParaRPr lang="en-US" sz="3000" dirty="0"/>
          </a:p>
        </p:txBody>
      </p:sp>
      <p:sp>
        <p:nvSpPr>
          <p:cNvPr id="4" name="Shape 2"/>
          <p:cNvSpPr/>
          <p:nvPr/>
        </p:nvSpPr>
        <p:spPr>
          <a:xfrm>
            <a:off x="566928" y="1737360"/>
            <a:ext cx="11027664" cy="1325880"/>
          </a:xfrm>
          <a:prstGeom prst="roundRect">
            <a:avLst>
              <a:gd name="adj" fmla="val 4138"/>
            </a:avLst>
          </a:prstGeom>
          <a:solidFill>
            <a:srgbClr val="EEF1F6"/>
          </a:solidFill>
          <a:ln w="12700">
            <a:solidFill>
              <a:srgbClr val="EEF1F6"/>
            </a:solidFill>
            <a:prstDash val="solid"/>
          </a:ln>
        </p:spPr>
      </p:sp>
      <p:sp>
        <p:nvSpPr>
          <p:cNvPr id="5" name="Shape 3"/>
          <p:cNvSpPr/>
          <p:nvPr/>
        </p:nvSpPr>
        <p:spPr>
          <a:xfrm>
            <a:off x="950976" y="1993392"/>
            <a:ext cx="365760" cy="365760"/>
          </a:xfrm>
          <a:prstGeom prst="ellipse">
            <a:avLst/>
          </a:prstGeom>
          <a:solidFill>
            <a:srgbClr val="1C7293"/>
          </a:solidFill>
          <a:ln w="12700">
            <a:solidFill>
              <a:srgbClr val="333333"/>
            </a:solidFill>
            <a:prstDash val="solid"/>
          </a:ln>
        </p:spPr>
      </p:sp>
      <p:sp>
        <p:nvSpPr>
          <p:cNvPr id="6" name="Text 4"/>
          <p:cNvSpPr txBox="1"/>
          <p:nvPr/>
        </p:nvSpPr>
        <p:spPr>
          <a:xfrm>
            <a:off x="950976" y="19933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481328" y="1956816"/>
            <a:ext cx="9692640" cy="310896"/>
          </a:xfrm>
          <a:prstGeom prst="rect">
            <a:avLst/>
          </a:prstGeom>
          <a:noFill/>
          <a:ln/>
        </p:spPr>
        <p:txBody>
          <a:bodyPr wrap="square" lIns="0" tIns="0" rIns="0" bIns="0" rtlCol="0" anchor="ctr"/>
          <a:lstStyle/>
          <a:p>
            <a:pPr indent="0" marL="0">
              <a:buNone/>
            </a:pPr>
            <a:r>
              <a:rPr lang="en-US" sz="1650" b="1" dirty="0">
                <a:solidFill>
                  <a:srgbClr val="21295C"/>
                </a:solidFill>
                <a:latin typeface="Calibri" pitchFamily="34" charset="0"/>
                <a:ea typeface="Calibri" pitchFamily="34" charset="-122"/>
                <a:cs typeface="Calibri" pitchFamily="34" charset="-120"/>
              </a:rPr>
              <a:t>The budget cannot be read off the data.</a:t>
            </a:r>
            <a:endParaRPr lang="en-US" sz="1650" dirty="0"/>
          </a:p>
        </p:txBody>
      </p:sp>
      <p:sp>
        <p:nvSpPr>
          <p:cNvPr id="8" name="Text 6"/>
          <p:cNvSpPr txBox="1"/>
          <p:nvPr/>
        </p:nvSpPr>
        <p:spPr>
          <a:xfrm>
            <a:off x="1481328" y="2340864"/>
            <a:ext cx="9692640" cy="566928"/>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Two tasks containing identical tokens have different demands. Inspecting tokens, however many, yields no information about the requirement.</a:t>
            </a:r>
            <a:endParaRPr lang="en-US" sz="1400" dirty="0"/>
          </a:p>
        </p:txBody>
      </p:sp>
      <p:sp>
        <p:nvSpPr>
          <p:cNvPr id="9" name="Shape 7"/>
          <p:cNvSpPr/>
          <p:nvPr/>
        </p:nvSpPr>
        <p:spPr>
          <a:xfrm>
            <a:off x="566928" y="3218688"/>
            <a:ext cx="11027664" cy="1325880"/>
          </a:xfrm>
          <a:prstGeom prst="roundRect">
            <a:avLst>
              <a:gd name="adj" fmla="val 4138"/>
            </a:avLst>
          </a:prstGeom>
          <a:solidFill>
            <a:srgbClr val="EEF1F6"/>
          </a:solidFill>
          <a:ln w="12700">
            <a:solidFill>
              <a:srgbClr val="EEF1F6"/>
            </a:solidFill>
            <a:prstDash val="solid"/>
          </a:ln>
        </p:spPr>
      </p:sp>
      <p:sp>
        <p:nvSpPr>
          <p:cNvPr id="10" name="Shape 8"/>
          <p:cNvSpPr/>
          <p:nvPr/>
        </p:nvSpPr>
        <p:spPr>
          <a:xfrm>
            <a:off x="950976" y="3474720"/>
            <a:ext cx="365760" cy="365760"/>
          </a:xfrm>
          <a:prstGeom prst="ellipse">
            <a:avLst/>
          </a:prstGeom>
          <a:solidFill>
            <a:srgbClr val="1C7293"/>
          </a:solidFill>
          <a:ln w="12700">
            <a:solidFill>
              <a:srgbClr val="333333"/>
            </a:solidFill>
            <a:prstDash val="solid"/>
          </a:ln>
        </p:spPr>
      </p:sp>
      <p:sp>
        <p:nvSpPr>
          <p:cNvPr id="11" name="Text 9"/>
          <p:cNvSpPr txBox="1"/>
          <p:nvPr/>
        </p:nvSpPr>
        <p:spPr>
          <a:xfrm>
            <a:off x="950976" y="3474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481328" y="3438144"/>
            <a:ext cx="9692640" cy="310896"/>
          </a:xfrm>
          <a:prstGeom prst="rect">
            <a:avLst/>
          </a:prstGeom>
          <a:noFill/>
          <a:ln/>
        </p:spPr>
        <p:txBody>
          <a:bodyPr wrap="square" lIns="0" tIns="0" rIns="0" bIns="0" rtlCol="0" anchor="ctr"/>
          <a:lstStyle/>
          <a:p>
            <a:pPr indent="0" marL="0">
              <a:buNone/>
            </a:pPr>
            <a:r>
              <a:rPr lang="en-US" sz="1650" b="1" dirty="0">
                <a:solidFill>
                  <a:srgbClr val="21295C"/>
                </a:solidFill>
                <a:latin typeface="Calibri" pitchFamily="34" charset="0"/>
                <a:ea typeface="Calibri" pitchFamily="34" charset="-122"/>
                <a:cs typeface="Calibri" pitchFamily="34" charset="-120"/>
              </a:rPr>
              <a:t>Determining it requires representation theory on the alphabet.</a:t>
            </a:r>
            <a:endParaRPr lang="en-US" sz="1650" dirty="0"/>
          </a:p>
        </p:txBody>
      </p:sp>
      <p:sp>
        <p:nvSpPr>
          <p:cNvPr id="13" name="Text 11"/>
          <p:cNvSpPr txBox="1"/>
          <p:nvPr/>
        </p:nvSpPr>
        <p:spPr>
          <a:xfrm>
            <a:off x="1481328" y="3822192"/>
            <a:ext cx="9692640" cy="566928"/>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Specifically, the minimum faithful representation dimension of the generated group. This is not a computation available to a practitioner deploying the layer.</a:t>
            </a:r>
            <a:endParaRPr lang="en-US" sz="1400" dirty="0"/>
          </a:p>
        </p:txBody>
      </p:sp>
      <p:sp>
        <p:nvSpPr>
          <p:cNvPr id="14" name="Shape 12"/>
          <p:cNvSpPr/>
          <p:nvPr/>
        </p:nvSpPr>
        <p:spPr>
          <a:xfrm>
            <a:off x="566928" y="4700016"/>
            <a:ext cx="11027664" cy="1325880"/>
          </a:xfrm>
          <a:prstGeom prst="roundRect">
            <a:avLst>
              <a:gd name="adj" fmla="val 4138"/>
            </a:avLst>
          </a:prstGeom>
          <a:solidFill>
            <a:srgbClr val="FAF2E4"/>
          </a:solidFill>
          <a:ln w="12700">
            <a:solidFill>
              <a:srgbClr val="FAF2E4"/>
            </a:solidFill>
            <a:prstDash val="solid"/>
          </a:ln>
        </p:spPr>
      </p:sp>
      <p:sp>
        <p:nvSpPr>
          <p:cNvPr id="15" name="Shape 13"/>
          <p:cNvSpPr/>
          <p:nvPr/>
        </p:nvSpPr>
        <p:spPr>
          <a:xfrm>
            <a:off x="950976" y="4956048"/>
            <a:ext cx="365760" cy="365760"/>
          </a:xfrm>
          <a:prstGeom prst="ellipse">
            <a:avLst/>
          </a:prstGeom>
          <a:solidFill>
            <a:srgbClr val="B8791F"/>
          </a:solidFill>
          <a:ln w="12700">
            <a:solidFill>
              <a:srgbClr val="333333"/>
            </a:solidFill>
            <a:prstDash val="solid"/>
          </a:ln>
        </p:spPr>
      </p:sp>
      <p:sp>
        <p:nvSpPr>
          <p:cNvPr id="16" name="Text 14"/>
          <p:cNvSpPr txBox="1"/>
          <p:nvPr/>
        </p:nvSpPr>
        <p:spPr>
          <a:xfrm>
            <a:off x="950976" y="4956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481328" y="4919472"/>
            <a:ext cx="9692640" cy="310896"/>
          </a:xfrm>
          <a:prstGeom prst="rect">
            <a:avLst/>
          </a:prstGeom>
          <a:noFill/>
          <a:ln/>
        </p:spPr>
        <p:txBody>
          <a:bodyPr wrap="square" lIns="0" tIns="0" rIns="0" bIns="0" rtlCol="0" anchor="ctr"/>
          <a:lstStyle/>
          <a:p>
            <a:pPr indent="0" marL="0">
              <a:buNone/>
            </a:pPr>
            <a:r>
              <a:rPr lang="en-US" sz="1650" b="1" dirty="0">
                <a:solidFill>
                  <a:srgbClr val="B8791F"/>
                </a:solidFill>
                <a:latin typeface="Calibri" pitchFamily="34" charset="0"/>
                <a:ea typeface="Calibri" pitchFamily="34" charset="-122"/>
                <a:cs typeface="Calibri" pitchFamily="34" charset="-120"/>
              </a:rPr>
              <a:t>Therefore nₕ cannot be set correctly by hand.</a:t>
            </a:r>
            <a:endParaRPr lang="en-US" sz="1650" dirty="0"/>
          </a:p>
        </p:txBody>
      </p:sp>
      <p:sp>
        <p:nvSpPr>
          <p:cNvPr id="18" name="Text 16"/>
          <p:cNvSpPr txBox="1"/>
          <p:nvPr/>
        </p:nvSpPr>
        <p:spPr>
          <a:xfrm>
            <a:off x="1481328" y="5303520"/>
            <a:ext cx="9692640" cy="566928"/>
          </a:xfrm>
          <a:prstGeom prst="rect">
            <a:avLst/>
          </a:prstGeom>
          <a:noFill/>
          <a:ln/>
        </p:spPr>
        <p:txBody>
          <a:bodyPr wrap="square" lIns="0" tIns="0" rIns="0" bIns="0" rtlCol="0" anchor="ctr"/>
          <a:lstStyle/>
          <a:p>
            <a:pPr indent="0" marL="0">
              <a:lnSpc>
                <a:spcPts val="1800"/>
              </a:lnSpc>
              <a:buNone/>
            </a:pPr>
            <a:r>
              <a:rPr lang="en-US" sz="1400" dirty="0">
                <a:solidFill>
                  <a:srgbClr val="5C6378"/>
                </a:solidFill>
                <a:latin typeface="Calibri" pitchFamily="34" charset="0"/>
                <a:ea typeface="Calibri" pitchFamily="34" charset="-122"/>
                <a:cs typeface="Calibri" pitchFamily="34" charset="-120"/>
              </a:rPr>
              <a:t>Which constitutes the argument for learning it. This argument holds independently of any efficiency gain, and is established today.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MECHANISM</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Proposed mechanism</a:t>
            </a:r>
            <a:endParaRPr lang="en-US" sz="3000" dirty="0"/>
          </a:p>
        </p:txBody>
      </p:sp>
      <p:sp>
        <p:nvSpPr>
          <p:cNvPr id="4" name="Text 2"/>
          <p:cNvSpPr txBox="1"/>
          <p:nvPr/>
        </p:nvSpPr>
        <p:spPr>
          <a:xfrm>
            <a:off x="566928" y="1554480"/>
            <a:ext cx="10881360" cy="502920"/>
          </a:xfrm>
          <a:prstGeom prst="rect">
            <a:avLst/>
          </a:prstGeom>
          <a:noFill/>
          <a:ln/>
        </p:spPr>
        <p:txBody>
          <a:bodyPr wrap="square" lIns="0" tIns="0" rIns="0" bIns="0" rtlCol="0" anchor="ctr"/>
          <a:lstStyle/>
          <a:p>
            <a:pPr indent="0" marL="0">
              <a:lnSpc>
                <a:spcPts val="2100"/>
              </a:lnSpc>
              <a:buNone/>
            </a:pPr>
            <a:r>
              <a:rPr lang="en-US" sz="1550" dirty="0">
                <a:solidFill>
                  <a:srgbClr val="1A1A2E"/>
                </a:solidFill>
                <a:latin typeface="Calibri" pitchFamily="34" charset="0"/>
                <a:ea typeface="Calibri" pitchFamily="34" charset="-122"/>
                <a:cs typeface="Calibri" pitchFamily="34" charset="-120"/>
              </a:rPr>
              <a:t>A monotone halting gate emits a per-token count nₜ ≤ nₕ; factors beyond nₜ are disabled. A budget penalty on E[nₜ] drives frugality. The allocation itself receives no supervision.</a:t>
            </a:r>
            <a:endParaRPr lang="en-US" sz="1550" dirty="0"/>
          </a:p>
        </p:txBody>
      </p:sp>
      <p:sp>
        <p:nvSpPr>
          <p:cNvPr id="5" name="Shape 3"/>
          <p:cNvSpPr/>
          <p:nvPr/>
        </p:nvSpPr>
        <p:spPr>
          <a:xfrm>
            <a:off x="566928" y="2240280"/>
            <a:ext cx="3566160" cy="1417320"/>
          </a:xfrm>
          <a:prstGeom prst="roundRect">
            <a:avLst>
              <a:gd name="adj" fmla="val 3871"/>
            </a:avLst>
          </a:prstGeom>
          <a:solidFill>
            <a:srgbClr val="EEF1F6"/>
          </a:solidFill>
          <a:ln w="12700">
            <a:solidFill>
              <a:srgbClr val="EEF1F6"/>
            </a:solidFill>
            <a:prstDash val="solid"/>
          </a:ln>
        </p:spPr>
      </p:sp>
      <p:sp>
        <p:nvSpPr>
          <p:cNvPr id="6" name="Text 4"/>
          <p:cNvSpPr txBox="1"/>
          <p:nvPr/>
        </p:nvSpPr>
        <p:spPr>
          <a:xfrm>
            <a:off x="841248" y="2450592"/>
            <a:ext cx="3108960" cy="292608"/>
          </a:xfrm>
          <a:prstGeom prst="rect">
            <a:avLst/>
          </a:prstGeom>
          <a:noFill/>
          <a:ln/>
        </p:spPr>
        <p:txBody>
          <a:bodyPr wrap="square" lIns="0" tIns="0" rIns="0" bIns="0" rtlCol="0" anchor="ctr"/>
          <a:lstStyle/>
          <a:p>
            <a:pPr indent="0" marL="0">
              <a:lnSpc>
                <a:spcPts val="2100"/>
              </a:lnSpc>
              <a:buNone/>
            </a:pPr>
            <a:r>
              <a:rPr lang="en-US" sz="1450" b="1" dirty="0">
                <a:solidFill>
                  <a:srgbClr val="21295C"/>
                </a:solidFill>
                <a:latin typeface="Calibri" pitchFamily="34" charset="0"/>
                <a:ea typeface="Calibri" pitchFamily="34" charset="-122"/>
                <a:cs typeface="Calibri" pitchFamily="34" charset="-120"/>
              </a:rPr>
              <a:t>low-demand token</a:t>
            </a:r>
            <a:endParaRPr lang="en-US" sz="1450" dirty="0"/>
          </a:p>
        </p:txBody>
      </p:sp>
      <p:sp>
        <p:nvSpPr>
          <p:cNvPr id="7" name="Shape 5"/>
          <p:cNvSpPr/>
          <p:nvPr/>
        </p:nvSpPr>
        <p:spPr>
          <a:xfrm>
            <a:off x="841248" y="2880360"/>
            <a:ext cx="219456" cy="219456"/>
          </a:xfrm>
          <a:prstGeom prst="rect">
            <a:avLst/>
          </a:prstGeom>
          <a:solidFill>
            <a:srgbClr val="1C7293"/>
          </a:solidFill>
          <a:ln w="15875">
            <a:solidFill>
              <a:srgbClr val="1C7293"/>
            </a:solidFill>
            <a:prstDash val="solid"/>
          </a:ln>
        </p:spPr>
      </p:sp>
      <p:sp>
        <p:nvSpPr>
          <p:cNvPr id="8" name="Shape 6"/>
          <p:cNvSpPr/>
          <p:nvPr/>
        </p:nvSpPr>
        <p:spPr>
          <a:xfrm>
            <a:off x="1159459" y="2880360"/>
            <a:ext cx="219456" cy="219456"/>
          </a:xfrm>
          <a:prstGeom prst="rect">
            <a:avLst/>
          </a:prstGeom>
          <a:solidFill>
            <a:srgbClr val="FFFFFF"/>
          </a:solidFill>
          <a:ln w="15875">
            <a:solidFill>
              <a:srgbClr val="B9C0CE"/>
            </a:solidFill>
            <a:prstDash val="solid"/>
          </a:ln>
        </p:spPr>
      </p:sp>
      <p:sp>
        <p:nvSpPr>
          <p:cNvPr id="9" name="Shape 7"/>
          <p:cNvSpPr/>
          <p:nvPr/>
        </p:nvSpPr>
        <p:spPr>
          <a:xfrm>
            <a:off x="1477670" y="2880360"/>
            <a:ext cx="219456" cy="219456"/>
          </a:xfrm>
          <a:prstGeom prst="rect">
            <a:avLst/>
          </a:prstGeom>
          <a:solidFill>
            <a:srgbClr val="FFFFFF"/>
          </a:solidFill>
          <a:ln w="15875">
            <a:solidFill>
              <a:srgbClr val="B9C0CE"/>
            </a:solidFill>
            <a:prstDash val="solid"/>
          </a:ln>
        </p:spPr>
      </p:sp>
      <p:sp>
        <p:nvSpPr>
          <p:cNvPr id="10" name="Shape 8"/>
          <p:cNvSpPr/>
          <p:nvPr/>
        </p:nvSpPr>
        <p:spPr>
          <a:xfrm>
            <a:off x="1795882" y="2880360"/>
            <a:ext cx="219456" cy="219456"/>
          </a:xfrm>
          <a:prstGeom prst="rect">
            <a:avLst/>
          </a:prstGeom>
          <a:solidFill>
            <a:srgbClr val="FFFFFF"/>
          </a:solidFill>
          <a:ln w="15875">
            <a:solidFill>
              <a:srgbClr val="B9C0CE"/>
            </a:solidFill>
            <a:prstDash val="solid"/>
          </a:ln>
        </p:spPr>
      </p:sp>
      <p:sp>
        <p:nvSpPr>
          <p:cNvPr id="11" name="Text 9"/>
          <p:cNvSpPr txBox="1"/>
          <p:nvPr/>
        </p:nvSpPr>
        <p:spPr>
          <a:xfrm>
            <a:off x="2852928" y="2898648"/>
            <a:ext cx="109728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nₜ = 1</a:t>
            </a:r>
            <a:endParaRPr lang="en-US" sz="1300" dirty="0"/>
          </a:p>
        </p:txBody>
      </p:sp>
      <p:sp>
        <p:nvSpPr>
          <p:cNvPr id="12" name="Shape 10"/>
          <p:cNvSpPr/>
          <p:nvPr/>
        </p:nvSpPr>
        <p:spPr>
          <a:xfrm>
            <a:off x="4315968" y="2240280"/>
            <a:ext cx="3566160" cy="1417320"/>
          </a:xfrm>
          <a:prstGeom prst="roundRect">
            <a:avLst>
              <a:gd name="adj" fmla="val 3871"/>
            </a:avLst>
          </a:prstGeom>
          <a:solidFill>
            <a:srgbClr val="EEF1F6"/>
          </a:solidFill>
          <a:ln w="12700">
            <a:solidFill>
              <a:srgbClr val="EEF1F6"/>
            </a:solidFill>
            <a:prstDash val="solid"/>
          </a:ln>
        </p:spPr>
      </p:sp>
      <p:sp>
        <p:nvSpPr>
          <p:cNvPr id="13" name="Text 11"/>
          <p:cNvSpPr txBox="1"/>
          <p:nvPr/>
        </p:nvSpPr>
        <p:spPr>
          <a:xfrm>
            <a:off x="4590288" y="2450592"/>
            <a:ext cx="3108960" cy="292608"/>
          </a:xfrm>
          <a:prstGeom prst="rect">
            <a:avLst/>
          </a:prstGeom>
          <a:noFill/>
          <a:ln/>
        </p:spPr>
        <p:txBody>
          <a:bodyPr wrap="square" lIns="0" tIns="0" rIns="0" bIns="0" rtlCol="0" anchor="ctr"/>
          <a:lstStyle/>
          <a:p>
            <a:pPr indent="0" marL="0">
              <a:lnSpc>
                <a:spcPts val="2100"/>
              </a:lnSpc>
              <a:buNone/>
            </a:pPr>
            <a:r>
              <a:rPr lang="en-US" sz="1450" b="1" dirty="0">
                <a:solidFill>
                  <a:srgbClr val="21295C"/>
                </a:solidFill>
                <a:latin typeface="Calibri" pitchFamily="34" charset="0"/>
                <a:ea typeface="Calibri" pitchFamily="34" charset="-122"/>
                <a:cs typeface="Calibri" pitchFamily="34" charset="-120"/>
              </a:rPr>
              <a:t>intermediate</a:t>
            </a:r>
            <a:endParaRPr lang="en-US" sz="1450" dirty="0"/>
          </a:p>
        </p:txBody>
      </p:sp>
      <p:sp>
        <p:nvSpPr>
          <p:cNvPr id="14" name="Shape 12"/>
          <p:cNvSpPr/>
          <p:nvPr/>
        </p:nvSpPr>
        <p:spPr>
          <a:xfrm>
            <a:off x="4590288" y="2880360"/>
            <a:ext cx="219456" cy="219456"/>
          </a:xfrm>
          <a:prstGeom prst="rect">
            <a:avLst/>
          </a:prstGeom>
          <a:solidFill>
            <a:srgbClr val="1C7293"/>
          </a:solidFill>
          <a:ln w="15875">
            <a:solidFill>
              <a:srgbClr val="1C7293"/>
            </a:solidFill>
            <a:prstDash val="solid"/>
          </a:ln>
        </p:spPr>
      </p:sp>
      <p:sp>
        <p:nvSpPr>
          <p:cNvPr id="15" name="Shape 13"/>
          <p:cNvSpPr/>
          <p:nvPr/>
        </p:nvSpPr>
        <p:spPr>
          <a:xfrm>
            <a:off x="4908499" y="2880360"/>
            <a:ext cx="219456" cy="219456"/>
          </a:xfrm>
          <a:prstGeom prst="rect">
            <a:avLst/>
          </a:prstGeom>
          <a:solidFill>
            <a:srgbClr val="1C7293"/>
          </a:solidFill>
          <a:ln w="15875">
            <a:solidFill>
              <a:srgbClr val="1C7293"/>
            </a:solidFill>
            <a:prstDash val="solid"/>
          </a:ln>
        </p:spPr>
      </p:sp>
      <p:sp>
        <p:nvSpPr>
          <p:cNvPr id="16" name="Shape 14"/>
          <p:cNvSpPr/>
          <p:nvPr/>
        </p:nvSpPr>
        <p:spPr>
          <a:xfrm>
            <a:off x="5226710" y="2880360"/>
            <a:ext cx="219456" cy="219456"/>
          </a:xfrm>
          <a:prstGeom prst="rect">
            <a:avLst/>
          </a:prstGeom>
          <a:solidFill>
            <a:srgbClr val="FFFFFF"/>
          </a:solidFill>
          <a:ln w="15875">
            <a:solidFill>
              <a:srgbClr val="B9C0CE"/>
            </a:solidFill>
            <a:prstDash val="solid"/>
          </a:ln>
        </p:spPr>
      </p:sp>
      <p:sp>
        <p:nvSpPr>
          <p:cNvPr id="17" name="Shape 15"/>
          <p:cNvSpPr/>
          <p:nvPr/>
        </p:nvSpPr>
        <p:spPr>
          <a:xfrm>
            <a:off x="5544922" y="2880360"/>
            <a:ext cx="219456" cy="219456"/>
          </a:xfrm>
          <a:prstGeom prst="rect">
            <a:avLst/>
          </a:prstGeom>
          <a:solidFill>
            <a:srgbClr val="FFFFFF"/>
          </a:solidFill>
          <a:ln w="15875">
            <a:solidFill>
              <a:srgbClr val="B9C0CE"/>
            </a:solidFill>
            <a:prstDash val="solid"/>
          </a:ln>
        </p:spPr>
      </p:sp>
      <p:sp>
        <p:nvSpPr>
          <p:cNvPr id="18" name="Text 16"/>
          <p:cNvSpPr txBox="1"/>
          <p:nvPr/>
        </p:nvSpPr>
        <p:spPr>
          <a:xfrm>
            <a:off x="6601968" y="2898648"/>
            <a:ext cx="109728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nₜ = 2</a:t>
            </a:r>
            <a:endParaRPr lang="en-US" sz="1300" dirty="0"/>
          </a:p>
        </p:txBody>
      </p:sp>
      <p:sp>
        <p:nvSpPr>
          <p:cNvPr id="19" name="Shape 17"/>
          <p:cNvSpPr/>
          <p:nvPr/>
        </p:nvSpPr>
        <p:spPr>
          <a:xfrm>
            <a:off x="8065008" y="2240280"/>
            <a:ext cx="3566160" cy="1417320"/>
          </a:xfrm>
          <a:prstGeom prst="roundRect">
            <a:avLst>
              <a:gd name="adj" fmla="val 3871"/>
            </a:avLst>
          </a:prstGeom>
          <a:solidFill>
            <a:srgbClr val="EEF1F6"/>
          </a:solidFill>
          <a:ln w="12700">
            <a:solidFill>
              <a:srgbClr val="EEF1F6"/>
            </a:solidFill>
            <a:prstDash val="solid"/>
          </a:ln>
        </p:spPr>
      </p:sp>
      <p:sp>
        <p:nvSpPr>
          <p:cNvPr id="20" name="Text 18"/>
          <p:cNvSpPr txBox="1"/>
          <p:nvPr/>
        </p:nvSpPr>
        <p:spPr>
          <a:xfrm>
            <a:off x="8339328" y="2450592"/>
            <a:ext cx="3108960" cy="292608"/>
          </a:xfrm>
          <a:prstGeom prst="rect">
            <a:avLst/>
          </a:prstGeom>
          <a:noFill/>
          <a:ln/>
        </p:spPr>
        <p:txBody>
          <a:bodyPr wrap="square" lIns="0" tIns="0" rIns="0" bIns="0" rtlCol="0" anchor="ctr"/>
          <a:lstStyle/>
          <a:p>
            <a:pPr indent="0" marL="0">
              <a:lnSpc>
                <a:spcPts val="2100"/>
              </a:lnSpc>
              <a:buNone/>
            </a:pPr>
            <a:r>
              <a:rPr lang="en-US" sz="1450" b="1" dirty="0">
                <a:solidFill>
                  <a:srgbClr val="21295C"/>
                </a:solidFill>
                <a:latin typeface="Calibri" pitchFamily="34" charset="0"/>
                <a:ea typeface="Calibri" pitchFamily="34" charset="-122"/>
                <a:cs typeface="Calibri" pitchFamily="34" charset="-120"/>
              </a:rPr>
              <a:t>maximal-demand token</a:t>
            </a:r>
            <a:endParaRPr lang="en-US" sz="1450" dirty="0"/>
          </a:p>
        </p:txBody>
      </p:sp>
      <p:sp>
        <p:nvSpPr>
          <p:cNvPr id="21" name="Shape 19"/>
          <p:cNvSpPr/>
          <p:nvPr/>
        </p:nvSpPr>
        <p:spPr>
          <a:xfrm>
            <a:off x="8339328" y="2880360"/>
            <a:ext cx="219456" cy="219456"/>
          </a:xfrm>
          <a:prstGeom prst="rect">
            <a:avLst/>
          </a:prstGeom>
          <a:solidFill>
            <a:srgbClr val="B8791F"/>
          </a:solidFill>
          <a:ln w="15875">
            <a:solidFill>
              <a:srgbClr val="B8791F"/>
            </a:solidFill>
            <a:prstDash val="solid"/>
          </a:ln>
        </p:spPr>
      </p:sp>
      <p:sp>
        <p:nvSpPr>
          <p:cNvPr id="22" name="Shape 20"/>
          <p:cNvSpPr/>
          <p:nvPr/>
        </p:nvSpPr>
        <p:spPr>
          <a:xfrm>
            <a:off x="8657539" y="2880360"/>
            <a:ext cx="219456" cy="219456"/>
          </a:xfrm>
          <a:prstGeom prst="rect">
            <a:avLst/>
          </a:prstGeom>
          <a:solidFill>
            <a:srgbClr val="B8791F"/>
          </a:solidFill>
          <a:ln w="15875">
            <a:solidFill>
              <a:srgbClr val="B8791F"/>
            </a:solidFill>
            <a:prstDash val="solid"/>
          </a:ln>
        </p:spPr>
      </p:sp>
      <p:sp>
        <p:nvSpPr>
          <p:cNvPr id="23" name="Shape 21"/>
          <p:cNvSpPr/>
          <p:nvPr/>
        </p:nvSpPr>
        <p:spPr>
          <a:xfrm>
            <a:off x="8975750" y="2880360"/>
            <a:ext cx="219456" cy="219456"/>
          </a:xfrm>
          <a:prstGeom prst="rect">
            <a:avLst/>
          </a:prstGeom>
          <a:solidFill>
            <a:srgbClr val="B8791F"/>
          </a:solidFill>
          <a:ln w="15875">
            <a:solidFill>
              <a:srgbClr val="B8791F"/>
            </a:solidFill>
            <a:prstDash val="solid"/>
          </a:ln>
        </p:spPr>
      </p:sp>
      <p:sp>
        <p:nvSpPr>
          <p:cNvPr id="24" name="Shape 22"/>
          <p:cNvSpPr/>
          <p:nvPr/>
        </p:nvSpPr>
        <p:spPr>
          <a:xfrm>
            <a:off x="9293962" y="2880360"/>
            <a:ext cx="219456" cy="219456"/>
          </a:xfrm>
          <a:prstGeom prst="rect">
            <a:avLst/>
          </a:prstGeom>
          <a:solidFill>
            <a:srgbClr val="B8791F"/>
          </a:solidFill>
          <a:ln w="15875">
            <a:solidFill>
              <a:srgbClr val="B8791F"/>
            </a:solidFill>
            <a:prstDash val="solid"/>
          </a:ln>
        </p:spPr>
      </p:sp>
      <p:sp>
        <p:nvSpPr>
          <p:cNvPr id="25" name="Text 23"/>
          <p:cNvSpPr txBox="1"/>
          <p:nvPr/>
        </p:nvSpPr>
        <p:spPr>
          <a:xfrm>
            <a:off x="10351008" y="2898648"/>
            <a:ext cx="109728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nₜ = 4</a:t>
            </a:r>
            <a:endParaRPr lang="en-US" sz="1300" dirty="0"/>
          </a:p>
        </p:txBody>
      </p:sp>
      <p:sp>
        <p:nvSpPr>
          <p:cNvPr id="26" name="Shape 24"/>
          <p:cNvSpPr/>
          <p:nvPr/>
        </p:nvSpPr>
        <p:spPr>
          <a:xfrm>
            <a:off x="566928" y="3931920"/>
            <a:ext cx="11027664" cy="2194560"/>
          </a:xfrm>
          <a:prstGeom prst="roundRect">
            <a:avLst>
              <a:gd name="adj" fmla="val 2500"/>
            </a:avLst>
          </a:prstGeom>
          <a:solidFill>
            <a:srgbClr val="FAF2E4"/>
          </a:solidFill>
          <a:ln w="12700">
            <a:solidFill>
              <a:srgbClr val="FAF2E4"/>
            </a:solidFill>
            <a:prstDash val="solid"/>
          </a:ln>
        </p:spPr>
      </p:sp>
      <p:sp>
        <p:nvSpPr>
          <p:cNvPr id="27" name="Text 25"/>
          <p:cNvSpPr txBox="1"/>
          <p:nvPr/>
        </p:nvSpPr>
        <p:spPr>
          <a:xfrm>
            <a:off x="950976" y="4133088"/>
            <a:ext cx="10241280" cy="310896"/>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A design constraint established before implementation</a:t>
            </a:r>
            <a:endParaRPr lang="en-US" sz="1600" dirty="0"/>
          </a:p>
        </p:txBody>
      </p:sp>
      <p:sp>
        <p:nvSpPr>
          <p:cNvPr id="28" name="Text 26"/>
          <p:cNvSpPr txBox="1"/>
          <p:nvPr/>
        </p:nvSpPr>
        <p:spPr>
          <a:xfrm>
            <a:off x="950976" y="4553712"/>
            <a:ext cx="10241280" cy="438912"/>
          </a:xfrm>
          <a:prstGeom prst="rect">
            <a:avLst/>
          </a:prstGeom>
          <a:noFill/>
          <a:ln/>
        </p:spPr>
        <p:txBody>
          <a:bodyPr wrap="square" lIns="0" tIns="0" rIns="0" bIns="0"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det( I − β k kᵀ )  =  1 − β        ⟹        β pinned at 2  ⟹  det(A) = (−1)ᴷ</a:t>
            </a:r>
            <a:endParaRPr lang="en-US" sz="1600" dirty="0"/>
          </a:p>
        </p:txBody>
      </p:sp>
      <p:sp>
        <p:nvSpPr>
          <p:cNvPr id="29" name="Text 27"/>
          <p:cNvSpPr txBox="1"/>
          <p:nvPr/>
        </p:nvSpPr>
        <p:spPr>
          <a:xfrm>
            <a:off x="950976" y="5029200"/>
            <a:ext cx="10241280" cy="960120"/>
          </a:xfrm>
          <a:prstGeom prst="rect">
            <a:avLst/>
          </a:prstGeom>
          <a:noFill/>
          <a:ln/>
        </p:spPr>
        <p:txBody>
          <a:bodyPr wrap="square" lIns="0" tIns="0" rIns="0" bIns="0" rtlCol="0" anchor="ctr"/>
          <a:lstStyle/>
          <a:p>
            <a:pPr indent="0" marL="0">
              <a:lnSpc>
                <a:spcPts val="1800"/>
              </a:lnSpc>
              <a:buNone/>
            </a:pPr>
            <a:r>
              <a:rPr lang="en-US" sz="1350" dirty="0">
                <a:solidFill>
                  <a:srgbClr val="1A1A2E"/>
                </a:solidFill>
                <a:latin typeface="Calibri" pitchFamily="34" charset="0"/>
                <a:ea typeface="Calibri" pitchFamily="34" charset="-122"/>
                <a:cs typeface="Calibri" pitchFamily="34" charset="-120"/>
              </a:rPr>
              <a:t>With β pinned, only K ≡ ℓ (mod 2) is reachable: padding an ℓ-factor solution up to K requires building identities from spare factors, and pinned reflections can only do so in pairs. A learnable β constructs an identity from a single factor at β = 0. The gate must therefore scale a learnable β rather than mask a fixed one — verified on all 120 elements of S₅.</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Experimental setup</a:t>
            </a:r>
            <a:endParaRPr lang="en-US" sz="3000" dirty="0"/>
          </a:p>
        </p:txBody>
      </p:sp>
      <p:sp>
        <p:nvSpPr>
          <p:cNvPr id="4" name="Text 2"/>
          <p:cNvSpPr txBox="1"/>
          <p:nvPr/>
        </p:nvSpPr>
        <p:spPr>
          <a:xfrm>
            <a:off x="566928" y="1600200"/>
            <a:ext cx="5120640" cy="310896"/>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Configuration</a:t>
            </a:r>
            <a:endParaRPr lang="en-US" sz="1600" dirty="0"/>
          </a:p>
        </p:txBody>
      </p:sp>
      <p:sp>
        <p:nvSpPr>
          <p:cNvPr id="5" name="Text 3"/>
          <p:cNvSpPr txBox="1"/>
          <p:nvPr/>
        </p:nvSpPr>
        <p:spPr>
          <a:xfrm>
            <a:off x="6446520" y="1600200"/>
            <a:ext cx="5120640" cy="310896"/>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Protocol</a:t>
            </a:r>
            <a:endParaRPr lang="en-US" sz="1600" dirty="0"/>
          </a:p>
        </p:txBody>
      </p:sp>
      <p:sp>
        <p:nvSpPr>
          <p:cNvPr id="6" name="Text 4"/>
          <p:cNvSpPr txBox="1"/>
          <p:nvPr/>
        </p:nvSpPr>
        <p:spPr>
          <a:xfrm>
            <a:off x="566928" y="2084832"/>
            <a:ext cx="192024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Hardware</a:t>
            </a:r>
            <a:endParaRPr lang="en-US" sz="1300" dirty="0"/>
          </a:p>
        </p:txBody>
      </p:sp>
      <p:sp>
        <p:nvSpPr>
          <p:cNvPr id="7" name="Text 5"/>
          <p:cNvSpPr txBox="1"/>
          <p:nvPr/>
        </p:nvSpPr>
        <p:spPr>
          <a:xfrm>
            <a:off x="2532888" y="2084832"/>
            <a:ext cx="3291840" cy="502920"/>
          </a:xfrm>
          <a:prstGeom prst="rect">
            <a:avLst/>
          </a:prstGeom>
          <a:noFill/>
          <a:ln/>
        </p:spPr>
        <p:txBody>
          <a:bodyPr wrap="square" lIns="0" tIns="0" rIns="0" bIns="0" rtlCol="0" anchor="ctr"/>
          <a:lstStyle/>
          <a:p>
            <a:pPr indent="0" marL="0">
              <a:lnSpc>
                <a:spcPts val="2100"/>
              </a:lnSpc>
              <a:buNone/>
            </a:pPr>
            <a:r>
              <a:rPr lang="en-US" sz="1350" dirty="0">
                <a:solidFill>
                  <a:srgbClr val="1A1A2E"/>
                </a:solidFill>
                <a:latin typeface="Calibri" pitchFamily="34" charset="0"/>
                <a:ea typeface="Calibri" pitchFamily="34" charset="-122"/>
                <a:cs typeface="Calibri" pitchFamily="34" charset="-120"/>
              </a:rPr>
              <a:t>NVIDIA RTX 4050 Laptop, 6 GB VRAM, WSL2</a:t>
            </a:r>
            <a:endParaRPr lang="en-US" sz="1350" dirty="0"/>
          </a:p>
        </p:txBody>
      </p:sp>
      <p:sp>
        <p:nvSpPr>
          <p:cNvPr id="8" name="Text 6"/>
          <p:cNvSpPr txBox="1"/>
          <p:nvPr/>
        </p:nvSpPr>
        <p:spPr>
          <a:xfrm>
            <a:off x="6446520" y="2084832"/>
            <a:ext cx="201168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Sequence length</a:t>
            </a:r>
            <a:endParaRPr lang="en-US" sz="1300" dirty="0"/>
          </a:p>
        </p:txBody>
      </p:sp>
      <p:sp>
        <p:nvSpPr>
          <p:cNvPr id="9" name="Text 7"/>
          <p:cNvSpPr txBox="1"/>
          <p:nvPr/>
        </p:nvSpPr>
        <p:spPr>
          <a:xfrm>
            <a:off x="8503920" y="2084832"/>
            <a:ext cx="3200400" cy="502920"/>
          </a:xfrm>
          <a:prstGeom prst="rect">
            <a:avLst/>
          </a:prstGeom>
          <a:noFill/>
          <a:ln/>
        </p:spPr>
        <p:txBody>
          <a:bodyPr wrap="square" lIns="0" tIns="0" rIns="0" bIns="0" rtlCol="0" anchor="ctr"/>
          <a:lstStyle/>
          <a:p>
            <a:pPr indent="0" marL="0">
              <a:lnSpc>
                <a:spcPts val="2100"/>
              </a:lnSpc>
              <a:buNone/>
            </a:pPr>
            <a:r>
              <a:rPr lang="en-US" sz="1350" dirty="0">
                <a:solidFill>
                  <a:srgbClr val="1A1A2E"/>
                </a:solidFill>
                <a:latin typeface="Calibri" pitchFamily="34" charset="0"/>
                <a:ea typeface="Calibri" pitchFamily="34" charset="-122"/>
                <a:cs typeface="Calibri" pitchFamily="34" charset="-120"/>
              </a:rPr>
              <a:t>k = 128</a:t>
            </a:r>
            <a:endParaRPr lang="en-US" sz="1350" dirty="0"/>
          </a:p>
        </p:txBody>
      </p:sp>
      <p:sp>
        <p:nvSpPr>
          <p:cNvPr id="10" name="Text 8"/>
          <p:cNvSpPr txBox="1"/>
          <p:nvPr/>
        </p:nvSpPr>
        <p:spPr>
          <a:xfrm>
            <a:off x="566928" y="2743200"/>
            <a:ext cx="192024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Precision</a:t>
            </a:r>
            <a:endParaRPr lang="en-US" sz="1300" dirty="0"/>
          </a:p>
        </p:txBody>
      </p:sp>
      <p:sp>
        <p:nvSpPr>
          <p:cNvPr id="11" name="Text 9"/>
          <p:cNvSpPr txBox="1"/>
          <p:nvPr/>
        </p:nvSpPr>
        <p:spPr>
          <a:xfrm>
            <a:off x="2532888" y="2743200"/>
            <a:ext cx="3291840" cy="502920"/>
          </a:xfrm>
          <a:prstGeom prst="rect">
            <a:avLst/>
          </a:prstGeom>
          <a:noFill/>
          <a:ln/>
        </p:spPr>
        <p:txBody>
          <a:bodyPr wrap="square" lIns="0" tIns="0" rIns="0" bIns="0" rtlCol="0" anchor="ctr"/>
          <a:lstStyle/>
          <a:p>
            <a:pPr indent="0" marL="0">
              <a:lnSpc>
                <a:spcPts val="2100"/>
              </a:lnSpc>
              <a:buNone/>
            </a:pPr>
            <a:r>
              <a:rPr lang="en-US" sz="1350" dirty="0">
                <a:solidFill>
                  <a:srgbClr val="1A1A2E"/>
                </a:solidFill>
                <a:latin typeface="Calibri" pitchFamily="34" charset="0"/>
                <a:ea typeface="Calibri" pitchFamily="34" charset="-122"/>
                <a:cs typeface="Calibri" pitchFamily="34" charset="-120"/>
              </a:rPr>
              <a:t>bfloat16 (Triton kernels)</a:t>
            </a:r>
            <a:endParaRPr lang="en-US" sz="1350" dirty="0"/>
          </a:p>
        </p:txBody>
      </p:sp>
      <p:sp>
        <p:nvSpPr>
          <p:cNvPr id="12" name="Text 10"/>
          <p:cNvSpPr txBox="1"/>
          <p:nvPr/>
        </p:nvSpPr>
        <p:spPr>
          <a:xfrm>
            <a:off x="6446520" y="2743200"/>
            <a:ext cx="201168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Data</a:t>
            </a:r>
            <a:endParaRPr lang="en-US" sz="1300" dirty="0"/>
          </a:p>
        </p:txBody>
      </p:sp>
      <p:sp>
        <p:nvSpPr>
          <p:cNvPr id="13" name="Text 11"/>
          <p:cNvSpPr txBox="1"/>
          <p:nvPr/>
        </p:nvSpPr>
        <p:spPr>
          <a:xfrm>
            <a:off x="8503920" y="2743200"/>
            <a:ext cx="3200400" cy="502920"/>
          </a:xfrm>
          <a:prstGeom prst="rect">
            <a:avLst/>
          </a:prstGeom>
          <a:noFill/>
          <a:ln/>
        </p:spPr>
        <p:txBody>
          <a:bodyPr wrap="square" lIns="0" tIns="0" rIns="0" bIns="0" rtlCol="0" anchor="ctr"/>
          <a:lstStyle/>
          <a:p>
            <a:pPr indent="0" marL="0">
              <a:lnSpc>
                <a:spcPts val="2100"/>
              </a:lnSpc>
              <a:buNone/>
            </a:pPr>
            <a:r>
              <a:rPr lang="en-US" sz="1350" dirty="0">
                <a:solidFill>
                  <a:srgbClr val="1A1A2E"/>
                </a:solidFill>
                <a:latin typeface="Calibri" pitchFamily="34" charset="0"/>
                <a:ea typeface="Calibri" pitchFamily="34" charset="-122"/>
                <a:cs typeface="Calibri" pitchFamily="34" charset="-120"/>
              </a:rPr>
              <a:t>100 000 train / 2 000 held-out sequences</a:t>
            </a:r>
            <a:endParaRPr lang="en-US" sz="1350" dirty="0"/>
          </a:p>
        </p:txBody>
      </p:sp>
      <p:sp>
        <p:nvSpPr>
          <p:cNvPr id="14" name="Text 12"/>
          <p:cNvSpPr txBox="1"/>
          <p:nvPr/>
        </p:nvSpPr>
        <p:spPr>
          <a:xfrm>
            <a:off x="566928" y="3401568"/>
            <a:ext cx="192024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Model</a:t>
            </a:r>
            <a:endParaRPr lang="en-US" sz="1300" dirty="0"/>
          </a:p>
        </p:txBody>
      </p:sp>
      <p:sp>
        <p:nvSpPr>
          <p:cNvPr id="15" name="Text 13"/>
          <p:cNvSpPr txBox="1"/>
          <p:nvPr/>
        </p:nvSpPr>
        <p:spPr>
          <a:xfrm>
            <a:off x="2532888" y="3401568"/>
            <a:ext cx="3291840" cy="502920"/>
          </a:xfrm>
          <a:prstGeom prst="rect">
            <a:avLst/>
          </a:prstGeom>
          <a:noFill/>
          <a:ln/>
        </p:spPr>
        <p:txBody>
          <a:bodyPr wrap="square" lIns="0" tIns="0" rIns="0" bIns="0" rtlCol="0" anchor="ctr"/>
          <a:lstStyle/>
          <a:p>
            <a:pPr indent="0" marL="0">
              <a:lnSpc>
                <a:spcPts val="2100"/>
              </a:lnSpc>
              <a:buNone/>
            </a:pPr>
            <a:r>
              <a:rPr lang="en-US" sz="1350" dirty="0">
                <a:solidFill>
                  <a:srgbClr val="1A1A2E"/>
                </a:solidFill>
                <a:latin typeface="Calibri" pitchFamily="34" charset="0"/>
                <a:ea typeface="Calibri" pitchFamily="34" charset="-122"/>
                <a:cs typeface="Calibri" pitchFamily="34" charset="-120"/>
              </a:rPr>
              <a:t>1 layer, 12 heads × 32 head dimension, hidden 128</a:t>
            </a:r>
            <a:endParaRPr lang="en-US" sz="1350" dirty="0"/>
          </a:p>
        </p:txBody>
      </p:sp>
      <p:sp>
        <p:nvSpPr>
          <p:cNvPr id="16" name="Text 14"/>
          <p:cNvSpPr txBox="1"/>
          <p:nvPr/>
        </p:nvSpPr>
        <p:spPr>
          <a:xfrm>
            <a:off x="6446520" y="3401568"/>
            <a:ext cx="201168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Optimiser</a:t>
            </a:r>
            <a:endParaRPr lang="en-US" sz="1300" dirty="0"/>
          </a:p>
        </p:txBody>
      </p:sp>
      <p:sp>
        <p:nvSpPr>
          <p:cNvPr id="17" name="Text 15"/>
          <p:cNvSpPr txBox="1"/>
          <p:nvPr/>
        </p:nvSpPr>
        <p:spPr>
          <a:xfrm>
            <a:off x="8503920" y="3401568"/>
            <a:ext cx="3200400" cy="502920"/>
          </a:xfrm>
          <a:prstGeom prst="rect">
            <a:avLst/>
          </a:prstGeom>
          <a:noFill/>
          <a:ln/>
        </p:spPr>
        <p:txBody>
          <a:bodyPr wrap="square" lIns="0" tIns="0" rIns="0" bIns="0" rtlCol="0" anchor="ctr"/>
          <a:lstStyle/>
          <a:p>
            <a:pPr indent="0" marL="0">
              <a:lnSpc>
                <a:spcPts val="2100"/>
              </a:lnSpc>
              <a:buNone/>
            </a:pPr>
            <a:r>
              <a:rPr lang="en-US" sz="1350" dirty="0">
                <a:solidFill>
                  <a:srgbClr val="1A1A2E"/>
                </a:solidFill>
                <a:latin typeface="Calibri" pitchFamily="34" charset="0"/>
                <a:ea typeface="Calibri" pitchFamily="34" charset="-122"/>
                <a:cs typeface="Calibri" pitchFamily="34" charset="-120"/>
              </a:rPr>
              <a:t>AdamW, lr 1e-3 constant, batch 128</a:t>
            </a:r>
            <a:endParaRPr lang="en-US" sz="1350" dirty="0"/>
          </a:p>
        </p:txBody>
      </p:sp>
      <p:sp>
        <p:nvSpPr>
          <p:cNvPr id="18" name="Text 16"/>
          <p:cNvSpPr txBox="1"/>
          <p:nvPr/>
        </p:nvSpPr>
        <p:spPr>
          <a:xfrm>
            <a:off x="566928" y="4059936"/>
            <a:ext cx="192024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Upstream</a:t>
            </a:r>
            <a:endParaRPr lang="en-US" sz="1300" dirty="0"/>
          </a:p>
        </p:txBody>
      </p:sp>
      <p:sp>
        <p:nvSpPr>
          <p:cNvPr id="19" name="Text 17"/>
          <p:cNvSpPr txBox="1"/>
          <p:nvPr/>
        </p:nvSpPr>
        <p:spPr>
          <a:xfrm>
            <a:off x="2532888" y="4059936"/>
            <a:ext cx="3291840" cy="502920"/>
          </a:xfrm>
          <a:prstGeom prst="rect">
            <a:avLst/>
          </a:prstGeom>
          <a:noFill/>
          <a:ln/>
        </p:spPr>
        <p:txBody>
          <a:bodyPr wrap="square" lIns="0" tIns="0" rIns="0" bIns="0" rtlCol="0" anchor="ctr"/>
          <a:lstStyle/>
          <a:p>
            <a:pPr indent="0" marL="0">
              <a:lnSpc>
                <a:spcPts val="2100"/>
              </a:lnSpc>
              <a:buNone/>
            </a:pPr>
            <a:r>
              <a:rPr lang="en-US" sz="1350" dirty="0">
                <a:solidFill>
                  <a:srgbClr val="1A1A2E"/>
                </a:solidFill>
                <a:latin typeface="Calibri" pitchFamily="34" charset="0"/>
                <a:ea typeface="Calibri" pitchFamily="34" charset="-122"/>
                <a:cs typeface="Calibri" pitchFamily="34" charset="-120"/>
              </a:rPr>
              <a:t>flash-linear-attention, vendored and patched</a:t>
            </a:r>
            <a:endParaRPr lang="en-US" sz="1350" dirty="0"/>
          </a:p>
        </p:txBody>
      </p:sp>
      <p:sp>
        <p:nvSpPr>
          <p:cNvPr id="20" name="Text 18"/>
          <p:cNvSpPr txBox="1"/>
          <p:nvPr/>
        </p:nvSpPr>
        <p:spPr>
          <a:xfrm>
            <a:off x="6446520" y="4059936"/>
            <a:ext cx="2011680" cy="274320"/>
          </a:xfrm>
          <a:prstGeom prst="rect">
            <a:avLst/>
          </a:prstGeom>
          <a:noFill/>
          <a:ln/>
        </p:spPr>
        <p:txBody>
          <a:bodyPr wrap="square" lIns="0" tIns="0" rIns="0" bIns="0" rtlCol="0" anchor="ctr"/>
          <a:lstStyle/>
          <a:p>
            <a:pPr indent="0" marL="0">
              <a:lnSpc>
                <a:spcPts val="2100"/>
              </a:lnSpc>
              <a:buNone/>
            </a:pPr>
            <a:r>
              <a:rPr lang="en-US" sz="1300" dirty="0">
                <a:solidFill>
                  <a:srgbClr val="5C6378"/>
                </a:solidFill>
                <a:latin typeface="Calibri" pitchFamily="34" charset="0"/>
                <a:ea typeface="Calibri" pitchFamily="34" charset="-122"/>
                <a:cs typeface="Calibri" pitchFamily="34" charset="-120"/>
              </a:rPr>
              <a:t>Budget</a:t>
            </a:r>
            <a:endParaRPr lang="en-US" sz="1300" dirty="0"/>
          </a:p>
        </p:txBody>
      </p:sp>
      <p:sp>
        <p:nvSpPr>
          <p:cNvPr id="21" name="Text 19"/>
          <p:cNvSpPr txBox="1"/>
          <p:nvPr/>
        </p:nvSpPr>
        <p:spPr>
          <a:xfrm>
            <a:off x="8503920" y="4059936"/>
            <a:ext cx="3200400" cy="502920"/>
          </a:xfrm>
          <a:prstGeom prst="rect">
            <a:avLst/>
          </a:prstGeom>
          <a:noFill/>
          <a:ln/>
        </p:spPr>
        <p:txBody>
          <a:bodyPr wrap="square" lIns="0" tIns="0" rIns="0" bIns="0" rtlCol="0" anchor="ctr"/>
          <a:lstStyle/>
          <a:p>
            <a:pPr indent="0" marL="0">
              <a:lnSpc>
                <a:spcPts val="2100"/>
              </a:lnSpc>
              <a:buNone/>
            </a:pPr>
            <a:r>
              <a:rPr lang="en-US" sz="1350" dirty="0">
                <a:solidFill>
                  <a:srgbClr val="1A1A2E"/>
                </a:solidFill>
                <a:latin typeface="Calibri" pitchFamily="34" charset="0"/>
                <a:ea typeface="Calibri" pitchFamily="34" charset="-122"/>
                <a:cs typeface="Calibri" pitchFamily="34" charset="-120"/>
              </a:rPr>
              <a:t>20 000 steps unless stated</a:t>
            </a:r>
            <a:endParaRPr lang="en-US" sz="1350" dirty="0"/>
          </a:p>
        </p:txBody>
      </p:sp>
      <p:sp>
        <p:nvSpPr>
          <p:cNvPr id="22" name="Shape 20"/>
          <p:cNvSpPr/>
          <p:nvPr/>
        </p:nvSpPr>
        <p:spPr>
          <a:xfrm>
            <a:off x="566928" y="4846320"/>
            <a:ext cx="11027664" cy="1280160"/>
          </a:xfrm>
          <a:prstGeom prst="roundRect">
            <a:avLst>
              <a:gd name="adj" fmla="val 4286"/>
            </a:avLst>
          </a:prstGeom>
          <a:solidFill>
            <a:srgbClr val="FAF2E4"/>
          </a:solidFill>
          <a:ln w="12700">
            <a:solidFill>
              <a:srgbClr val="FAF2E4"/>
            </a:solidFill>
            <a:prstDash val="solid"/>
          </a:ln>
        </p:spPr>
      </p:sp>
      <p:sp>
        <p:nvSpPr>
          <p:cNvPr id="23" name="Text 21"/>
          <p:cNvSpPr txBox="1"/>
          <p:nvPr/>
        </p:nvSpPr>
        <p:spPr>
          <a:xfrm>
            <a:off x="950976" y="5029200"/>
            <a:ext cx="10241280" cy="274320"/>
          </a:xfrm>
          <a:prstGeom prst="rect">
            <a:avLst/>
          </a:prstGeom>
          <a:noFill/>
          <a:ln/>
        </p:spPr>
        <p:txBody>
          <a:bodyPr wrap="square" lIns="0" tIns="0" rIns="0" bIns="0" rtlCol="0" anchor="ctr"/>
          <a:lstStyle/>
          <a:p>
            <a:pPr indent="0" marL="0">
              <a:lnSpc>
                <a:spcPts val="2100"/>
              </a:lnSpc>
              <a:buNone/>
            </a:pPr>
            <a:r>
              <a:rPr lang="en-US" sz="1200" b="1" spc="150" kern="0" dirty="0">
                <a:solidFill>
                  <a:srgbClr val="B8791F"/>
                </a:solidFill>
                <a:latin typeface="Calibri" pitchFamily="34" charset="0"/>
                <a:ea typeface="Calibri" pitchFamily="34" charset="-122"/>
                <a:cs typeface="Calibri" pitchFamily="34" charset="-120"/>
              </a:rPr>
              <a:t>Reporting convention</a:t>
            </a:r>
            <a:endParaRPr lang="en-US" sz="1200" dirty="0"/>
          </a:p>
        </p:txBody>
      </p:sp>
      <p:sp>
        <p:nvSpPr>
          <p:cNvPr id="24" name="Text 22"/>
          <p:cNvSpPr txBox="1"/>
          <p:nvPr/>
        </p:nvSpPr>
        <p:spPr>
          <a:xfrm>
            <a:off x="950976" y="5349240"/>
            <a:ext cx="10241280" cy="640080"/>
          </a:xfrm>
          <a:prstGeom prst="rect">
            <a:avLst/>
          </a:prstGeom>
          <a:noFill/>
          <a:ln/>
        </p:spPr>
        <p:txBody>
          <a:bodyPr wrap="square" lIns="0" tIns="0" rIns="0" bIns="0" rtlCol="0" anchor="ctr"/>
          <a:lstStyle/>
          <a:p>
            <a:pPr indent="0" marL="0">
              <a:lnSpc>
                <a:spcPts val="1800"/>
              </a:lnSpc>
              <a:buNone/>
            </a:pPr>
            <a:r>
              <a:rPr lang="en-US" sz="1350" dirty="0">
                <a:solidFill>
                  <a:srgbClr val="1A1A2E"/>
                </a:solidFill>
                <a:latin typeface="Calibri" pitchFamily="34" charset="0"/>
                <a:ea typeface="Calibri" pitchFamily="34" charset="-122"/>
                <a:cs typeface="Calibri" pitchFamily="34" charset="-120"/>
              </a:rPr>
              <a:t>Token accuracy is the fraction of positions correct. Sequence accuracy requires every position in a sequence to be correct — at k = 128, per-position accuracy of 0.99 yields sequence accuracy of 0.28. Run counts are stated for every result; the protocol is given in section four.</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Results: established by construction</a:t>
            </a:r>
            <a:endParaRPr lang="en-US" sz="3000" dirty="0"/>
          </a:p>
        </p:txBody>
      </p:sp>
      <p:sp>
        <p:nvSpPr>
          <p:cNvPr id="4" name="Text 2"/>
          <p:cNvSpPr txBox="1"/>
          <p:nvPr/>
        </p:nvSpPr>
        <p:spPr>
          <a:xfrm>
            <a:off x="566928" y="1554480"/>
            <a:ext cx="10881360" cy="502920"/>
          </a:xfrm>
          <a:prstGeom prst="rect">
            <a:avLst/>
          </a:prstGeom>
          <a:noFill/>
          <a:ln/>
        </p:spPr>
        <p:txBody>
          <a:bodyPr wrap="square" lIns="0" tIns="0" rIns="0" bIns="0" rtlCol="0" anchor="ctr"/>
          <a:lstStyle/>
          <a:p>
            <a:pPr indent="0" marL="0">
              <a:lnSpc>
                <a:spcPts val="2100"/>
              </a:lnSpc>
              <a:buNone/>
            </a:pPr>
            <a:r>
              <a:rPr lang="en-US" sz="1450" i="1" dirty="0">
                <a:solidFill>
                  <a:srgbClr val="5C6378"/>
                </a:solidFill>
                <a:latin typeface="Calibri" pitchFamily="34" charset="0"/>
                <a:ea typeface="Calibri" pitchFamily="34" charset="-122"/>
                <a:cs typeface="Calibri" pitchFamily="34" charset="-120"/>
              </a:rPr>
              <a:t>Computed in float64 on CPU by explicit construction. No optimiser is involved: a question about what the architecture can represent is answered by construction, not by observing what training happens to reach.</a:t>
            </a:r>
            <a:endParaRPr lang="en-US" sz="1450" dirty="0"/>
          </a:p>
        </p:txBody>
      </p:sp>
      <p:sp>
        <p:nvSpPr>
          <p:cNvPr id="5" name="Shape 3"/>
          <p:cNvSpPr/>
          <p:nvPr/>
        </p:nvSpPr>
        <p:spPr>
          <a:xfrm>
            <a:off x="566928" y="2212848"/>
            <a:ext cx="11027664" cy="1133856"/>
          </a:xfrm>
          <a:prstGeom prst="roundRect">
            <a:avLst>
              <a:gd name="adj" fmla="val 4839"/>
            </a:avLst>
          </a:prstGeom>
          <a:solidFill>
            <a:srgbClr val="EEF1F6"/>
          </a:solidFill>
          <a:ln w="12700">
            <a:solidFill>
              <a:srgbClr val="EEF1F6"/>
            </a:solidFill>
            <a:prstDash val="solid"/>
          </a:ln>
        </p:spPr>
      </p:sp>
      <p:sp>
        <p:nvSpPr>
          <p:cNvPr id="6" name="Shape 4"/>
          <p:cNvSpPr/>
          <p:nvPr/>
        </p:nvSpPr>
        <p:spPr>
          <a:xfrm>
            <a:off x="950976" y="2578608"/>
            <a:ext cx="384048" cy="384048"/>
          </a:xfrm>
          <a:prstGeom prst="ellipse">
            <a:avLst/>
          </a:prstGeom>
          <a:solidFill>
            <a:srgbClr val="1C7293"/>
          </a:solidFill>
          <a:ln w="12700">
            <a:solidFill>
              <a:srgbClr val="333333"/>
            </a:solidFill>
            <a:prstDash val="solid"/>
          </a:ln>
        </p:spPr>
      </p:sp>
      <p:sp>
        <p:nvSpPr>
          <p:cNvPr id="7" name="Text 5"/>
          <p:cNvSpPr txBox="1"/>
          <p:nvPr/>
        </p:nvSpPr>
        <p:spPr>
          <a:xfrm>
            <a:off x="950976" y="2578608"/>
            <a:ext cx="38404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8" name="Text 6"/>
          <p:cNvSpPr txBox="1"/>
          <p:nvPr/>
        </p:nvSpPr>
        <p:spPr>
          <a:xfrm>
            <a:off x="1527048" y="2414016"/>
            <a:ext cx="9692640" cy="310896"/>
          </a:xfrm>
          <a:prstGeom prst="rect">
            <a:avLst/>
          </a:prstGeom>
          <a:noFill/>
          <a:ln/>
        </p:spPr>
        <p:txBody>
          <a:bodyPr wrap="square" lIns="0" tIns="0" rIns="0" bIns="0" rtlCol="0" anchor="ctr"/>
          <a:lstStyle/>
          <a:p>
            <a:pPr indent="0" marL="0">
              <a:buNone/>
            </a:pPr>
            <a:r>
              <a:rPr lang="en-US" sz="1650" b="1" dirty="0">
                <a:solidFill>
                  <a:srgbClr val="21295C"/>
                </a:solidFill>
                <a:latin typeface="Calibri" pitchFamily="34" charset="0"/>
                <a:ea typeface="Calibri" pitchFamily="34" charset="-122"/>
                <a:cs typeface="Calibri" pitchFamily="34" charset="-120"/>
              </a:rPr>
              <a:t>The rank bound  K ≥ ℓ</a:t>
            </a:r>
            <a:endParaRPr lang="en-US" sz="1650" dirty="0"/>
          </a:p>
        </p:txBody>
      </p:sp>
      <p:sp>
        <p:nvSpPr>
          <p:cNvPr id="9" name="Text 7"/>
          <p:cNvSpPr txBox="1"/>
          <p:nvPr/>
        </p:nvSpPr>
        <p:spPr>
          <a:xfrm>
            <a:off x="1527048" y="2779776"/>
            <a:ext cx="9692640" cy="457200"/>
          </a:xfrm>
          <a:prstGeom prst="rect">
            <a:avLst/>
          </a:prstGeom>
          <a:noFill/>
          <a:ln/>
        </p:spPr>
        <p:txBody>
          <a:bodyPr wrap="square" lIns="0" tIns="0" rIns="0" bIns="0" rtlCol="0" anchor="ctr"/>
          <a:lstStyle/>
          <a:p>
            <a:pPr indent="0" marL="0">
              <a:lnSpc>
                <a:spcPts val="2100"/>
              </a:lnSpc>
              <a:buNone/>
            </a:pPr>
            <a:r>
              <a:rPr lang="en-US" sz="1350" dirty="0">
                <a:solidFill>
                  <a:srgbClr val="5C6378"/>
                </a:solidFill>
                <a:latin typeface="Calibri" pitchFamily="34" charset="0"/>
                <a:ea typeface="Calibri" pitchFamily="34" charset="-122"/>
                <a:cs typeface="Calibri" pitchFamily="34" charset="-120"/>
              </a:rPr>
              <a:t>Verified over d ∈ {5, 8, 16} and K ∈ 0…6. Holds for every β, free or pinned.</a:t>
            </a:r>
            <a:endParaRPr lang="en-US" sz="1350" dirty="0"/>
          </a:p>
        </p:txBody>
      </p:sp>
      <p:sp>
        <p:nvSpPr>
          <p:cNvPr id="10" name="Shape 8"/>
          <p:cNvSpPr/>
          <p:nvPr/>
        </p:nvSpPr>
        <p:spPr>
          <a:xfrm>
            <a:off x="566928" y="3493008"/>
            <a:ext cx="11027664" cy="1133856"/>
          </a:xfrm>
          <a:prstGeom prst="roundRect">
            <a:avLst>
              <a:gd name="adj" fmla="val 4839"/>
            </a:avLst>
          </a:prstGeom>
          <a:solidFill>
            <a:srgbClr val="EEF1F6"/>
          </a:solidFill>
          <a:ln w="12700">
            <a:solidFill>
              <a:srgbClr val="EEF1F6"/>
            </a:solidFill>
            <a:prstDash val="solid"/>
          </a:ln>
        </p:spPr>
      </p:sp>
      <p:sp>
        <p:nvSpPr>
          <p:cNvPr id="11" name="Shape 9"/>
          <p:cNvSpPr/>
          <p:nvPr/>
        </p:nvSpPr>
        <p:spPr>
          <a:xfrm>
            <a:off x="950976" y="3858768"/>
            <a:ext cx="384048" cy="384048"/>
          </a:xfrm>
          <a:prstGeom prst="ellipse">
            <a:avLst/>
          </a:prstGeom>
          <a:solidFill>
            <a:srgbClr val="1C7293"/>
          </a:solidFill>
          <a:ln w="12700">
            <a:solidFill>
              <a:srgbClr val="333333"/>
            </a:solidFill>
            <a:prstDash val="solid"/>
          </a:ln>
        </p:spPr>
      </p:sp>
      <p:sp>
        <p:nvSpPr>
          <p:cNvPr id="12" name="Text 10"/>
          <p:cNvSpPr txBox="1"/>
          <p:nvPr/>
        </p:nvSpPr>
        <p:spPr>
          <a:xfrm>
            <a:off x="950976" y="3858768"/>
            <a:ext cx="38404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3" name="Text 11"/>
          <p:cNvSpPr txBox="1"/>
          <p:nvPr/>
        </p:nvSpPr>
        <p:spPr>
          <a:xfrm>
            <a:off x="1527048" y="3694176"/>
            <a:ext cx="9692640" cy="310896"/>
          </a:xfrm>
          <a:prstGeom prst="rect">
            <a:avLst/>
          </a:prstGeom>
          <a:noFill/>
          <a:ln/>
        </p:spPr>
        <p:txBody>
          <a:bodyPr wrap="square" lIns="0" tIns="0" rIns="0" bIns="0" rtlCol="0" anchor="ctr"/>
          <a:lstStyle/>
          <a:p>
            <a:pPr indent="0" marL="0">
              <a:buNone/>
            </a:pPr>
            <a:r>
              <a:rPr lang="en-US" sz="1650" b="1" dirty="0">
                <a:solidFill>
                  <a:srgbClr val="21295C"/>
                </a:solidFill>
                <a:latin typeface="Calibri" pitchFamily="34" charset="0"/>
                <a:ea typeface="Calibri" pitchFamily="34" charset="-122"/>
                <a:cs typeface="Calibri" pitchFamily="34" charset="-120"/>
              </a:rPr>
              <a:t>The parity constraint</a:t>
            </a:r>
            <a:endParaRPr lang="en-US" sz="1650" dirty="0"/>
          </a:p>
        </p:txBody>
      </p:sp>
      <p:sp>
        <p:nvSpPr>
          <p:cNvPr id="14" name="Text 12"/>
          <p:cNvSpPr txBox="1"/>
          <p:nvPr/>
        </p:nvSpPr>
        <p:spPr>
          <a:xfrm>
            <a:off x="1527048" y="4059936"/>
            <a:ext cx="9692640" cy="457200"/>
          </a:xfrm>
          <a:prstGeom prst="rect">
            <a:avLst/>
          </a:prstGeom>
          <a:noFill/>
          <a:ln/>
        </p:spPr>
        <p:txBody>
          <a:bodyPr wrap="square" lIns="0" tIns="0" rIns="0" bIns="0" rtlCol="0" anchor="ctr"/>
          <a:lstStyle/>
          <a:p>
            <a:pPr indent="0" marL="0">
              <a:lnSpc>
                <a:spcPts val="2100"/>
              </a:lnSpc>
              <a:buNone/>
            </a:pPr>
            <a:r>
              <a:rPr lang="en-US" sz="1350" dirty="0">
                <a:solidFill>
                  <a:srgbClr val="5C6378"/>
                </a:solidFill>
                <a:latin typeface="Calibri" pitchFamily="34" charset="0"/>
                <a:ea typeface="Calibri" pitchFamily="34" charset="-122"/>
                <a:cs typeface="Calibri" pitchFamily="34" charset="-120"/>
              </a:rPr>
              <a:t>Reconstruction of all 120 elements of S₅ at every K. Worst error 1.17 × 10⁻¹⁵. Determines the gate design.</a:t>
            </a:r>
            <a:endParaRPr lang="en-US" sz="1350" dirty="0"/>
          </a:p>
        </p:txBody>
      </p:sp>
      <p:sp>
        <p:nvSpPr>
          <p:cNvPr id="15" name="Shape 13"/>
          <p:cNvSpPr/>
          <p:nvPr/>
        </p:nvSpPr>
        <p:spPr>
          <a:xfrm>
            <a:off x="566928" y="4773168"/>
            <a:ext cx="11027664" cy="1133856"/>
          </a:xfrm>
          <a:prstGeom prst="roundRect">
            <a:avLst>
              <a:gd name="adj" fmla="val 4839"/>
            </a:avLst>
          </a:prstGeom>
          <a:solidFill>
            <a:srgbClr val="EEF1F6"/>
          </a:solidFill>
          <a:ln w="12700">
            <a:solidFill>
              <a:srgbClr val="EEF1F6"/>
            </a:solidFill>
            <a:prstDash val="solid"/>
          </a:ln>
        </p:spPr>
      </p:sp>
      <p:sp>
        <p:nvSpPr>
          <p:cNvPr id="16" name="Shape 14"/>
          <p:cNvSpPr/>
          <p:nvPr/>
        </p:nvSpPr>
        <p:spPr>
          <a:xfrm>
            <a:off x="950976" y="5138928"/>
            <a:ext cx="384048" cy="384048"/>
          </a:xfrm>
          <a:prstGeom prst="ellipse">
            <a:avLst/>
          </a:prstGeom>
          <a:solidFill>
            <a:srgbClr val="1C7293"/>
          </a:solidFill>
          <a:ln w="12700">
            <a:solidFill>
              <a:srgbClr val="333333"/>
            </a:solidFill>
            <a:prstDash val="solid"/>
          </a:ln>
        </p:spPr>
      </p:sp>
      <p:sp>
        <p:nvSpPr>
          <p:cNvPr id="17" name="Text 15"/>
          <p:cNvSpPr txBox="1"/>
          <p:nvPr/>
        </p:nvSpPr>
        <p:spPr>
          <a:xfrm>
            <a:off x="950976" y="5138928"/>
            <a:ext cx="38404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8" name="Text 16"/>
          <p:cNvSpPr txBox="1"/>
          <p:nvPr/>
        </p:nvSpPr>
        <p:spPr>
          <a:xfrm>
            <a:off x="1527048" y="4974336"/>
            <a:ext cx="9692640" cy="310896"/>
          </a:xfrm>
          <a:prstGeom prst="rect">
            <a:avLst/>
          </a:prstGeom>
          <a:noFill/>
          <a:ln/>
        </p:spPr>
        <p:txBody>
          <a:bodyPr wrap="square" lIns="0" tIns="0" rIns="0" bIns="0" rtlCol="0" anchor="ctr"/>
          <a:lstStyle/>
          <a:p>
            <a:pPr indent="0" marL="0">
              <a:buNone/>
            </a:pPr>
            <a:r>
              <a:rPr lang="en-US" sz="1650" b="1" dirty="0">
                <a:solidFill>
                  <a:srgbClr val="21295C"/>
                </a:solidFill>
                <a:latin typeface="Calibri" pitchFamily="34" charset="0"/>
                <a:ea typeface="Calibri" pitchFamily="34" charset="-122"/>
                <a:cs typeface="Calibri" pitchFamily="34" charset="-120"/>
              </a:rPr>
              <a:t>The demand model D(g)</a:t>
            </a:r>
            <a:endParaRPr lang="en-US" sz="1650" dirty="0"/>
          </a:p>
        </p:txBody>
      </p:sp>
      <p:sp>
        <p:nvSpPr>
          <p:cNvPr id="19" name="Text 17"/>
          <p:cNvSpPr txBox="1"/>
          <p:nvPr/>
        </p:nvSpPr>
        <p:spPr>
          <a:xfrm>
            <a:off x="1527048" y="5340096"/>
            <a:ext cx="9692640" cy="457200"/>
          </a:xfrm>
          <a:prstGeom prst="rect">
            <a:avLst/>
          </a:prstGeom>
          <a:noFill/>
          <a:ln/>
        </p:spPr>
        <p:txBody>
          <a:bodyPr wrap="square" lIns="0" tIns="0" rIns="0" bIns="0" rtlCol="0" anchor="ctr"/>
          <a:lstStyle/>
          <a:p>
            <a:pPr indent="0" marL="0">
              <a:lnSpc>
                <a:spcPts val="2100"/>
              </a:lnSpc>
              <a:buNone/>
            </a:pPr>
            <a:r>
              <a:rPr lang="en-US" sz="1350" dirty="0">
                <a:solidFill>
                  <a:srgbClr val="5C6378"/>
                </a:solidFill>
                <a:latin typeface="Calibri" pitchFamily="34" charset="0"/>
                <a:ea typeface="Calibri" pitchFamily="34" charset="-122"/>
                <a:cs typeface="Calibri" pitchFamily="34" charset="-120"/>
              </a:rPr>
              <a:t>Icosahedral group built from geometry; isomorphism to A₅ exhibited explicitly; two-reflection factorisation to 1.31 × 10⁻¹⁵.</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Results: capability at matched computation</a:t>
            </a:r>
            <a:endParaRPr lang="en-US" sz="3000" dirty="0"/>
          </a:p>
        </p:txBody>
      </p:sp>
      <p:sp>
        <p:nvSpPr>
          <p:cNvPr id="4" name="Text 2"/>
          <p:cNvSpPr txBox="1"/>
          <p:nvPr/>
        </p:nvSpPr>
        <p:spPr>
          <a:xfrm>
            <a:off x="566928" y="1554480"/>
            <a:ext cx="10881360" cy="384048"/>
          </a:xfrm>
          <a:prstGeom prst="rect">
            <a:avLst/>
          </a:prstGeom>
          <a:noFill/>
          <a:ln/>
        </p:spPr>
        <p:txBody>
          <a:bodyPr wrap="square" lIns="0" tIns="0" rIns="0" bIns="0" rtlCol="0" anchor="ctr"/>
          <a:lstStyle/>
          <a:p>
            <a:pPr indent="0" marL="0">
              <a:lnSpc>
                <a:spcPts val="2100"/>
              </a:lnSpc>
              <a:buNone/>
            </a:pPr>
            <a:r>
              <a:rPr lang="en-US" sz="1450" dirty="0">
                <a:solidFill>
                  <a:srgbClr val="1A1A2E"/>
                </a:solidFill>
                <a:latin typeface="Calibri" pitchFamily="34" charset="0"/>
                <a:ea typeface="Calibri" pitchFamily="34" charset="-122"/>
                <a:cs typeface="Calibri" pitchFamily="34" charset="-120"/>
              </a:rPr>
              <a:t>Baseline reproduced: S₃ matches the published pattern; S₅ at nₕ = 4 reaches token accuracy 0.864 at length 512 after training at length 128.</a:t>
            </a:r>
            <a:endParaRPr lang="en-US" sz="1450" dirty="0"/>
          </a:p>
        </p:txBody>
      </p:sp>
      <p:sp>
        <p:nvSpPr>
          <p:cNvPr id="5" name="Text 3"/>
          <p:cNvSpPr txBox="1"/>
          <p:nvPr/>
        </p:nvSpPr>
        <p:spPr>
          <a:xfrm>
            <a:off x="566928" y="1993392"/>
            <a:ext cx="10881360" cy="347472"/>
          </a:xfrm>
          <a:prstGeom prst="rect">
            <a:avLst/>
          </a:prstGeom>
          <a:noFill/>
          <a:ln/>
        </p:spPr>
        <p:txBody>
          <a:bodyPr wrap="square" lIns="0" tIns="0" rIns="0" bIns="0" rtlCol="0" anchor="ctr"/>
          <a:lstStyle/>
          <a:p>
            <a:pPr indent="0" marL="0">
              <a:lnSpc>
                <a:spcPts val="2100"/>
              </a:lnSpc>
              <a:buNone/>
            </a:pPr>
            <a:r>
              <a:rPr lang="en-US" sz="1400" dirty="0">
                <a:solidFill>
                  <a:srgbClr val="5C6378"/>
                </a:solidFill>
                <a:latin typeface="Calibri" pitchFamily="34" charset="0"/>
                <a:ea typeface="Calibri" pitchFamily="34" charset="-122"/>
                <a:cs typeface="Calibri" pitchFamily="34" charset="-120"/>
              </a:rPr>
              <a:t>Alphabet: 10 transpositions + 24 five-cycles. p is the five-cycle mixture rate; the generated group is S₅ throughout.</a:t>
            </a:r>
            <a:endParaRPr lang="en-US" sz="1400" dirty="0"/>
          </a:p>
        </p:txBody>
      </p:sp>
      <p:sp>
        <p:nvSpPr>
          <p:cNvPr id="6" name="Text 4"/>
          <p:cNvSpPr txBox="1"/>
          <p:nvPr/>
        </p:nvSpPr>
        <p:spPr>
          <a:xfrm>
            <a:off x="749808" y="2514600"/>
            <a:ext cx="109728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p</a:t>
            </a:r>
            <a:endParaRPr lang="en-US" sz="1250" dirty="0"/>
          </a:p>
        </p:txBody>
      </p:sp>
      <p:sp>
        <p:nvSpPr>
          <p:cNvPr id="7" name="Text 5"/>
          <p:cNvSpPr txBox="1"/>
          <p:nvPr/>
        </p:nvSpPr>
        <p:spPr>
          <a:xfrm>
            <a:off x="1847088" y="2514600"/>
            <a:ext cx="137160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E[D]</a:t>
            </a:r>
            <a:endParaRPr lang="en-US" sz="1250" dirty="0"/>
          </a:p>
        </p:txBody>
      </p:sp>
      <p:sp>
        <p:nvSpPr>
          <p:cNvPr id="8" name="Text 6"/>
          <p:cNvSpPr txBox="1"/>
          <p:nvPr/>
        </p:nvSpPr>
        <p:spPr>
          <a:xfrm>
            <a:off x="3218688" y="2514600"/>
            <a:ext cx="329184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fixed nₕ = 4</a:t>
            </a:r>
            <a:endParaRPr lang="en-US" sz="1250" dirty="0"/>
          </a:p>
        </p:txBody>
      </p:sp>
      <p:sp>
        <p:nvSpPr>
          <p:cNvPr id="9" name="Text 7"/>
          <p:cNvSpPr txBox="1"/>
          <p:nvPr/>
        </p:nvSpPr>
        <p:spPr>
          <a:xfrm>
            <a:off x="6510528" y="2514600"/>
            <a:ext cx="356616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oracle adaptive</a:t>
            </a:r>
            <a:endParaRPr lang="en-US" sz="1250" dirty="0"/>
          </a:p>
        </p:txBody>
      </p:sp>
      <p:sp>
        <p:nvSpPr>
          <p:cNvPr id="10" name="Text 8"/>
          <p:cNvSpPr txBox="1"/>
          <p:nvPr/>
        </p:nvSpPr>
        <p:spPr>
          <a:xfrm>
            <a:off x="10076688" y="2514600"/>
            <a:ext cx="173736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cost ratio</a:t>
            </a:r>
            <a:endParaRPr lang="en-US" sz="1250" dirty="0"/>
          </a:p>
        </p:txBody>
      </p:sp>
      <p:sp>
        <p:nvSpPr>
          <p:cNvPr id="11" name="Text 9"/>
          <p:cNvSpPr txBox="1"/>
          <p:nvPr/>
        </p:nvSpPr>
        <p:spPr>
          <a:xfrm>
            <a:off x="749808" y="2898648"/>
            <a:ext cx="109728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0.05</a:t>
            </a:r>
            <a:endParaRPr lang="en-US" sz="1450" dirty="0"/>
          </a:p>
        </p:txBody>
      </p:sp>
      <p:sp>
        <p:nvSpPr>
          <p:cNvPr id="12" name="Text 10"/>
          <p:cNvSpPr txBox="1"/>
          <p:nvPr/>
        </p:nvSpPr>
        <p:spPr>
          <a:xfrm>
            <a:off x="1847088" y="2898648"/>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1.150</a:t>
            </a:r>
            <a:endParaRPr lang="en-US" sz="1450" dirty="0"/>
          </a:p>
        </p:txBody>
      </p:sp>
      <p:sp>
        <p:nvSpPr>
          <p:cNvPr id="13" name="Text 11"/>
          <p:cNvSpPr txBox="1"/>
          <p:nvPr/>
        </p:nvSpPr>
        <p:spPr>
          <a:xfrm>
            <a:off x="3218688" y="2898648"/>
            <a:ext cx="329184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0.9999  @ cost 4</a:t>
            </a:r>
            <a:endParaRPr lang="en-US" sz="1450" dirty="0"/>
          </a:p>
        </p:txBody>
      </p:sp>
      <p:sp>
        <p:nvSpPr>
          <p:cNvPr id="14" name="Text 12"/>
          <p:cNvSpPr txBox="1"/>
          <p:nvPr/>
        </p:nvSpPr>
        <p:spPr>
          <a:xfrm>
            <a:off x="6510528" y="2898648"/>
            <a:ext cx="35661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1.0000  @ cost 1.150</a:t>
            </a:r>
            <a:endParaRPr lang="en-US" sz="1450" dirty="0"/>
          </a:p>
        </p:txBody>
      </p:sp>
      <p:sp>
        <p:nvSpPr>
          <p:cNvPr id="15" name="Text 13"/>
          <p:cNvSpPr txBox="1"/>
          <p:nvPr/>
        </p:nvSpPr>
        <p:spPr>
          <a:xfrm>
            <a:off x="10076688" y="2898648"/>
            <a:ext cx="1737360" cy="310896"/>
          </a:xfrm>
          <a:prstGeom prst="rect">
            <a:avLst/>
          </a:prstGeom>
          <a:noFill/>
          <a:ln/>
        </p:spPr>
        <p:txBody>
          <a:bodyPr wrap="square" lIns="0" tIns="0" rIns="0" bIns="0" rtlCol="0" anchor="ctr"/>
          <a:lstStyle/>
          <a:p>
            <a:pPr indent="0" marL="0">
              <a:buNone/>
            </a:pPr>
            <a:r>
              <a:rPr lang="en-US" sz="1450" dirty="0">
                <a:solidFill>
                  <a:srgbClr val="B8791F"/>
                </a:solidFill>
                <a:latin typeface="Calibri" pitchFamily="34" charset="0"/>
                <a:ea typeface="Calibri" pitchFamily="34" charset="-122"/>
                <a:cs typeface="Calibri" pitchFamily="34" charset="-120"/>
              </a:rPr>
              <a:t>3.48×</a:t>
            </a:r>
            <a:endParaRPr lang="en-US" sz="1450" dirty="0"/>
          </a:p>
        </p:txBody>
      </p:sp>
      <p:sp>
        <p:nvSpPr>
          <p:cNvPr id="16" name="Text 14"/>
          <p:cNvSpPr txBox="1"/>
          <p:nvPr/>
        </p:nvSpPr>
        <p:spPr>
          <a:xfrm>
            <a:off x="749808" y="3337560"/>
            <a:ext cx="109728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0.10</a:t>
            </a:r>
            <a:endParaRPr lang="en-US" sz="1450" dirty="0"/>
          </a:p>
        </p:txBody>
      </p:sp>
      <p:sp>
        <p:nvSpPr>
          <p:cNvPr id="17" name="Text 15"/>
          <p:cNvSpPr txBox="1"/>
          <p:nvPr/>
        </p:nvSpPr>
        <p:spPr>
          <a:xfrm>
            <a:off x="1847088" y="3337560"/>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1.300</a:t>
            </a:r>
            <a:endParaRPr lang="en-US" sz="1450" dirty="0"/>
          </a:p>
        </p:txBody>
      </p:sp>
      <p:sp>
        <p:nvSpPr>
          <p:cNvPr id="18" name="Text 16"/>
          <p:cNvSpPr txBox="1"/>
          <p:nvPr/>
        </p:nvSpPr>
        <p:spPr>
          <a:xfrm>
            <a:off x="3218688" y="3337560"/>
            <a:ext cx="329184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0.9999  @ cost 4</a:t>
            </a:r>
            <a:endParaRPr lang="en-US" sz="1450" dirty="0"/>
          </a:p>
        </p:txBody>
      </p:sp>
      <p:sp>
        <p:nvSpPr>
          <p:cNvPr id="19" name="Text 17"/>
          <p:cNvSpPr txBox="1"/>
          <p:nvPr/>
        </p:nvSpPr>
        <p:spPr>
          <a:xfrm>
            <a:off x="6510528" y="3337560"/>
            <a:ext cx="35661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0.9999  @ cost 1.300</a:t>
            </a:r>
            <a:endParaRPr lang="en-US" sz="1450" dirty="0"/>
          </a:p>
        </p:txBody>
      </p:sp>
      <p:sp>
        <p:nvSpPr>
          <p:cNvPr id="20" name="Text 18"/>
          <p:cNvSpPr txBox="1"/>
          <p:nvPr/>
        </p:nvSpPr>
        <p:spPr>
          <a:xfrm>
            <a:off x="10076688" y="3337560"/>
            <a:ext cx="1737360" cy="310896"/>
          </a:xfrm>
          <a:prstGeom prst="rect">
            <a:avLst/>
          </a:prstGeom>
          <a:noFill/>
          <a:ln/>
        </p:spPr>
        <p:txBody>
          <a:bodyPr wrap="square" lIns="0" tIns="0" rIns="0" bIns="0" rtlCol="0" anchor="ctr"/>
          <a:lstStyle/>
          <a:p>
            <a:pPr indent="0" marL="0">
              <a:buNone/>
            </a:pPr>
            <a:r>
              <a:rPr lang="en-US" sz="1450" dirty="0">
                <a:solidFill>
                  <a:srgbClr val="B8791F"/>
                </a:solidFill>
                <a:latin typeface="Calibri" pitchFamily="34" charset="0"/>
                <a:ea typeface="Calibri" pitchFamily="34" charset="-122"/>
                <a:cs typeface="Calibri" pitchFamily="34" charset="-120"/>
              </a:rPr>
              <a:t>3.08×</a:t>
            </a:r>
            <a:endParaRPr lang="en-US" sz="1450" dirty="0"/>
          </a:p>
        </p:txBody>
      </p:sp>
      <p:sp>
        <p:nvSpPr>
          <p:cNvPr id="21" name="Text 19"/>
          <p:cNvSpPr txBox="1"/>
          <p:nvPr/>
        </p:nvSpPr>
        <p:spPr>
          <a:xfrm>
            <a:off x="749808" y="3776472"/>
            <a:ext cx="109728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0.25</a:t>
            </a:r>
            <a:endParaRPr lang="en-US" sz="1450" dirty="0"/>
          </a:p>
        </p:txBody>
      </p:sp>
      <p:sp>
        <p:nvSpPr>
          <p:cNvPr id="22" name="Text 20"/>
          <p:cNvSpPr txBox="1"/>
          <p:nvPr/>
        </p:nvSpPr>
        <p:spPr>
          <a:xfrm>
            <a:off x="1847088" y="3776472"/>
            <a:ext cx="13716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1.752</a:t>
            </a:r>
            <a:endParaRPr lang="en-US" sz="1450" dirty="0"/>
          </a:p>
        </p:txBody>
      </p:sp>
      <p:sp>
        <p:nvSpPr>
          <p:cNvPr id="23" name="Text 21"/>
          <p:cNvSpPr txBox="1"/>
          <p:nvPr/>
        </p:nvSpPr>
        <p:spPr>
          <a:xfrm>
            <a:off x="3218688" y="3776472"/>
            <a:ext cx="329184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0.9997  @ cost 4</a:t>
            </a:r>
            <a:endParaRPr lang="en-US" sz="1450" dirty="0"/>
          </a:p>
        </p:txBody>
      </p:sp>
      <p:sp>
        <p:nvSpPr>
          <p:cNvPr id="24" name="Text 22"/>
          <p:cNvSpPr txBox="1"/>
          <p:nvPr/>
        </p:nvSpPr>
        <p:spPr>
          <a:xfrm>
            <a:off x="6510528" y="3776472"/>
            <a:ext cx="35661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0.9999  @ cost 1.752</a:t>
            </a:r>
            <a:endParaRPr lang="en-US" sz="1450" dirty="0"/>
          </a:p>
        </p:txBody>
      </p:sp>
      <p:sp>
        <p:nvSpPr>
          <p:cNvPr id="25" name="Text 23"/>
          <p:cNvSpPr txBox="1"/>
          <p:nvPr/>
        </p:nvSpPr>
        <p:spPr>
          <a:xfrm>
            <a:off x="10076688" y="3776472"/>
            <a:ext cx="1737360" cy="310896"/>
          </a:xfrm>
          <a:prstGeom prst="rect">
            <a:avLst/>
          </a:prstGeom>
          <a:noFill/>
          <a:ln/>
        </p:spPr>
        <p:txBody>
          <a:bodyPr wrap="square" lIns="0" tIns="0" rIns="0" bIns="0" rtlCol="0" anchor="ctr"/>
          <a:lstStyle/>
          <a:p>
            <a:pPr indent="0" marL="0">
              <a:buNone/>
            </a:pPr>
            <a:r>
              <a:rPr lang="en-US" sz="1450" dirty="0">
                <a:solidFill>
                  <a:srgbClr val="B8791F"/>
                </a:solidFill>
                <a:latin typeface="Calibri" pitchFamily="34" charset="0"/>
                <a:ea typeface="Calibri" pitchFamily="34" charset="-122"/>
                <a:cs typeface="Calibri" pitchFamily="34" charset="-120"/>
              </a:rPr>
              <a:t>2.29×</a:t>
            </a:r>
            <a:endParaRPr lang="en-US" sz="1450" dirty="0"/>
          </a:p>
        </p:txBody>
      </p:sp>
      <p:sp>
        <p:nvSpPr>
          <p:cNvPr id="26" name="Shape 24"/>
          <p:cNvSpPr/>
          <p:nvPr/>
        </p:nvSpPr>
        <p:spPr>
          <a:xfrm>
            <a:off x="566928" y="4114800"/>
            <a:ext cx="11027664" cy="960120"/>
          </a:xfrm>
          <a:prstGeom prst="roundRect">
            <a:avLst>
              <a:gd name="adj" fmla="val 5714"/>
            </a:avLst>
          </a:prstGeom>
          <a:solidFill>
            <a:srgbClr val="EEF1F6"/>
          </a:solidFill>
          <a:ln w="12700">
            <a:solidFill>
              <a:srgbClr val="EEF1F6"/>
            </a:solidFill>
            <a:prstDash val="solid"/>
          </a:ln>
        </p:spPr>
      </p:sp>
      <p:sp>
        <p:nvSpPr>
          <p:cNvPr id="27" name="Text 25"/>
          <p:cNvSpPr txBox="1"/>
          <p:nvPr/>
        </p:nvSpPr>
        <p:spPr>
          <a:xfrm>
            <a:off x="950976" y="4334256"/>
            <a:ext cx="10241280" cy="502920"/>
          </a:xfrm>
          <a:prstGeom prst="rect">
            <a:avLst/>
          </a:prstGeom>
          <a:noFill/>
          <a:ln/>
        </p:spPr>
        <p:txBody>
          <a:bodyPr wrap="square" lIns="0" tIns="0" rIns="0" bIns="0" rtlCol="0" anchor="ctr"/>
          <a:lstStyle/>
          <a:p>
            <a:pPr indent="0" marL="0">
              <a:lnSpc>
                <a:spcPts val="2100"/>
              </a:lnSpc>
              <a:buNone/>
            </a:pPr>
            <a:r>
              <a:rPr lang="en-US" sz="1450" dirty="0">
                <a:solidFill>
                  <a:srgbClr val="21295C"/>
                </a:solidFill>
                <a:latin typeface="Calibri" pitchFamily="34" charset="0"/>
                <a:ea typeface="Calibri" pitchFamily="34" charset="-122"/>
                <a:cs typeface="Calibri" pitchFamily="34" charset="-120"/>
              </a:rPr>
              <a:t>Fixed order is integer-valued. For any budget B with E[D] ≤ B &lt; D_max, no fixed-order model both fits the budget and solves the task.</a:t>
            </a:r>
            <a:endParaRPr lang="en-US" sz="1450" dirty="0"/>
          </a:p>
        </p:txBody>
      </p:sp>
      <p:sp>
        <p:nvSpPr>
          <p:cNvPr id="28" name="Shape 26"/>
          <p:cNvSpPr/>
          <p:nvPr/>
        </p:nvSpPr>
        <p:spPr>
          <a:xfrm>
            <a:off x="566928" y="5257800"/>
            <a:ext cx="11027664" cy="868680"/>
          </a:xfrm>
          <a:prstGeom prst="roundRect">
            <a:avLst>
              <a:gd name="adj" fmla="val 6316"/>
            </a:avLst>
          </a:prstGeom>
          <a:solidFill>
            <a:srgbClr val="FAF2E4"/>
          </a:solidFill>
          <a:ln w="12700">
            <a:solidFill>
              <a:srgbClr val="FAF2E4"/>
            </a:solidFill>
            <a:prstDash val="solid"/>
          </a:ln>
        </p:spPr>
      </p:sp>
      <p:sp>
        <p:nvSpPr>
          <p:cNvPr id="29" name="Text 27"/>
          <p:cNvSpPr txBox="1"/>
          <p:nvPr/>
        </p:nvSpPr>
        <p:spPr>
          <a:xfrm>
            <a:off x="950976" y="5486400"/>
            <a:ext cx="10241280" cy="411480"/>
          </a:xfrm>
          <a:prstGeom prst="rect">
            <a:avLst/>
          </a:prstGeom>
          <a:noFill/>
          <a:ln/>
        </p:spPr>
        <p:txBody>
          <a:bodyPr wrap="square" lIns="0" tIns="0" rIns="0" bIns="0" rtlCol="0" anchor="ctr"/>
          <a:lstStyle/>
          <a:p>
            <a:pPr indent="0" marL="0">
              <a:lnSpc>
                <a:spcPts val="2100"/>
              </a:lnSpc>
              <a:buNone/>
            </a:pPr>
            <a:r>
              <a:rPr lang="en-US" sz="1400" b="1" dirty="0">
                <a:solidFill>
                  <a:srgbClr val="B8791F"/>
                </a:solidFill>
                <a:latin typeface="Calibri" pitchFamily="34" charset="0"/>
                <a:ea typeface="Calibri" pitchFamily="34" charset="-122"/>
                <a:cs typeface="Calibri" pitchFamily="34" charset="-120"/>
              </a:rPr>
              <a:t>Single run per arm. See the following two slides for what these numbers do and do not establish.</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Threats to validity, stated explicitly</a:t>
            </a:r>
            <a:endParaRPr lang="en-US" sz="3000" dirty="0"/>
          </a:p>
        </p:txBody>
      </p:sp>
      <p:sp>
        <p:nvSpPr>
          <p:cNvPr id="4" name="Shape 2"/>
          <p:cNvSpPr/>
          <p:nvPr/>
        </p:nvSpPr>
        <p:spPr>
          <a:xfrm>
            <a:off x="566928" y="1691640"/>
            <a:ext cx="11027664" cy="2103120"/>
          </a:xfrm>
          <a:prstGeom prst="roundRect">
            <a:avLst>
              <a:gd name="adj" fmla="val 2609"/>
            </a:avLst>
          </a:prstGeom>
          <a:solidFill>
            <a:srgbClr val="FAF2E4"/>
          </a:solidFill>
          <a:ln w="12700">
            <a:solidFill>
              <a:srgbClr val="FAF2E4"/>
            </a:solidFill>
            <a:prstDash val="solid"/>
          </a:ln>
        </p:spPr>
      </p:sp>
      <p:sp>
        <p:nvSpPr>
          <p:cNvPr id="5" name="Shape 3"/>
          <p:cNvSpPr/>
          <p:nvPr/>
        </p:nvSpPr>
        <p:spPr>
          <a:xfrm>
            <a:off x="978408" y="2039112"/>
            <a:ext cx="438912" cy="438912"/>
          </a:xfrm>
          <a:prstGeom prst="ellipse">
            <a:avLst/>
          </a:prstGeom>
          <a:solidFill>
            <a:srgbClr val="B8791F"/>
          </a:solidFill>
          <a:ln w="12700">
            <a:solidFill>
              <a:srgbClr val="333333"/>
            </a:solidFill>
            <a:prstDash val="solid"/>
          </a:ln>
        </p:spPr>
      </p:sp>
      <p:sp>
        <p:nvSpPr>
          <p:cNvPr id="6" name="Text 4"/>
          <p:cNvSpPr txBox="1"/>
          <p:nvPr/>
        </p:nvSpPr>
        <p:spPr>
          <a:xfrm>
            <a:off x="978408" y="2039112"/>
            <a:ext cx="438912" cy="438912"/>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7" name="Text 5"/>
          <p:cNvSpPr txBox="1"/>
          <p:nvPr/>
        </p:nvSpPr>
        <p:spPr>
          <a:xfrm>
            <a:off x="1618488" y="1993392"/>
            <a:ext cx="9601200" cy="347472"/>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The gate has not been trained end-to-end.</a:t>
            </a:r>
            <a:endParaRPr lang="en-US" sz="1800" dirty="0"/>
          </a:p>
        </p:txBody>
      </p:sp>
      <p:sp>
        <p:nvSpPr>
          <p:cNvPr id="8" name="Text 6"/>
          <p:cNvSpPr txBox="1"/>
          <p:nvPr/>
        </p:nvSpPr>
        <p:spPr>
          <a:xfrm>
            <a:off x="1618488" y="2441448"/>
            <a:ext cx="9601200" cy="1188720"/>
          </a:xfrm>
          <a:prstGeom prst="rect">
            <a:avLst/>
          </a:prstGeom>
          <a:noFill/>
          <a:ln/>
        </p:spPr>
        <p:txBody>
          <a:bodyPr wrap="square" lIns="0" tIns="0" rIns="0" bIns="0" rtlCol="0" anchor="ctr"/>
          <a:lstStyle/>
          <a:p>
            <a:pPr indent="0" marL="0">
              <a:lnSpc>
                <a:spcPts val="1900"/>
              </a:lnSpc>
              <a:buNone/>
            </a:pPr>
            <a:r>
              <a:rPr lang="en-US" sz="1350" dirty="0">
                <a:solidFill>
                  <a:srgbClr val="1A1A2E"/>
                </a:solidFill>
                <a:latin typeface="Calibri" pitchFamily="34" charset="0"/>
                <a:ea typeface="Calibri" pitchFamily="34" charset="-122"/>
                <a:cs typeface="Calibri" pitchFamily="34" charset="-120"/>
              </a:rPr>
              <a:t>The “oracle adaptive” arm is a control condition in which the correct per-token order is supplied from ground truth. It bounds what a perfect gate could achieve. It establishes nothing about whether a gate can learn the allocation. The budget loss is implemented and unit-tested but is not yet wired into any training loop.</a:t>
            </a:r>
            <a:endParaRPr lang="en-US" sz="1350" dirty="0"/>
          </a:p>
        </p:txBody>
      </p:sp>
      <p:sp>
        <p:nvSpPr>
          <p:cNvPr id="9" name="Shape 7"/>
          <p:cNvSpPr/>
          <p:nvPr/>
        </p:nvSpPr>
        <p:spPr>
          <a:xfrm>
            <a:off x="566928" y="3995928"/>
            <a:ext cx="11027664" cy="2103120"/>
          </a:xfrm>
          <a:prstGeom prst="roundRect">
            <a:avLst>
              <a:gd name="adj" fmla="val 2609"/>
            </a:avLst>
          </a:prstGeom>
          <a:solidFill>
            <a:srgbClr val="FAF2E4"/>
          </a:solidFill>
          <a:ln w="12700">
            <a:solidFill>
              <a:srgbClr val="FAF2E4"/>
            </a:solidFill>
            <a:prstDash val="solid"/>
          </a:ln>
        </p:spPr>
      </p:sp>
      <p:sp>
        <p:nvSpPr>
          <p:cNvPr id="10" name="Shape 8"/>
          <p:cNvSpPr/>
          <p:nvPr/>
        </p:nvSpPr>
        <p:spPr>
          <a:xfrm>
            <a:off x="978408" y="4343400"/>
            <a:ext cx="438912" cy="438912"/>
          </a:xfrm>
          <a:prstGeom prst="ellipse">
            <a:avLst/>
          </a:prstGeom>
          <a:solidFill>
            <a:srgbClr val="B8791F"/>
          </a:solidFill>
          <a:ln w="12700">
            <a:solidFill>
              <a:srgbClr val="333333"/>
            </a:solidFill>
            <a:prstDash val="solid"/>
          </a:ln>
        </p:spPr>
      </p:sp>
      <p:sp>
        <p:nvSpPr>
          <p:cNvPr id="11" name="Text 9"/>
          <p:cNvSpPr txBox="1"/>
          <p:nvPr/>
        </p:nvSpPr>
        <p:spPr>
          <a:xfrm>
            <a:off x="978408" y="4343400"/>
            <a:ext cx="438912" cy="438912"/>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a:t>
            </a:r>
            <a:endParaRPr lang="en-US" sz="2100" dirty="0"/>
          </a:p>
        </p:txBody>
      </p:sp>
      <p:sp>
        <p:nvSpPr>
          <p:cNvPr id="12" name="Text 10"/>
          <p:cNvSpPr txBox="1"/>
          <p:nvPr/>
        </p:nvSpPr>
        <p:spPr>
          <a:xfrm>
            <a:off x="1618488" y="4297680"/>
            <a:ext cx="9601200" cy="347472"/>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No wall-clock speedup has been measured.</a:t>
            </a:r>
            <a:endParaRPr lang="en-US" sz="1800" dirty="0"/>
          </a:p>
        </p:txBody>
      </p:sp>
      <p:sp>
        <p:nvSpPr>
          <p:cNvPr id="13" name="Text 11"/>
          <p:cNvSpPr txBox="1"/>
          <p:nvPr/>
        </p:nvSpPr>
        <p:spPr>
          <a:xfrm>
            <a:off x="1618488" y="4745736"/>
            <a:ext cx="9601200" cy="1188720"/>
          </a:xfrm>
          <a:prstGeom prst="rect">
            <a:avLst/>
          </a:prstGeom>
          <a:noFill/>
          <a:ln/>
        </p:spPr>
        <p:txBody>
          <a:bodyPr wrap="square" lIns="0" tIns="0" rIns="0" bIns="0" rtlCol="0" anchor="ctr"/>
          <a:lstStyle/>
          <a:p>
            <a:pPr indent="0" marL="0">
              <a:lnSpc>
                <a:spcPts val="1900"/>
              </a:lnSpc>
              <a:buNone/>
            </a:pPr>
            <a:r>
              <a:rPr lang="en-US" sz="1350" dirty="0">
                <a:solidFill>
                  <a:srgbClr val="1A1A2E"/>
                </a:solidFill>
                <a:latin typeface="Calibri" pitchFamily="34" charset="0"/>
                <a:ea typeface="Calibri" pitchFamily="34" charset="-122"/>
                <a:cs typeface="Calibri" pitchFamily="34" charset="-120"/>
              </a:rPr>
              <a:t>The current implementation expands all nₕ factors and multiplies the disabled ones by zero. The adaptive and fixed-order arms took 756 s and 761 s — identical within noise. The reported ratios are required work per token, not time. Realising them requires a ragged expansion that is not built.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Measurement protocol</a:t>
            </a:r>
            <a:endParaRPr lang="en-US" sz="3000" dirty="0"/>
          </a:p>
        </p:txBody>
      </p:sp>
      <p:sp>
        <p:nvSpPr>
          <p:cNvPr id="4" name="Text 2"/>
          <p:cNvSpPr txBox="1"/>
          <p:nvPr/>
        </p:nvSpPr>
        <p:spPr>
          <a:xfrm>
            <a:off x="566928" y="1554480"/>
            <a:ext cx="10881360" cy="566928"/>
          </a:xfrm>
          <a:prstGeom prst="rect">
            <a:avLst/>
          </a:prstGeom>
          <a:noFill/>
          <a:ln/>
        </p:spPr>
        <p:txBody>
          <a:bodyPr wrap="square" lIns="0" tIns="0" rIns="0" bIns="0" rtlCol="0" anchor="ctr"/>
          <a:lstStyle/>
          <a:p>
            <a:pPr indent="0" marL="0">
              <a:lnSpc>
                <a:spcPts val="2100"/>
              </a:lnSpc>
              <a:buNone/>
            </a:pPr>
            <a:r>
              <a:rPr lang="en-US" sz="1500" dirty="0">
                <a:solidFill>
                  <a:srgbClr val="1A1A2E"/>
                </a:solidFill>
                <a:latin typeface="Calibri" pitchFamily="34" charset="0"/>
                <a:ea typeface="Calibri" pitchFamily="34" charset="-122"/>
                <a:cs typeface="Calibri" pitchFamily="34" charset="-120"/>
              </a:rPr>
              <a:t>The bf16 Triton kernels use non-deterministic atomics, so a configuration does not reproduce exactly from its seed. On these state-tracking tasks the consequence is not a small variance — it is a change of outcome.</a:t>
            </a:r>
            <a:endParaRPr lang="en-US" sz="1500" dirty="0"/>
          </a:p>
        </p:txBody>
      </p:sp>
      <p:sp>
        <p:nvSpPr>
          <p:cNvPr id="5" name="Shape 3"/>
          <p:cNvSpPr/>
          <p:nvPr/>
        </p:nvSpPr>
        <p:spPr>
          <a:xfrm>
            <a:off x="566928" y="2212848"/>
            <a:ext cx="11027664" cy="1325880"/>
          </a:xfrm>
          <a:prstGeom prst="roundRect">
            <a:avLst>
              <a:gd name="adj" fmla="val 4138"/>
            </a:avLst>
          </a:prstGeom>
          <a:solidFill>
            <a:srgbClr val="EEF1F6"/>
          </a:solidFill>
          <a:ln w="12700">
            <a:solidFill>
              <a:srgbClr val="EEF1F6"/>
            </a:solidFill>
            <a:prstDash val="solid"/>
          </a:ln>
        </p:spPr>
      </p:sp>
      <p:sp>
        <p:nvSpPr>
          <p:cNvPr id="6" name="Text 4"/>
          <p:cNvSpPr txBox="1"/>
          <p:nvPr/>
        </p:nvSpPr>
        <p:spPr>
          <a:xfrm>
            <a:off x="950976" y="2432304"/>
            <a:ext cx="10241280" cy="914400"/>
          </a:xfrm>
          <a:prstGeom prst="rect">
            <a:avLst/>
          </a:prstGeom>
          <a:noFill/>
          <a:ln/>
        </p:spPr>
        <p:txBody>
          <a:bodyPr wrap="square" lIns="0" tIns="0" rIns="0" bIns="0" rtlCol="0" anchor="ctr"/>
          <a:lstStyle/>
          <a:p>
            <a:pPr indent="0" marL="0">
              <a:lnSpc>
                <a:spcPts val="2000"/>
              </a:lnSpc>
              <a:buNone/>
            </a:pPr>
            <a:r>
              <a:rPr lang="en-US" sz="1450" dirty="0">
                <a:solidFill>
                  <a:srgbClr val="1A1A2E"/>
                </a:solidFill>
                <a:latin typeface="Calibri" pitchFamily="34" charset="0"/>
                <a:ea typeface="Calibri" pitchFamily="34" charset="-122"/>
                <a:cs typeface="Calibri" pitchFamily="34" charset="-120"/>
              </a:rPr>
              <a:t>Outcomes are bistable: within a fixed step budget a run either escapes the loss plateau and solves the task (≈0.99), or remains at chance (≈0.04). Intermediate values are rare. Escape is abrupt — the loss falls two orders of magnitude within one logging interval — and occurs anywhere between step 5 000 and step 20 000.</a:t>
            </a:r>
            <a:endParaRPr lang="en-US" sz="1450" dirty="0"/>
          </a:p>
        </p:txBody>
      </p:sp>
      <p:sp>
        <p:nvSpPr>
          <p:cNvPr id="7" name="Text 5"/>
          <p:cNvSpPr txBox="1"/>
          <p:nvPr/>
        </p:nvSpPr>
        <p:spPr>
          <a:xfrm>
            <a:off x="566928" y="3730752"/>
            <a:ext cx="10881360" cy="310896"/>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Consequence for reporting</a:t>
            </a:r>
            <a:endParaRPr lang="en-US" sz="1600" dirty="0"/>
          </a:p>
        </p:txBody>
      </p:sp>
      <p:sp>
        <p:nvSpPr>
          <p:cNvPr id="8" name="Text 6"/>
          <p:cNvSpPr txBox="1"/>
          <p:nvPr/>
        </p:nvSpPr>
        <p:spPr>
          <a:xfrm>
            <a:off x="749808" y="4114800"/>
            <a:ext cx="512064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Configuration</a:t>
            </a:r>
            <a:endParaRPr lang="en-US" sz="1250" dirty="0"/>
          </a:p>
        </p:txBody>
      </p:sp>
      <p:sp>
        <p:nvSpPr>
          <p:cNvPr id="9" name="Text 7"/>
          <p:cNvSpPr txBox="1"/>
          <p:nvPr/>
        </p:nvSpPr>
        <p:spPr>
          <a:xfrm>
            <a:off x="5870448" y="4114800"/>
            <a:ext cx="219456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Runs escaping</a:t>
            </a:r>
            <a:endParaRPr lang="en-US" sz="1250" dirty="0"/>
          </a:p>
        </p:txBody>
      </p:sp>
      <p:sp>
        <p:nvSpPr>
          <p:cNvPr id="10" name="Text 8"/>
          <p:cNvSpPr txBox="1"/>
          <p:nvPr/>
        </p:nvSpPr>
        <p:spPr>
          <a:xfrm>
            <a:off x="8065008" y="4114800"/>
            <a:ext cx="146304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Rate</a:t>
            </a:r>
            <a:endParaRPr lang="en-US" sz="1250" dirty="0"/>
          </a:p>
        </p:txBody>
      </p:sp>
      <p:sp>
        <p:nvSpPr>
          <p:cNvPr id="11" name="Text 9"/>
          <p:cNvSpPr txBox="1"/>
          <p:nvPr/>
        </p:nvSpPr>
        <p:spPr>
          <a:xfrm>
            <a:off x="749808" y="4498848"/>
            <a:ext cx="512064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A₅ alphabet, nₕ = 2</a:t>
            </a:r>
            <a:endParaRPr lang="en-US" sz="1350" dirty="0"/>
          </a:p>
        </p:txBody>
      </p:sp>
      <p:sp>
        <p:nvSpPr>
          <p:cNvPr id="12" name="Text 10"/>
          <p:cNvSpPr txBox="1"/>
          <p:nvPr/>
        </p:nvSpPr>
        <p:spPr>
          <a:xfrm>
            <a:off x="5870448" y="4498848"/>
            <a:ext cx="219456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4 / 14</a:t>
            </a:r>
            <a:endParaRPr lang="en-US" sz="1350" dirty="0"/>
          </a:p>
        </p:txBody>
      </p:sp>
      <p:sp>
        <p:nvSpPr>
          <p:cNvPr id="13" name="Text 11"/>
          <p:cNvSpPr txBox="1"/>
          <p:nvPr/>
        </p:nvSpPr>
        <p:spPr>
          <a:xfrm>
            <a:off x="8065008" y="4498848"/>
            <a:ext cx="146304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0.29</a:t>
            </a:r>
            <a:endParaRPr lang="en-US" sz="1350" dirty="0"/>
          </a:p>
        </p:txBody>
      </p:sp>
      <p:sp>
        <p:nvSpPr>
          <p:cNvPr id="14" name="Text 12"/>
          <p:cNvSpPr txBox="1"/>
          <p:nvPr/>
        </p:nvSpPr>
        <p:spPr>
          <a:xfrm>
            <a:off x="749808" y="4846320"/>
            <a:ext cx="512064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extended A₅ alphabet, nₕ = 2</a:t>
            </a:r>
            <a:endParaRPr lang="en-US" sz="1350" dirty="0"/>
          </a:p>
        </p:txBody>
      </p:sp>
      <p:sp>
        <p:nvSpPr>
          <p:cNvPr id="15" name="Text 13"/>
          <p:cNvSpPr txBox="1"/>
          <p:nvPr/>
        </p:nvSpPr>
        <p:spPr>
          <a:xfrm>
            <a:off x="5870448" y="4846320"/>
            <a:ext cx="219456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2 / 10</a:t>
            </a:r>
            <a:endParaRPr lang="en-US" sz="1350" dirty="0"/>
          </a:p>
        </p:txBody>
      </p:sp>
      <p:sp>
        <p:nvSpPr>
          <p:cNvPr id="16" name="Text 14"/>
          <p:cNvSpPr txBox="1"/>
          <p:nvPr/>
        </p:nvSpPr>
        <p:spPr>
          <a:xfrm>
            <a:off x="8065008" y="4846320"/>
            <a:ext cx="146304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0.20</a:t>
            </a:r>
            <a:endParaRPr lang="en-US" sz="1350" dirty="0"/>
          </a:p>
        </p:txBody>
      </p:sp>
      <p:sp>
        <p:nvSpPr>
          <p:cNvPr id="17" name="Text 15"/>
          <p:cNvSpPr txBox="1"/>
          <p:nvPr/>
        </p:nvSpPr>
        <p:spPr>
          <a:xfrm>
            <a:off x="749808" y="5193792"/>
            <a:ext cx="512064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extended A₅ alphabet, nₕ = 4</a:t>
            </a:r>
            <a:endParaRPr lang="en-US" sz="1350" dirty="0"/>
          </a:p>
        </p:txBody>
      </p:sp>
      <p:sp>
        <p:nvSpPr>
          <p:cNvPr id="18" name="Text 16"/>
          <p:cNvSpPr txBox="1"/>
          <p:nvPr/>
        </p:nvSpPr>
        <p:spPr>
          <a:xfrm>
            <a:off x="5870448" y="5193792"/>
            <a:ext cx="219456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1 / 10</a:t>
            </a:r>
            <a:endParaRPr lang="en-US" sz="1350" dirty="0"/>
          </a:p>
        </p:txBody>
      </p:sp>
      <p:sp>
        <p:nvSpPr>
          <p:cNvPr id="19" name="Text 17"/>
          <p:cNvSpPr txBox="1"/>
          <p:nvPr/>
        </p:nvSpPr>
        <p:spPr>
          <a:xfrm>
            <a:off x="8065008" y="5193792"/>
            <a:ext cx="146304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0.10</a:t>
            </a:r>
            <a:endParaRPr lang="en-US" sz="1350" dirty="0"/>
          </a:p>
        </p:txBody>
      </p:sp>
      <p:sp>
        <p:nvSpPr>
          <p:cNvPr id="20" name="Text 18"/>
          <p:cNvSpPr txBox="1"/>
          <p:nvPr/>
        </p:nvSpPr>
        <p:spPr>
          <a:xfrm>
            <a:off x="749808" y="5541264"/>
            <a:ext cx="512064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S₅ alphabet, nₕ = 4</a:t>
            </a:r>
            <a:endParaRPr lang="en-US" sz="1350" dirty="0"/>
          </a:p>
        </p:txBody>
      </p:sp>
      <p:sp>
        <p:nvSpPr>
          <p:cNvPr id="21" name="Text 19"/>
          <p:cNvSpPr txBox="1"/>
          <p:nvPr/>
        </p:nvSpPr>
        <p:spPr>
          <a:xfrm>
            <a:off x="5870448" y="5541264"/>
            <a:ext cx="219456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3 / 10</a:t>
            </a:r>
            <a:endParaRPr lang="en-US" sz="1350" dirty="0"/>
          </a:p>
        </p:txBody>
      </p:sp>
      <p:sp>
        <p:nvSpPr>
          <p:cNvPr id="22" name="Text 20"/>
          <p:cNvSpPr txBox="1"/>
          <p:nvPr/>
        </p:nvSpPr>
        <p:spPr>
          <a:xfrm>
            <a:off x="8065008" y="5541264"/>
            <a:ext cx="1463040" cy="310896"/>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0.30</a:t>
            </a:r>
            <a:endParaRPr lang="en-US" sz="1350" dirty="0"/>
          </a:p>
        </p:txBody>
      </p:sp>
      <p:sp>
        <p:nvSpPr>
          <p:cNvPr id="23" name="Shape 21"/>
          <p:cNvSpPr/>
          <p:nvPr/>
        </p:nvSpPr>
        <p:spPr>
          <a:xfrm>
            <a:off x="9052560" y="4114800"/>
            <a:ext cx="2542032" cy="1691640"/>
          </a:xfrm>
          <a:prstGeom prst="roundRect">
            <a:avLst>
              <a:gd name="adj" fmla="val 3243"/>
            </a:avLst>
          </a:prstGeom>
          <a:solidFill>
            <a:srgbClr val="21295C"/>
          </a:solidFill>
          <a:ln w="12700">
            <a:solidFill>
              <a:srgbClr val="21295C"/>
            </a:solidFill>
            <a:prstDash val="solid"/>
          </a:ln>
        </p:spPr>
      </p:sp>
      <p:sp>
        <p:nvSpPr>
          <p:cNvPr id="24" name="Text 22"/>
          <p:cNvSpPr txBox="1"/>
          <p:nvPr/>
        </p:nvSpPr>
        <p:spPr>
          <a:xfrm>
            <a:off x="9052560" y="4343400"/>
            <a:ext cx="2542032" cy="475488"/>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50</a:t>
            </a:r>
            <a:endParaRPr lang="en-US" sz="3200" dirty="0"/>
          </a:p>
        </p:txBody>
      </p:sp>
      <p:sp>
        <p:nvSpPr>
          <p:cNvPr id="25" name="Text 23"/>
          <p:cNvSpPr txBox="1"/>
          <p:nvPr/>
        </p:nvSpPr>
        <p:spPr>
          <a:xfrm>
            <a:off x="9052560" y="4901184"/>
            <a:ext cx="2542032" cy="640080"/>
          </a:xfrm>
          <a:prstGeom prst="rect">
            <a:avLst/>
          </a:prstGeom>
          <a:noFill/>
          <a:ln/>
        </p:spPr>
        <p:txBody>
          <a:bodyPr wrap="square" lIns="0" tIns="0" rIns="0" bIns="0" rtlCol="0" anchor="ctr"/>
          <a:lstStyle/>
          <a:p>
            <a:pPr algn="ctr" indent="0" marL="0">
              <a:lnSpc>
                <a:spcPts val="2100"/>
              </a:lnSpc>
              <a:buNone/>
            </a:pPr>
            <a:r>
              <a:rPr lang="en-US" sz="1300" dirty="0">
                <a:solidFill>
                  <a:srgbClr val="CADCFC"/>
                </a:solidFill>
                <a:latin typeface="Calibri" pitchFamily="34" charset="0"/>
                <a:ea typeface="Calibri" pitchFamily="34" charset="-122"/>
                <a:cs typeface="Calibri" pitchFamily="34" charset="-120"/>
              </a:rPr>
              <a:t>runs across five</a:t>
            </a:r>
            <a:endParaRPr lang="en-US" sz="1300" dirty="0"/>
          </a:p>
          <a:p>
            <a:pPr algn="ctr" indent="0" marL="0">
              <a:lnSpc>
                <a:spcPts val="2100"/>
              </a:lnSpc>
              <a:buNone/>
            </a:pPr>
            <a:r>
              <a:rPr lang="en-US" sz="1300" dirty="0">
                <a:solidFill>
                  <a:srgbClr val="CADCFC"/>
                </a:solidFill>
                <a:latin typeface="Calibri" pitchFamily="34" charset="0"/>
                <a:ea typeface="Calibri" pitchFamily="34" charset="-122"/>
                <a:cs typeface="Calibri" pitchFamily="34" charset="-120"/>
              </a:rPr>
              <a:t>configurations</a:t>
            </a:r>
            <a:endParaRPr lang="en-US" sz="1300" dirty="0"/>
          </a:p>
        </p:txBody>
      </p:sp>
      <p:sp>
        <p:nvSpPr>
          <p:cNvPr id="26" name="Text 24"/>
          <p:cNvSpPr txBox="1"/>
          <p:nvPr/>
        </p:nvSpPr>
        <p:spPr>
          <a:xfrm>
            <a:off x="566928" y="6053328"/>
            <a:ext cx="11027664" cy="502920"/>
          </a:xfrm>
          <a:prstGeom prst="rect">
            <a:avLst/>
          </a:prstGeom>
          <a:noFill/>
          <a:ln/>
        </p:spPr>
        <p:txBody>
          <a:bodyPr wrap="square" lIns="0" tIns="0" rIns="0" bIns="0" rtlCol="0" anchor="ctr"/>
          <a:lstStyle/>
          <a:p>
            <a:pPr indent="0" marL="0">
              <a:lnSpc>
                <a:spcPts val="1800"/>
              </a:lnSpc>
              <a:buNone/>
            </a:pPr>
            <a:r>
              <a:rPr lang="en-US" sz="1350" dirty="0">
                <a:solidFill>
                  <a:srgbClr val="5C6378"/>
                </a:solidFill>
                <a:latin typeface="Calibri" pitchFamily="34" charset="0"/>
                <a:ea typeface="Calibri" pitchFamily="34" charset="-122"/>
                <a:cs typeface="Calibri" pitchFamily="34" charset="-120"/>
              </a:rPr>
              <a:t>Every result in this project is therefore reported as an escape fraction over repeated runs, with the run count stated. A mean over a bimodal distribution describes no run that occurred.</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instability does not obstruct the objective</a:t>
            </a:r>
            <a:endParaRPr lang="en-US" sz="3000" dirty="0"/>
          </a:p>
        </p:txBody>
      </p:sp>
      <p:sp>
        <p:nvSpPr>
          <p:cNvPr id="4" name="Text 2"/>
          <p:cNvSpPr txBox="1"/>
          <p:nvPr/>
        </p:nvSpPr>
        <p:spPr>
          <a:xfrm>
            <a:off x="566928" y="1572768"/>
            <a:ext cx="10881360" cy="365760"/>
          </a:xfrm>
          <a:prstGeom prst="rect">
            <a:avLst/>
          </a:prstGeom>
          <a:noFill/>
          <a:ln/>
        </p:spPr>
        <p:txBody>
          <a:bodyPr wrap="square" lIns="0" tIns="0" rIns="0" bIns="0" rtlCol="0" anchor="ctr"/>
          <a:lstStyle/>
          <a:p>
            <a:pPr indent="0" marL="0">
              <a:lnSpc>
                <a:spcPts val="2100"/>
              </a:lnSpc>
              <a:buNone/>
            </a:pPr>
            <a:r>
              <a:rPr lang="en-US" sz="1500" dirty="0">
                <a:solidFill>
                  <a:srgbClr val="1A1A2E"/>
                </a:solidFill>
                <a:latin typeface="Calibri" pitchFamily="34" charset="0"/>
                <a:ea typeface="Calibri" pitchFamily="34" charset="-122"/>
                <a:cs typeface="Calibri" pitchFamily="34" charset="-120"/>
              </a:rPr>
              <a:t>Setting the measured reliability of each configuration against the benefit adaptive order can deliver on it:</a:t>
            </a:r>
            <a:endParaRPr lang="en-US" sz="1500" dirty="0"/>
          </a:p>
        </p:txBody>
      </p:sp>
      <p:sp>
        <p:nvSpPr>
          <p:cNvPr id="5" name="Text 3"/>
          <p:cNvSpPr txBox="1"/>
          <p:nvPr/>
        </p:nvSpPr>
        <p:spPr>
          <a:xfrm>
            <a:off x="749808" y="2148840"/>
            <a:ext cx="493776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Configuration</a:t>
            </a:r>
            <a:endParaRPr lang="en-US" sz="1250" dirty="0"/>
          </a:p>
        </p:txBody>
      </p:sp>
      <p:sp>
        <p:nvSpPr>
          <p:cNvPr id="6" name="Text 4"/>
          <p:cNvSpPr txBox="1"/>
          <p:nvPr/>
        </p:nvSpPr>
        <p:spPr>
          <a:xfrm>
            <a:off x="5687568" y="2148840"/>
            <a:ext cx="402336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E[D] / D_max benefit</a:t>
            </a:r>
            <a:endParaRPr lang="en-US" sz="1250" dirty="0"/>
          </a:p>
        </p:txBody>
      </p:sp>
      <p:sp>
        <p:nvSpPr>
          <p:cNvPr id="7" name="Text 5"/>
          <p:cNvSpPr txBox="1"/>
          <p:nvPr/>
        </p:nvSpPr>
        <p:spPr>
          <a:xfrm>
            <a:off x="9710928" y="2148840"/>
            <a:ext cx="228600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Trains reliably?</a:t>
            </a:r>
            <a:endParaRPr lang="en-US" sz="1250" dirty="0"/>
          </a:p>
        </p:txBody>
      </p:sp>
      <p:sp>
        <p:nvSpPr>
          <p:cNvPr id="8" name="Text 6"/>
          <p:cNvSpPr txBox="1"/>
          <p:nvPr/>
        </p:nvSpPr>
        <p:spPr>
          <a:xfrm>
            <a:off x="749808" y="2532888"/>
            <a:ext cx="49377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mixture p = 0.05 / 0.10 / 0.25</a:t>
            </a:r>
            <a:endParaRPr lang="en-US" sz="1450" dirty="0"/>
          </a:p>
        </p:txBody>
      </p:sp>
      <p:sp>
        <p:nvSpPr>
          <p:cNvPr id="9" name="Text 7"/>
          <p:cNvSpPr txBox="1"/>
          <p:nvPr/>
        </p:nvSpPr>
        <p:spPr>
          <a:xfrm>
            <a:off x="5687568" y="2532888"/>
            <a:ext cx="4023360" cy="310896"/>
          </a:xfrm>
          <a:prstGeom prst="rect">
            <a:avLst/>
          </a:prstGeom>
          <a:noFill/>
          <a:ln/>
        </p:spPr>
        <p:txBody>
          <a:bodyPr wrap="square" lIns="0" tIns="0" rIns="0" bIns="0" rtlCol="0" anchor="ctr"/>
          <a:lstStyle/>
          <a:p>
            <a:pPr indent="0" marL="0">
              <a:buNone/>
            </a:pPr>
            <a:r>
              <a:rPr lang="en-US" sz="1450" dirty="0">
                <a:solidFill>
                  <a:srgbClr val="1C7293"/>
                </a:solidFill>
                <a:latin typeface="Calibri" pitchFamily="34" charset="0"/>
                <a:ea typeface="Calibri" pitchFamily="34" charset="-122"/>
                <a:cs typeface="Calibri" pitchFamily="34" charset="-120"/>
              </a:rPr>
              <a:t>2.29× – 3.48×</a:t>
            </a:r>
            <a:endParaRPr lang="en-US" sz="1450" dirty="0"/>
          </a:p>
        </p:txBody>
      </p:sp>
      <p:sp>
        <p:nvSpPr>
          <p:cNvPr id="10" name="Text 8"/>
          <p:cNvSpPr txBox="1"/>
          <p:nvPr/>
        </p:nvSpPr>
        <p:spPr>
          <a:xfrm>
            <a:off x="9710928" y="2532888"/>
            <a:ext cx="22860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yes,  ≥ 0.9997</a:t>
            </a:r>
            <a:endParaRPr lang="en-US" sz="1450" dirty="0"/>
          </a:p>
        </p:txBody>
      </p:sp>
      <p:sp>
        <p:nvSpPr>
          <p:cNvPr id="11" name="Text 9"/>
          <p:cNvSpPr txBox="1"/>
          <p:nvPr/>
        </p:nvSpPr>
        <p:spPr>
          <a:xfrm>
            <a:off x="749808" y="3008376"/>
            <a:ext cx="49377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S₅ alphabet, all transpositions</a:t>
            </a:r>
            <a:endParaRPr lang="en-US" sz="1450" dirty="0"/>
          </a:p>
        </p:txBody>
      </p:sp>
      <p:sp>
        <p:nvSpPr>
          <p:cNvPr id="12" name="Text 10"/>
          <p:cNvSpPr txBox="1"/>
          <p:nvPr/>
        </p:nvSpPr>
        <p:spPr>
          <a:xfrm>
            <a:off x="5687568" y="3008376"/>
            <a:ext cx="4023360" cy="310896"/>
          </a:xfrm>
          <a:prstGeom prst="rect">
            <a:avLst/>
          </a:prstGeom>
          <a:noFill/>
          <a:ln/>
        </p:spPr>
        <p:txBody>
          <a:bodyPr wrap="square" lIns="0" tIns="0" rIns="0" bIns="0" rtlCol="0" anchor="ctr"/>
          <a:lstStyle/>
          <a:p>
            <a:pPr indent="0" marL="0">
              <a:buNone/>
            </a:pPr>
            <a:r>
              <a:rPr lang="en-US" sz="1450" dirty="0">
                <a:solidFill>
                  <a:srgbClr val="B8791F"/>
                </a:solidFill>
                <a:latin typeface="Calibri" pitchFamily="34" charset="0"/>
                <a:ea typeface="Calibri" pitchFamily="34" charset="-122"/>
                <a:cs typeface="Calibri" pitchFamily="34" charset="-120"/>
              </a:rPr>
              <a:t>1.28×</a:t>
            </a:r>
            <a:endParaRPr lang="en-US" sz="1450" dirty="0"/>
          </a:p>
        </p:txBody>
      </p:sp>
      <p:sp>
        <p:nvSpPr>
          <p:cNvPr id="13" name="Text 11"/>
          <p:cNvSpPr txBox="1"/>
          <p:nvPr/>
        </p:nvSpPr>
        <p:spPr>
          <a:xfrm>
            <a:off x="9710928" y="3008376"/>
            <a:ext cx="22860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3 of 10</a:t>
            </a:r>
            <a:endParaRPr lang="en-US" sz="1450" dirty="0"/>
          </a:p>
        </p:txBody>
      </p:sp>
      <p:sp>
        <p:nvSpPr>
          <p:cNvPr id="14" name="Text 12"/>
          <p:cNvSpPr txBox="1"/>
          <p:nvPr/>
        </p:nvSpPr>
        <p:spPr>
          <a:xfrm>
            <a:off x="749808" y="3483864"/>
            <a:ext cx="49377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S₅ alphabet, one transposition</a:t>
            </a:r>
            <a:endParaRPr lang="en-US" sz="1450" dirty="0"/>
          </a:p>
        </p:txBody>
      </p:sp>
      <p:sp>
        <p:nvSpPr>
          <p:cNvPr id="15" name="Text 13"/>
          <p:cNvSpPr txBox="1"/>
          <p:nvPr/>
        </p:nvSpPr>
        <p:spPr>
          <a:xfrm>
            <a:off x="5687568" y="3483864"/>
            <a:ext cx="4023360" cy="310896"/>
          </a:xfrm>
          <a:prstGeom prst="rect">
            <a:avLst/>
          </a:prstGeom>
          <a:noFill/>
          <a:ln/>
        </p:spPr>
        <p:txBody>
          <a:bodyPr wrap="square" lIns="0" tIns="0" rIns="0" bIns="0" rtlCol="0" anchor="ctr"/>
          <a:lstStyle/>
          <a:p>
            <a:pPr indent="0" marL="0">
              <a:buNone/>
            </a:pPr>
            <a:r>
              <a:rPr lang="en-US" sz="1450" dirty="0">
                <a:solidFill>
                  <a:srgbClr val="B8791F"/>
                </a:solidFill>
                <a:latin typeface="Calibri" pitchFamily="34" charset="0"/>
                <a:ea typeface="Calibri" pitchFamily="34" charset="-122"/>
                <a:cs typeface="Calibri" pitchFamily="34" charset="-120"/>
              </a:rPr>
              <a:t>1.03×</a:t>
            </a:r>
            <a:endParaRPr lang="en-US" sz="1450" dirty="0"/>
          </a:p>
        </p:txBody>
      </p:sp>
      <p:sp>
        <p:nvSpPr>
          <p:cNvPr id="16" name="Text 14"/>
          <p:cNvSpPr txBox="1"/>
          <p:nvPr/>
        </p:nvSpPr>
        <p:spPr>
          <a:xfrm>
            <a:off x="9710928" y="3483864"/>
            <a:ext cx="22860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no</a:t>
            </a:r>
            <a:endParaRPr lang="en-US" sz="1450" dirty="0"/>
          </a:p>
        </p:txBody>
      </p:sp>
      <p:sp>
        <p:nvSpPr>
          <p:cNvPr id="17" name="Text 15"/>
          <p:cNvSpPr txBox="1"/>
          <p:nvPr/>
        </p:nvSpPr>
        <p:spPr>
          <a:xfrm>
            <a:off x="749808" y="3959352"/>
            <a:ext cx="493776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A₅ alphabets</a:t>
            </a:r>
            <a:endParaRPr lang="en-US" sz="1450" dirty="0"/>
          </a:p>
        </p:txBody>
      </p:sp>
      <p:sp>
        <p:nvSpPr>
          <p:cNvPr id="18" name="Text 16"/>
          <p:cNvSpPr txBox="1"/>
          <p:nvPr/>
        </p:nvSpPr>
        <p:spPr>
          <a:xfrm>
            <a:off x="5687568" y="3959352"/>
            <a:ext cx="4023360" cy="310896"/>
          </a:xfrm>
          <a:prstGeom prst="rect">
            <a:avLst/>
          </a:prstGeom>
          <a:noFill/>
          <a:ln/>
        </p:spPr>
        <p:txBody>
          <a:bodyPr wrap="square" lIns="0" tIns="0" rIns="0" bIns="0" rtlCol="0" anchor="ctr"/>
          <a:lstStyle/>
          <a:p>
            <a:pPr indent="0" marL="0">
              <a:buNone/>
            </a:pPr>
            <a:r>
              <a:rPr lang="en-US" sz="1450" dirty="0">
                <a:solidFill>
                  <a:srgbClr val="B8791F"/>
                </a:solidFill>
                <a:latin typeface="Calibri" pitchFamily="34" charset="0"/>
                <a:ea typeface="Calibri" pitchFamily="34" charset="-122"/>
                <a:cs typeface="Calibri" pitchFamily="34" charset="-120"/>
              </a:rPr>
              <a:t>1.00×  (none, by the demand model)</a:t>
            </a:r>
            <a:endParaRPr lang="en-US" sz="1450" dirty="0"/>
          </a:p>
        </p:txBody>
      </p:sp>
      <p:sp>
        <p:nvSpPr>
          <p:cNvPr id="19" name="Text 17"/>
          <p:cNvSpPr txBox="1"/>
          <p:nvPr/>
        </p:nvSpPr>
        <p:spPr>
          <a:xfrm>
            <a:off x="9710928" y="3959352"/>
            <a:ext cx="2286000" cy="310896"/>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2–4 of 10</a:t>
            </a:r>
            <a:endParaRPr lang="en-US" sz="1450" dirty="0"/>
          </a:p>
        </p:txBody>
      </p:sp>
      <p:sp>
        <p:nvSpPr>
          <p:cNvPr id="20" name="Shape 18"/>
          <p:cNvSpPr/>
          <p:nvPr/>
        </p:nvSpPr>
        <p:spPr>
          <a:xfrm>
            <a:off x="566928" y="4343400"/>
            <a:ext cx="11027664" cy="1783080"/>
          </a:xfrm>
          <a:prstGeom prst="roundRect">
            <a:avLst>
              <a:gd name="adj" fmla="val 3077"/>
            </a:avLst>
          </a:prstGeom>
          <a:solidFill>
            <a:srgbClr val="21295C"/>
          </a:solidFill>
          <a:ln w="12700">
            <a:solidFill>
              <a:srgbClr val="21295C"/>
            </a:solidFill>
            <a:prstDash val="solid"/>
          </a:ln>
        </p:spPr>
      </p:sp>
      <p:sp>
        <p:nvSpPr>
          <p:cNvPr id="21" name="Text 19"/>
          <p:cNvSpPr txBox="1"/>
          <p:nvPr/>
        </p:nvSpPr>
        <p:spPr>
          <a:xfrm>
            <a:off x="978408" y="4617720"/>
            <a:ext cx="10241280" cy="777240"/>
          </a:xfrm>
          <a:prstGeom prst="rect">
            <a:avLst/>
          </a:prstGeom>
          <a:noFill/>
          <a:ln/>
        </p:spPr>
        <p:txBody>
          <a:bodyPr wrap="square" lIns="0" tIns="0" rIns="0" bIns="0" rtlCol="0" anchor="ctr"/>
          <a:lstStyle/>
          <a:p>
            <a:pPr indent="0" marL="0">
              <a:lnSpc>
                <a:spcPts val="2400"/>
              </a:lnSpc>
              <a:buNone/>
            </a:pPr>
            <a:r>
              <a:rPr lang="en-US" sz="1650" b="1" dirty="0">
                <a:solidFill>
                  <a:srgbClr val="FFFFFF"/>
                </a:solidFill>
                <a:latin typeface="Calibri" pitchFamily="34" charset="0"/>
                <a:ea typeface="Calibri" pitchFamily="34" charset="-122"/>
                <a:cs typeface="Calibri" pitchFamily="34" charset="-120"/>
              </a:rPr>
              <a:t>Every configuration that trains reliably is one where adaptive order is worth 2.3× or more.</a:t>
            </a:r>
            <a:endParaRPr lang="en-US" sz="1650" dirty="0"/>
          </a:p>
          <a:p>
            <a:pPr indent="0" marL="0">
              <a:lnSpc>
                <a:spcPts val="2400"/>
              </a:lnSpc>
              <a:buNone/>
            </a:pPr>
            <a:r>
              <a:rPr lang="en-US" sz="1650" b="1" dirty="0">
                <a:solidFill>
                  <a:srgbClr val="FFFFFF"/>
                </a:solidFill>
                <a:latin typeface="Calibri" pitchFamily="34" charset="0"/>
                <a:ea typeface="Calibri" pitchFamily="34" charset="-122"/>
                <a:cs typeface="Calibri" pitchFamily="34" charset="-120"/>
              </a:rPr>
              <a:t>Every unreliable configuration is worth 1.28× or less.</a:t>
            </a:r>
            <a:endParaRPr lang="en-US" sz="1650" dirty="0"/>
          </a:p>
        </p:txBody>
      </p:sp>
      <p:sp>
        <p:nvSpPr>
          <p:cNvPr id="22" name="Text 20"/>
          <p:cNvSpPr txBox="1"/>
          <p:nvPr/>
        </p:nvSpPr>
        <p:spPr>
          <a:xfrm>
            <a:off x="978408" y="5504688"/>
            <a:ext cx="10241280" cy="457200"/>
          </a:xfrm>
          <a:prstGeom prst="rect">
            <a:avLst/>
          </a:prstGeom>
          <a:noFill/>
          <a:ln/>
        </p:spPr>
        <p:txBody>
          <a:bodyPr wrap="square" lIns="0" tIns="0" rIns="0" bIns="0" rtlCol="0" anchor="ctr"/>
          <a:lstStyle/>
          <a:p>
            <a:pPr indent="0" marL="0">
              <a:lnSpc>
                <a:spcPts val="2100"/>
              </a:lnSpc>
              <a:buNone/>
            </a:pPr>
            <a:r>
              <a:rPr lang="en-US" sz="1400" dirty="0">
                <a:solidFill>
                  <a:srgbClr val="CADCFC"/>
                </a:solidFill>
                <a:latin typeface="Calibri" pitchFamily="34" charset="0"/>
                <a:ea typeface="Calibri" pitchFamily="34" charset="-122"/>
                <a:cs typeface="Calibri" pitchFamily="34" charset="-120"/>
              </a:rPr>
              <a:t>The instability is confined to the regime in which the proposed mechanism has nothing to offer. The regime the project depends on trains reliably.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STATUS</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Objectives and status</a:t>
            </a:r>
            <a:endParaRPr lang="en-US" sz="3000" dirty="0"/>
          </a:p>
        </p:txBody>
      </p:sp>
      <p:sp>
        <p:nvSpPr>
          <p:cNvPr id="4" name="Shape 2"/>
          <p:cNvSpPr/>
          <p:nvPr/>
        </p:nvSpPr>
        <p:spPr>
          <a:xfrm>
            <a:off x="566928" y="1719072"/>
            <a:ext cx="11027664" cy="585216"/>
          </a:xfrm>
          <a:prstGeom prst="roundRect">
            <a:avLst>
              <a:gd name="adj" fmla="val 9375"/>
            </a:avLst>
          </a:prstGeom>
          <a:solidFill>
            <a:srgbClr val="EEF1F6"/>
          </a:solidFill>
          <a:ln w="12700">
            <a:solidFill>
              <a:srgbClr val="EEF1F6"/>
            </a:solidFill>
            <a:prstDash val="solid"/>
          </a:ln>
        </p:spPr>
      </p:sp>
      <p:sp>
        <p:nvSpPr>
          <p:cNvPr id="5" name="Text 3"/>
          <p:cNvSpPr txBox="1"/>
          <p:nvPr/>
        </p:nvSpPr>
        <p:spPr>
          <a:xfrm>
            <a:off x="950976" y="1865376"/>
            <a:ext cx="640080" cy="292608"/>
          </a:xfrm>
          <a:prstGeom prst="rect">
            <a:avLst/>
          </a:prstGeom>
          <a:noFill/>
          <a:ln/>
        </p:spPr>
        <p:txBody>
          <a:bodyPr wrap="square" lIns="0" tIns="0" rIns="0" bIns="0" rtlCol="0" anchor="ctr"/>
          <a:lstStyle/>
          <a:p>
            <a:pPr indent="0" marL="0">
              <a:buNone/>
            </a:pPr>
            <a:r>
              <a:rPr lang="en-US" sz="1400" b="1" dirty="0">
                <a:solidFill>
                  <a:srgbClr val="5C6378"/>
                </a:solidFill>
                <a:latin typeface="Calibri" pitchFamily="34" charset="0"/>
                <a:ea typeface="Calibri" pitchFamily="34" charset="-122"/>
                <a:cs typeface="Calibri" pitchFamily="34" charset="-120"/>
              </a:rPr>
              <a:t>O1</a:t>
            </a:r>
            <a:endParaRPr lang="en-US" sz="1400" dirty="0"/>
          </a:p>
        </p:txBody>
      </p:sp>
      <p:sp>
        <p:nvSpPr>
          <p:cNvPr id="6" name="Text 4"/>
          <p:cNvSpPr txBox="1"/>
          <p:nvPr/>
        </p:nvSpPr>
        <p:spPr>
          <a:xfrm>
            <a:off x="1664208" y="1865376"/>
            <a:ext cx="7680960" cy="29260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Establish the correct expressivity cost model</a:t>
            </a:r>
            <a:endParaRPr lang="en-US" sz="1500" dirty="0"/>
          </a:p>
        </p:txBody>
      </p:sp>
      <p:sp>
        <p:nvSpPr>
          <p:cNvPr id="7" name="Text 5"/>
          <p:cNvSpPr txBox="1"/>
          <p:nvPr/>
        </p:nvSpPr>
        <p:spPr>
          <a:xfrm>
            <a:off x="9070848" y="1865376"/>
            <a:ext cx="2194560" cy="292608"/>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PROVED</a:t>
            </a:r>
            <a:endParaRPr lang="en-US" sz="1250" dirty="0"/>
          </a:p>
        </p:txBody>
      </p:sp>
      <p:sp>
        <p:nvSpPr>
          <p:cNvPr id="8" name="Shape 6"/>
          <p:cNvSpPr/>
          <p:nvPr/>
        </p:nvSpPr>
        <p:spPr>
          <a:xfrm>
            <a:off x="566928" y="2404872"/>
            <a:ext cx="11027664" cy="585216"/>
          </a:xfrm>
          <a:prstGeom prst="roundRect">
            <a:avLst>
              <a:gd name="adj" fmla="val 9375"/>
            </a:avLst>
          </a:prstGeom>
          <a:solidFill>
            <a:srgbClr val="EEF1F6"/>
          </a:solidFill>
          <a:ln w="12700">
            <a:solidFill>
              <a:srgbClr val="EEF1F6"/>
            </a:solidFill>
            <a:prstDash val="solid"/>
          </a:ln>
        </p:spPr>
      </p:sp>
      <p:sp>
        <p:nvSpPr>
          <p:cNvPr id="9" name="Text 7"/>
          <p:cNvSpPr txBox="1"/>
          <p:nvPr/>
        </p:nvSpPr>
        <p:spPr>
          <a:xfrm>
            <a:off x="950976" y="2551176"/>
            <a:ext cx="640080" cy="292608"/>
          </a:xfrm>
          <a:prstGeom prst="rect">
            <a:avLst/>
          </a:prstGeom>
          <a:noFill/>
          <a:ln/>
        </p:spPr>
        <p:txBody>
          <a:bodyPr wrap="square" lIns="0" tIns="0" rIns="0" bIns="0" rtlCol="0" anchor="ctr"/>
          <a:lstStyle/>
          <a:p>
            <a:pPr indent="0" marL="0">
              <a:buNone/>
            </a:pPr>
            <a:r>
              <a:rPr lang="en-US" sz="1400" b="1" dirty="0">
                <a:solidFill>
                  <a:srgbClr val="5C6378"/>
                </a:solidFill>
                <a:latin typeface="Calibri" pitchFamily="34" charset="0"/>
                <a:ea typeface="Calibri" pitchFamily="34" charset="-122"/>
                <a:cs typeface="Calibri" pitchFamily="34" charset="-120"/>
              </a:rPr>
              <a:t>O2</a:t>
            </a:r>
            <a:endParaRPr lang="en-US" sz="1400" dirty="0"/>
          </a:p>
        </p:txBody>
      </p:sp>
      <p:sp>
        <p:nvSpPr>
          <p:cNvPr id="10" name="Text 8"/>
          <p:cNvSpPr txBox="1"/>
          <p:nvPr/>
        </p:nvSpPr>
        <p:spPr>
          <a:xfrm>
            <a:off x="1664208" y="2551176"/>
            <a:ext cx="7680960" cy="29260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Reproduce the DeltaProduct state-tracking baseline</a:t>
            </a:r>
            <a:endParaRPr lang="en-US" sz="1500" dirty="0"/>
          </a:p>
        </p:txBody>
      </p:sp>
      <p:sp>
        <p:nvSpPr>
          <p:cNvPr id="11" name="Text 9"/>
          <p:cNvSpPr txBox="1"/>
          <p:nvPr/>
        </p:nvSpPr>
        <p:spPr>
          <a:xfrm>
            <a:off x="9070848" y="2551176"/>
            <a:ext cx="2194560" cy="292608"/>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DONE</a:t>
            </a:r>
            <a:endParaRPr lang="en-US" sz="1250" dirty="0"/>
          </a:p>
        </p:txBody>
      </p:sp>
      <p:sp>
        <p:nvSpPr>
          <p:cNvPr id="12" name="Shape 10"/>
          <p:cNvSpPr/>
          <p:nvPr/>
        </p:nvSpPr>
        <p:spPr>
          <a:xfrm>
            <a:off x="566928" y="3090672"/>
            <a:ext cx="11027664" cy="585216"/>
          </a:xfrm>
          <a:prstGeom prst="roundRect">
            <a:avLst>
              <a:gd name="adj" fmla="val 9375"/>
            </a:avLst>
          </a:prstGeom>
          <a:solidFill>
            <a:srgbClr val="EEF1F6"/>
          </a:solidFill>
          <a:ln w="12700">
            <a:solidFill>
              <a:srgbClr val="EEF1F6"/>
            </a:solidFill>
            <a:prstDash val="solid"/>
          </a:ln>
        </p:spPr>
      </p:sp>
      <p:sp>
        <p:nvSpPr>
          <p:cNvPr id="13" name="Text 11"/>
          <p:cNvSpPr txBox="1"/>
          <p:nvPr/>
        </p:nvSpPr>
        <p:spPr>
          <a:xfrm>
            <a:off x="950976" y="3236976"/>
            <a:ext cx="640080" cy="292608"/>
          </a:xfrm>
          <a:prstGeom prst="rect">
            <a:avLst/>
          </a:prstGeom>
          <a:noFill/>
          <a:ln/>
        </p:spPr>
        <p:txBody>
          <a:bodyPr wrap="square" lIns="0" tIns="0" rIns="0" bIns="0" rtlCol="0" anchor="ctr"/>
          <a:lstStyle/>
          <a:p>
            <a:pPr indent="0" marL="0">
              <a:buNone/>
            </a:pPr>
            <a:r>
              <a:rPr lang="en-US" sz="1400" b="1" dirty="0">
                <a:solidFill>
                  <a:srgbClr val="5C6378"/>
                </a:solidFill>
                <a:latin typeface="Calibri" pitchFamily="34" charset="0"/>
                <a:ea typeface="Calibri" pitchFamily="34" charset="-122"/>
                <a:cs typeface="Calibri" pitchFamily="34" charset="-120"/>
              </a:rPr>
              <a:t>O3</a:t>
            </a:r>
            <a:endParaRPr lang="en-US" sz="1400" dirty="0"/>
          </a:p>
        </p:txBody>
      </p:sp>
      <p:sp>
        <p:nvSpPr>
          <p:cNvPr id="14" name="Text 12"/>
          <p:cNvSpPr txBox="1"/>
          <p:nvPr/>
        </p:nvSpPr>
        <p:spPr>
          <a:xfrm>
            <a:off x="1664208" y="3236976"/>
            <a:ext cx="7680960" cy="29260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Implement a halting gate satisfying the parity constraint</a:t>
            </a:r>
            <a:endParaRPr lang="en-US" sz="1500" dirty="0"/>
          </a:p>
        </p:txBody>
      </p:sp>
      <p:sp>
        <p:nvSpPr>
          <p:cNvPr id="15" name="Text 13"/>
          <p:cNvSpPr txBox="1"/>
          <p:nvPr/>
        </p:nvSpPr>
        <p:spPr>
          <a:xfrm>
            <a:off x="9070848" y="3236976"/>
            <a:ext cx="2194560" cy="292608"/>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IMPLEMENTED</a:t>
            </a:r>
            <a:endParaRPr lang="en-US" sz="1250" dirty="0"/>
          </a:p>
        </p:txBody>
      </p:sp>
      <p:sp>
        <p:nvSpPr>
          <p:cNvPr id="16" name="Shape 14"/>
          <p:cNvSpPr/>
          <p:nvPr/>
        </p:nvSpPr>
        <p:spPr>
          <a:xfrm>
            <a:off x="566928" y="3776472"/>
            <a:ext cx="11027664" cy="585216"/>
          </a:xfrm>
          <a:prstGeom prst="roundRect">
            <a:avLst>
              <a:gd name="adj" fmla="val 9375"/>
            </a:avLst>
          </a:prstGeom>
          <a:solidFill>
            <a:srgbClr val="FAF2E4"/>
          </a:solidFill>
          <a:ln w="12700">
            <a:solidFill>
              <a:srgbClr val="FAF2E4"/>
            </a:solidFill>
            <a:prstDash val="solid"/>
          </a:ln>
        </p:spPr>
      </p:sp>
      <p:sp>
        <p:nvSpPr>
          <p:cNvPr id="17" name="Text 15"/>
          <p:cNvSpPr txBox="1"/>
          <p:nvPr/>
        </p:nvSpPr>
        <p:spPr>
          <a:xfrm>
            <a:off x="950976" y="3922776"/>
            <a:ext cx="640080" cy="292608"/>
          </a:xfrm>
          <a:prstGeom prst="rect">
            <a:avLst/>
          </a:prstGeom>
          <a:noFill/>
          <a:ln/>
        </p:spPr>
        <p:txBody>
          <a:bodyPr wrap="square" lIns="0" tIns="0" rIns="0" bIns="0" rtlCol="0" anchor="ctr"/>
          <a:lstStyle/>
          <a:p>
            <a:pPr indent="0" marL="0">
              <a:buNone/>
            </a:pPr>
            <a:r>
              <a:rPr lang="en-US" sz="1400" b="1" dirty="0">
                <a:solidFill>
                  <a:srgbClr val="5C6378"/>
                </a:solidFill>
                <a:latin typeface="Calibri" pitchFamily="34" charset="0"/>
                <a:ea typeface="Calibri" pitchFamily="34" charset="-122"/>
                <a:cs typeface="Calibri" pitchFamily="34" charset="-120"/>
              </a:rPr>
              <a:t>O4</a:t>
            </a:r>
            <a:endParaRPr lang="en-US" sz="1400" dirty="0"/>
          </a:p>
        </p:txBody>
      </p:sp>
      <p:sp>
        <p:nvSpPr>
          <p:cNvPr id="18" name="Text 16"/>
          <p:cNvSpPr txBox="1"/>
          <p:nvPr/>
        </p:nvSpPr>
        <p:spPr>
          <a:xfrm>
            <a:off x="1664208" y="3922776"/>
            <a:ext cx="7680960" cy="29260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Train the gate end-to-end; compare against the oracle</a:t>
            </a:r>
            <a:endParaRPr lang="en-US" sz="1500" dirty="0"/>
          </a:p>
        </p:txBody>
      </p:sp>
      <p:sp>
        <p:nvSpPr>
          <p:cNvPr id="19" name="Text 17"/>
          <p:cNvSpPr txBox="1"/>
          <p:nvPr/>
        </p:nvSpPr>
        <p:spPr>
          <a:xfrm>
            <a:off x="9070848" y="3922776"/>
            <a:ext cx="2194560" cy="292608"/>
          </a:xfrm>
          <a:prstGeom prst="rect">
            <a:avLst/>
          </a:prstGeom>
          <a:noFill/>
          <a:ln/>
        </p:spPr>
        <p:txBody>
          <a:bodyPr wrap="square" lIns="0" tIns="0" rIns="0" bIns="0" rtlCol="0" anchor="ctr"/>
          <a:lstStyle/>
          <a:p>
            <a:pPr algn="r" indent="0" marL="0">
              <a:buNone/>
            </a:pPr>
            <a:r>
              <a:rPr lang="en-US" sz="1250" b="1" dirty="0">
                <a:solidFill>
                  <a:srgbClr val="B8791F"/>
                </a:solidFill>
                <a:latin typeface="Calibri" pitchFamily="34" charset="0"/>
                <a:ea typeface="Calibri" pitchFamily="34" charset="-122"/>
                <a:cs typeface="Calibri" pitchFamily="34" charset="-120"/>
              </a:rPr>
              <a:t>NOT STARTED</a:t>
            </a:r>
            <a:endParaRPr lang="en-US" sz="1250" dirty="0"/>
          </a:p>
        </p:txBody>
      </p:sp>
      <p:sp>
        <p:nvSpPr>
          <p:cNvPr id="20" name="Shape 18"/>
          <p:cNvSpPr/>
          <p:nvPr/>
        </p:nvSpPr>
        <p:spPr>
          <a:xfrm>
            <a:off x="566928" y="4462272"/>
            <a:ext cx="11027664" cy="585216"/>
          </a:xfrm>
          <a:prstGeom prst="roundRect">
            <a:avLst>
              <a:gd name="adj" fmla="val 9375"/>
            </a:avLst>
          </a:prstGeom>
          <a:solidFill>
            <a:srgbClr val="FAF2E4"/>
          </a:solidFill>
          <a:ln w="12700">
            <a:solidFill>
              <a:srgbClr val="FAF2E4"/>
            </a:solidFill>
            <a:prstDash val="solid"/>
          </a:ln>
        </p:spPr>
      </p:sp>
      <p:sp>
        <p:nvSpPr>
          <p:cNvPr id="21" name="Text 19"/>
          <p:cNvSpPr txBox="1"/>
          <p:nvPr/>
        </p:nvSpPr>
        <p:spPr>
          <a:xfrm>
            <a:off x="950976" y="4608576"/>
            <a:ext cx="640080" cy="292608"/>
          </a:xfrm>
          <a:prstGeom prst="rect">
            <a:avLst/>
          </a:prstGeom>
          <a:noFill/>
          <a:ln/>
        </p:spPr>
        <p:txBody>
          <a:bodyPr wrap="square" lIns="0" tIns="0" rIns="0" bIns="0" rtlCol="0" anchor="ctr"/>
          <a:lstStyle/>
          <a:p>
            <a:pPr indent="0" marL="0">
              <a:buNone/>
            </a:pPr>
            <a:r>
              <a:rPr lang="en-US" sz="1400" b="1" dirty="0">
                <a:solidFill>
                  <a:srgbClr val="5C6378"/>
                </a:solidFill>
                <a:latin typeface="Calibri" pitchFamily="34" charset="0"/>
                <a:ea typeface="Calibri" pitchFamily="34" charset="-122"/>
                <a:cs typeface="Calibri" pitchFamily="34" charset="-120"/>
              </a:rPr>
              <a:t>O5</a:t>
            </a:r>
            <a:endParaRPr lang="en-US" sz="1400" dirty="0"/>
          </a:p>
        </p:txBody>
      </p:sp>
      <p:sp>
        <p:nvSpPr>
          <p:cNvPr id="22" name="Text 20"/>
          <p:cNvSpPr txBox="1"/>
          <p:nvPr/>
        </p:nvSpPr>
        <p:spPr>
          <a:xfrm>
            <a:off x="1664208" y="4608576"/>
            <a:ext cx="7680960" cy="29260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Ragged expansion; measure wall-clock saving</a:t>
            </a:r>
            <a:endParaRPr lang="en-US" sz="1500" dirty="0"/>
          </a:p>
        </p:txBody>
      </p:sp>
      <p:sp>
        <p:nvSpPr>
          <p:cNvPr id="23" name="Text 21"/>
          <p:cNvSpPr txBox="1"/>
          <p:nvPr/>
        </p:nvSpPr>
        <p:spPr>
          <a:xfrm>
            <a:off x="9070848" y="4608576"/>
            <a:ext cx="2194560" cy="292608"/>
          </a:xfrm>
          <a:prstGeom prst="rect">
            <a:avLst/>
          </a:prstGeom>
          <a:noFill/>
          <a:ln/>
        </p:spPr>
        <p:txBody>
          <a:bodyPr wrap="square" lIns="0" tIns="0" rIns="0" bIns="0" rtlCol="0" anchor="ctr"/>
          <a:lstStyle/>
          <a:p>
            <a:pPr algn="r" indent="0" marL="0">
              <a:buNone/>
            </a:pPr>
            <a:r>
              <a:rPr lang="en-US" sz="1250" b="1" dirty="0">
                <a:solidFill>
                  <a:srgbClr val="B8791F"/>
                </a:solidFill>
                <a:latin typeface="Calibri" pitchFamily="34" charset="0"/>
                <a:ea typeface="Calibri" pitchFamily="34" charset="-122"/>
                <a:cs typeface="Calibri" pitchFamily="34" charset="-120"/>
              </a:rPr>
              <a:t>NOT STARTED</a:t>
            </a:r>
            <a:endParaRPr lang="en-US" sz="1250" dirty="0"/>
          </a:p>
        </p:txBody>
      </p:sp>
      <p:sp>
        <p:nvSpPr>
          <p:cNvPr id="24" name="Shape 22"/>
          <p:cNvSpPr/>
          <p:nvPr/>
        </p:nvSpPr>
        <p:spPr>
          <a:xfrm>
            <a:off x="566928" y="5148072"/>
            <a:ext cx="11027664" cy="585216"/>
          </a:xfrm>
          <a:prstGeom prst="roundRect">
            <a:avLst>
              <a:gd name="adj" fmla="val 9375"/>
            </a:avLst>
          </a:prstGeom>
          <a:solidFill>
            <a:srgbClr val="FAF2E4"/>
          </a:solidFill>
          <a:ln w="12700">
            <a:solidFill>
              <a:srgbClr val="FAF2E4"/>
            </a:solidFill>
            <a:prstDash val="solid"/>
          </a:ln>
        </p:spPr>
      </p:sp>
      <p:sp>
        <p:nvSpPr>
          <p:cNvPr id="25" name="Text 23"/>
          <p:cNvSpPr txBox="1"/>
          <p:nvPr/>
        </p:nvSpPr>
        <p:spPr>
          <a:xfrm>
            <a:off x="950976" y="5294376"/>
            <a:ext cx="640080" cy="292608"/>
          </a:xfrm>
          <a:prstGeom prst="rect">
            <a:avLst/>
          </a:prstGeom>
          <a:noFill/>
          <a:ln/>
        </p:spPr>
        <p:txBody>
          <a:bodyPr wrap="square" lIns="0" tIns="0" rIns="0" bIns="0" rtlCol="0" anchor="ctr"/>
          <a:lstStyle/>
          <a:p>
            <a:pPr indent="0" marL="0">
              <a:buNone/>
            </a:pPr>
            <a:r>
              <a:rPr lang="en-US" sz="1400" b="1" dirty="0">
                <a:solidFill>
                  <a:srgbClr val="5C6378"/>
                </a:solidFill>
                <a:latin typeface="Calibri" pitchFamily="34" charset="0"/>
                <a:ea typeface="Calibri" pitchFamily="34" charset="-122"/>
                <a:cs typeface="Calibri" pitchFamily="34" charset="-120"/>
              </a:rPr>
              <a:t>O6</a:t>
            </a:r>
            <a:endParaRPr lang="en-US" sz="1400" dirty="0"/>
          </a:p>
        </p:txBody>
      </p:sp>
      <p:sp>
        <p:nvSpPr>
          <p:cNvPr id="26" name="Text 24"/>
          <p:cNvSpPr txBox="1"/>
          <p:nvPr/>
        </p:nvSpPr>
        <p:spPr>
          <a:xfrm>
            <a:off x="1664208" y="5294376"/>
            <a:ext cx="7680960" cy="29260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Validate on a task not designed by this project</a:t>
            </a:r>
            <a:endParaRPr lang="en-US" sz="1500" dirty="0"/>
          </a:p>
        </p:txBody>
      </p:sp>
      <p:sp>
        <p:nvSpPr>
          <p:cNvPr id="27" name="Text 25"/>
          <p:cNvSpPr txBox="1"/>
          <p:nvPr/>
        </p:nvSpPr>
        <p:spPr>
          <a:xfrm>
            <a:off x="9070848" y="5294376"/>
            <a:ext cx="2194560" cy="292608"/>
          </a:xfrm>
          <a:prstGeom prst="rect">
            <a:avLst/>
          </a:prstGeom>
          <a:noFill/>
          <a:ln/>
        </p:spPr>
        <p:txBody>
          <a:bodyPr wrap="square" lIns="0" tIns="0" rIns="0" bIns="0" rtlCol="0" anchor="ctr"/>
          <a:lstStyle/>
          <a:p>
            <a:pPr algn="r" indent="0" marL="0">
              <a:buNone/>
            </a:pPr>
            <a:r>
              <a:rPr lang="en-US" sz="1250" b="1" dirty="0">
                <a:solidFill>
                  <a:srgbClr val="B8791F"/>
                </a:solidFill>
                <a:latin typeface="Calibri" pitchFamily="34" charset="0"/>
                <a:ea typeface="Calibri" pitchFamily="34" charset="-122"/>
                <a:cs typeface="Calibri" pitchFamily="34" charset="-120"/>
              </a:rPr>
              <a:t>NOT STARTED</a:t>
            </a:r>
            <a:endParaRPr lang="en-US" sz="1250" dirty="0"/>
          </a:p>
        </p:txBody>
      </p:sp>
      <p:sp>
        <p:nvSpPr>
          <p:cNvPr id="28" name="Shape 26"/>
          <p:cNvSpPr/>
          <p:nvPr/>
        </p:nvSpPr>
        <p:spPr>
          <a:xfrm>
            <a:off x="566928" y="5897880"/>
            <a:ext cx="11027664" cy="658368"/>
          </a:xfrm>
          <a:prstGeom prst="roundRect">
            <a:avLst>
              <a:gd name="adj" fmla="val 8333"/>
            </a:avLst>
          </a:prstGeom>
          <a:solidFill>
            <a:srgbClr val="21295C"/>
          </a:solidFill>
          <a:ln w="12700">
            <a:solidFill>
              <a:srgbClr val="21295C"/>
            </a:solidFill>
            <a:prstDash val="solid"/>
          </a:ln>
        </p:spPr>
      </p:sp>
      <p:sp>
        <p:nvSpPr>
          <p:cNvPr id="29" name="Text 27"/>
          <p:cNvSpPr txBox="1"/>
          <p:nvPr/>
        </p:nvSpPr>
        <p:spPr>
          <a:xfrm>
            <a:off x="978408" y="6053328"/>
            <a:ext cx="10241280" cy="36576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The theoretical contribution is established. The engineering contribution has not begun.</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PLAN</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Schedule through April 2027</a:t>
            </a:r>
            <a:endParaRPr lang="en-US" sz="3000" dirty="0"/>
          </a:p>
        </p:txBody>
      </p:sp>
      <p:sp>
        <p:nvSpPr>
          <p:cNvPr id="4" name="Shape 2"/>
          <p:cNvSpPr/>
          <p:nvPr/>
        </p:nvSpPr>
        <p:spPr>
          <a:xfrm>
            <a:off x="566928" y="1737360"/>
            <a:ext cx="11027664" cy="786384"/>
          </a:xfrm>
          <a:prstGeom prst="roundRect">
            <a:avLst>
              <a:gd name="adj" fmla="val 6977"/>
            </a:avLst>
          </a:prstGeom>
          <a:solidFill>
            <a:srgbClr val="FAF2E4"/>
          </a:solidFill>
          <a:ln w="12700">
            <a:solidFill>
              <a:srgbClr val="FAF2E4"/>
            </a:solidFill>
            <a:prstDash val="solid"/>
          </a:ln>
        </p:spPr>
      </p:sp>
      <p:sp>
        <p:nvSpPr>
          <p:cNvPr id="5" name="Text 3"/>
          <p:cNvSpPr txBox="1"/>
          <p:nvPr/>
        </p:nvSpPr>
        <p:spPr>
          <a:xfrm>
            <a:off x="914400" y="1956816"/>
            <a:ext cx="1371600" cy="329184"/>
          </a:xfrm>
          <a:prstGeom prst="rect">
            <a:avLst/>
          </a:prstGeom>
          <a:noFill/>
          <a:ln/>
        </p:spPr>
        <p:txBody>
          <a:bodyPr wrap="square" lIns="0" tIns="0" rIns="0" bIns="0" rtlCol="0" anchor="ctr"/>
          <a:lstStyle/>
          <a:p>
            <a:pPr indent="0" marL="0">
              <a:buNone/>
            </a:pPr>
            <a:r>
              <a:rPr lang="en-US" sz="1450" b="1" dirty="0">
                <a:solidFill>
                  <a:srgbClr val="B8791F"/>
                </a:solidFill>
                <a:latin typeface="Calibri" pitchFamily="34" charset="0"/>
                <a:ea typeface="Calibri" pitchFamily="34" charset="-122"/>
                <a:cs typeface="Calibri" pitchFamily="34" charset="-120"/>
              </a:rPr>
              <a:t>October</a:t>
            </a:r>
            <a:endParaRPr lang="en-US" sz="1450" dirty="0"/>
          </a:p>
        </p:txBody>
      </p:sp>
      <p:sp>
        <p:nvSpPr>
          <p:cNvPr id="6" name="Text 4"/>
          <p:cNvSpPr txBox="1"/>
          <p:nvPr/>
        </p:nvSpPr>
        <p:spPr>
          <a:xfrm>
            <a:off x="2395728" y="1847088"/>
            <a:ext cx="8961120" cy="292608"/>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Train the gate end-to-end under the budget penalty at p = 0.10</a:t>
            </a:r>
            <a:endParaRPr lang="en-US" sz="1450" dirty="0"/>
          </a:p>
        </p:txBody>
      </p:sp>
      <p:sp>
        <p:nvSpPr>
          <p:cNvPr id="7" name="Text 5"/>
          <p:cNvSpPr txBox="1"/>
          <p:nvPr/>
        </p:nvSpPr>
        <p:spPr>
          <a:xfrm>
            <a:off x="2395728" y="2157984"/>
            <a:ext cx="8961120" cy="274320"/>
          </a:xfrm>
          <a:prstGeom prst="rect">
            <a:avLst/>
          </a:prstGeom>
          <a:noFill/>
          <a:ln/>
        </p:spPr>
        <p:txBody>
          <a:bodyPr wrap="square" lIns="0" tIns="0" rIns="0" bIns="0" rtlCol="0" anchor="ctr"/>
          <a:lstStyle/>
          <a:p>
            <a:pPr indent="0" marL="0">
              <a:lnSpc>
                <a:spcPts val="2100"/>
              </a:lnSpc>
              <a:buNone/>
            </a:pPr>
            <a:r>
              <a:rPr lang="en-US" sz="1250" dirty="0">
                <a:solidFill>
                  <a:srgbClr val="5C6378"/>
                </a:solidFill>
                <a:latin typeface="Calibri" pitchFamily="34" charset="0"/>
                <a:ea typeface="Calibri" pitchFamily="34" charset="-122"/>
                <a:cs typeface="Calibri" pitchFamily="34" charset="-120"/>
              </a:rPr>
              <a:t>Learned allocation approaches oracle cost at oracle accuracy</a:t>
            </a:r>
            <a:endParaRPr lang="en-US" sz="1250" dirty="0"/>
          </a:p>
        </p:txBody>
      </p:sp>
      <p:sp>
        <p:nvSpPr>
          <p:cNvPr id="8" name="Shape 6"/>
          <p:cNvSpPr/>
          <p:nvPr/>
        </p:nvSpPr>
        <p:spPr>
          <a:xfrm>
            <a:off x="566928" y="2633472"/>
            <a:ext cx="11027664" cy="786384"/>
          </a:xfrm>
          <a:prstGeom prst="roundRect">
            <a:avLst>
              <a:gd name="adj" fmla="val 6977"/>
            </a:avLst>
          </a:prstGeom>
          <a:solidFill>
            <a:srgbClr val="EEF1F6"/>
          </a:solidFill>
          <a:ln w="12700">
            <a:solidFill>
              <a:srgbClr val="EEF1F6"/>
            </a:solidFill>
            <a:prstDash val="solid"/>
          </a:ln>
        </p:spPr>
      </p:sp>
      <p:sp>
        <p:nvSpPr>
          <p:cNvPr id="9" name="Text 7"/>
          <p:cNvSpPr txBox="1"/>
          <p:nvPr/>
        </p:nvSpPr>
        <p:spPr>
          <a:xfrm>
            <a:off x="914400" y="2852928"/>
            <a:ext cx="1371600" cy="329184"/>
          </a:xfrm>
          <a:prstGeom prst="rect">
            <a:avLst/>
          </a:prstGeom>
          <a:noFill/>
          <a:ln/>
        </p:spPr>
        <p:txBody>
          <a:bodyPr wrap="square" lIns="0" tIns="0" rIns="0" bIns="0" rtlCol="0" anchor="ctr"/>
          <a:lstStyle/>
          <a:p>
            <a:pPr indent="0" marL="0">
              <a:buNone/>
            </a:pPr>
            <a:r>
              <a:rPr lang="en-US" sz="1450" b="1" dirty="0">
                <a:solidFill>
                  <a:srgbClr val="1C7293"/>
                </a:solidFill>
                <a:latin typeface="Calibri" pitchFamily="34" charset="0"/>
                <a:ea typeface="Calibri" pitchFamily="34" charset="-122"/>
                <a:cs typeface="Calibri" pitchFamily="34" charset="-120"/>
              </a:rPr>
              <a:t>November</a:t>
            </a:r>
            <a:endParaRPr lang="en-US" sz="1450" dirty="0"/>
          </a:p>
        </p:txBody>
      </p:sp>
      <p:sp>
        <p:nvSpPr>
          <p:cNvPr id="10" name="Text 8"/>
          <p:cNvSpPr txBox="1"/>
          <p:nvPr/>
        </p:nvSpPr>
        <p:spPr>
          <a:xfrm>
            <a:off x="2395728" y="2743200"/>
            <a:ext cx="8961120" cy="292608"/>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Implement ragged expansion; benchmark at batch 1 and batch 128</a:t>
            </a:r>
            <a:endParaRPr lang="en-US" sz="1450" dirty="0"/>
          </a:p>
        </p:txBody>
      </p:sp>
      <p:sp>
        <p:nvSpPr>
          <p:cNvPr id="11" name="Text 9"/>
          <p:cNvSpPr txBox="1"/>
          <p:nvPr/>
        </p:nvSpPr>
        <p:spPr>
          <a:xfrm>
            <a:off x="2395728" y="3054096"/>
            <a:ext cx="8961120" cy="274320"/>
          </a:xfrm>
          <a:prstGeom prst="rect">
            <a:avLst/>
          </a:prstGeom>
          <a:noFill/>
          <a:ln/>
        </p:spPr>
        <p:txBody>
          <a:bodyPr wrap="square" lIns="0" tIns="0" rIns="0" bIns="0" rtlCol="0" anchor="ctr"/>
          <a:lstStyle/>
          <a:p>
            <a:pPr indent="0" marL="0">
              <a:lnSpc>
                <a:spcPts val="2100"/>
              </a:lnSpc>
              <a:buNone/>
            </a:pPr>
            <a:r>
              <a:rPr lang="en-US" sz="1250" dirty="0">
                <a:solidFill>
                  <a:srgbClr val="5C6378"/>
                </a:solidFill>
                <a:latin typeface="Calibri" pitchFamily="34" charset="0"/>
                <a:ea typeface="Calibri" pitchFamily="34" charset="-122"/>
                <a:cs typeface="Calibri" pitchFamily="34" charset="-120"/>
              </a:rPr>
              <a:t>A measured speedup, or a measured account of why none exists</a:t>
            </a:r>
            <a:endParaRPr lang="en-US" sz="1250" dirty="0"/>
          </a:p>
        </p:txBody>
      </p:sp>
      <p:sp>
        <p:nvSpPr>
          <p:cNvPr id="12" name="Shape 10"/>
          <p:cNvSpPr/>
          <p:nvPr/>
        </p:nvSpPr>
        <p:spPr>
          <a:xfrm>
            <a:off x="566928" y="3529584"/>
            <a:ext cx="11027664" cy="786384"/>
          </a:xfrm>
          <a:prstGeom prst="roundRect">
            <a:avLst>
              <a:gd name="adj" fmla="val 6977"/>
            </a:avLst>
          </a:prstGeom>
          <a:solidFill>
            <a:srgbClr val="EEF1F6"/>
          </a:solidFill>
          <a:ln w="12700">
            <a:solidFill>
              <a:srgbClr val="EEF1F6"/>
            </a:solidFill>
            <a:prstDash val="solid"/>
          </a:ln>
        </p:spPr>
      </p:sp>
      <p:sp>
        <p:nvSpPr>
          <p:cNvPr id="13" name="Text 11"/>
          <p:cNvSpPr txBox="1"/>
          <p:nvPr/>
        </p:nvSpPr>
        <p:spPr>
          <a:xfrm>
            <a:off x="914400" y="3749040"/>
            <a:ext cx="1371600" cy="329184"/>
          </a:xfrm>
          <a:prstGeom prst="rect">
            <a:avLst/>
          </a:prstGeom>
          <a:noFill/>
          <a:ln/>
        </p:spPr>
        <p:txBody>
          <a:bodyPr wrap="square" lIns="0" tIns="0" rIns="0" bIns="0" rtlCol="0" anchor="ctr"/>
          <a:lstStyle/>
          <a:p>
            <a:pPr indent="0" marL="0">
              <a:buNone/>
            </a:pPr>
            <a:r>
              <a:rPr lang="en-US" sz="1450" b="1" dirty="0">
                <a:solidFill>
                  <a:srgbClr val="1C7293"/>
                </a:solidFill>
                <a:latin typeface="Calibri" pitchFamily="34" charset="0"/>
                <a:ea typeface="Calibri" pitchFamily="34" charset="-122"/>
                <a:cs typeface="Calibri" pitchFamily="34" charset="-120"/>
              </a:rPr>
              <a:t>December</a:t>
            </a:r>
            <a:endParaRPr lang="en-US" sz="1450" dirty="0"/>
          </a:p>
        </p:txBody>
      </p:sp>
      <p:sp>
        <p:nvSpPr>
          <p:cNvPr id="14" name="Text 12"/>
          <p:cNvSpPr txBox="1"/>
          <p:nvPr/>
        </p:nvSpPr>
        <p:spPr>
          <a:xfrm>
            <a:off x="2395728" y="3639312"/>
            <a:ext cx="8961120" cy="292608"/>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Extend the demand model empirically to S₃, S₄, A₄; begin O6</a:t>
            </a:r>
            <a:endParaRPr lang="en-US" sz="1450" dirty="0"/>
          </a:p>
        </p:txBody>
      </p:sp>
      <p:sp>
        <p:nvSpPr>
          <p:cNvPr id="15" name="Text 13"/>
          <p:cNvSpPr txBox="1"/>
          <p:nvPr/>
        </p:nvSpPr>
        <p:spPr>
          <a:xfrm>
            <a:off x="2395728" y="3950208"/>
            <a:ext cx="8961120" cy="274320"/>
          </a:xfrm>
          <a:prstGeom prst="rect">
            <a:avLst/>
          </a:prstGeom>
          <a:noFill/>
          <a:ln/>
        </p:spPr>
        <p:txBody>
          <a:bodyPr wrap="square" lIns="0" tIns="0" rIns="0" bIns="0" rtlCol="0" anchor="ctr"/>
          <a:lstStyle/>
          <a:p>
            <a:pPr indent="0" marL="0">
              <a:lnSpc>
                <a:spcPts val="2100"/>
              </a:lnSpc>
              <a:buNone/>
            </a:pPr>
            <a:r>
              <a:rPr lang="en-US" sz="1250" dirty="0">
                <a:solidFill>
                  <a:srgbClr val="5C6378"/>
                </a:solidFill>
                <a:latin typeface="Calibri" pitchFamily="34" charset="0"/>
                <a:ea typeface="Calibri" pitchFamily="34" charset="-122"/>
                <a:cs typeface="Calibri" pitchFamily="34" charset="-120"/>
              </a:rPr>
              <a:t>D predicts the required nₕ across groups</a:t>
            </a:r>
            <a:endParaRPr lang="en-US" sz="1250" dirty="0"/>
          </a:p>
        </p:txBody>
      </p:sp>
      <p:sp>
        <p:nvSpPr>
          <p:cNvPr id="16" name="Shape 14"/>
          <p:cNvSpPr/>
          <p:nvPr/>
        </p:nvSpPr>
        <p:spPr>
          <a:xfrm>
            <a:off x="566928" y="4425696"/>
            <a:ext cx="11027664" cy="786384"/>
          </a:xfrm>
          <a:prstGeom prst="roundRect">
            <a:avLst>
              <a:gd name="adj" fmla="val 6977"/>
            </a:avLst>
          </a:prstGeom>
          <a:solidFill>
            <a:srgbClr val="EEF1F6"/>
          </a:solidFill>
          <a:ln w="12700">
            <a:solidFill>
              <a:srgbClr val="EEF1F6"/>
            </a:solidFill>
            <a:prstDash val="solid"/>
          </a:ln>
        </p:spPr>
      </p:sp>
      <p:sp>
        <p:nvSpPr>
          <p:cNvPr id="17" name="Text 15"/>
          <p:cNvSpPr txBox="1"/>
          <p:nvPr/>
        </p:nvSpPr>
        <p:spPr>
          <a:xfrm>
            <a:off x="914400" y="4645152"/>
            <a:ext cx="1371600" cy="329184"/>
          </a:xfrm>
          <a:prstGeom prst="rect">
            <a:avLst/>
          </a:prstGeom>
          <a:noFill/>
          <a:ln/>
        </p:spPr>
        <p:txBody>
          <a:bodyPr wrap="square" lIns="0" tIns="0" rIns="0" bIns="0" rtlCol="0" anchor="ctr"/>
          <a:lstStyle/>
          <a:p>
            <a:pPr indent="0" marL="0">
              <a:buNone/>
            </a:pPr>
            <a:r>
              <a:rPr lang="en-US" sz="1450" b="1" dirty="0">
                <a:solidFill>
                  <a:srgbClr val="1C7293"/>
                </a:solidFill>
                <a:latin typeface="Calibri" pitchFamily="34" charset="0"/>
                <a:ea typeface="Calibri" pitchFamily="34" charset="-122"/>
                <a:cs typeface="Calibri" pitchFamily="34" charset="-120"/>
              </a:rPr>
              <a:t>January</a:t>
            </a:r>
            <a:endParaRPr lang="en-US" sz="1450" dirty="0"/>
          </a:p>
        </p:txBody>
      </p:sp>
      <p:sp>
        <p:nvSpPr>
          <p:cNvPr id="18" name="Text 16"/>
          <p:cNvSpPr txBox="1"/>
          <p:nvPr/>
        </p:nvSpPr>
        <p:spPr>
          <a:xfrm>
            <a:off x="2395728" y="4535424"/>
            <a:ext cx="8961120" cy="292608"/>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Full evaluation: multiple runs per cell, ablations, extrapolation</a:t>
            </a:r>
            <a:endParaRPr lang="en-US" sz="1450" dirty="0"/>
          </a:p>
        </p:txBody>
      </p:sp>
      <p:sp>
        <p:nvSpPr>
          <p:cNvPr id="19" name="Text 17"/>
          <p:cNvSpPr txBox="1"/>
          <p:nvPr/>
        </p:nvSpPr>
        <p:spPr>
          <a:xfrm>
            <a:off x="2395728" y="4846320"/>
            <a:ext cx="8961120" cy="274320"/>
          </a:xfrm>
          <a:prstGeom prst="rect">
            <a:avLst/>
          </a:prstGeom>
          <a:noFill/>
          <a:ln/>
        </p:spPr>
        <p:txBody>
          <a:bodyPr wrap="square" lIns="0" tIns="0" rIns="0" bIns="0" rtlCol="0" anchor="ctr"/>
          <a:lstStyle/>
          <a:p>
            <a:pPr indent="0" marL="0">
              <a:lnSpc>
                <a:spcPts val="2100"/>
              </a:lnSpc>
              <a:buNone/>
            </a:pPr>
            <a:r>
              <a:rPr lang="en-US" sz="1250" dirty="0">
                <a:solidFill>
                  <a:srgbClr val="5C6378"/>
                </a:solidFill>
                <a:latin typeface="Calibri" pitchFamily="34" charset="0"/>
                <a:ea typeface="Calibri" pitchFamily="34" charset="-122"/>
                <a:cs typeface="Calibri" pitchFamily="34" charset="-120"/>
              </a:rPr>
              <a:t>Every reported result carries a run count</a:t>
            </a:r>
            <a:endParaRPr lang="en-US" sz="1250" dirty="0"/>
          </a:p>
        </p:txBody>
      </p:sp>
      <p:sp>
        <p:nvSpPr>
          <p:cNvPr id="20" name="Shape 18"/>
          <p:cNvSpPr/>
          <p:nvPr/>
        </p:nvSpPr>
        <p:spPr>
          <a:xfrm>
            <a:off x="566928" y="5321808"/>
            <a:ext cx="11027664" cy="786384"/>
          </a:xfrm>
          <a:prstGeom prst="roundRect">
            <a:avLst>
              <a:gd name="adj" fmla="val 6977"/>
            </a:avLst>
          </a:prstGeom>
          <a:solidFill>
            <a:srgbClr val="EEF1F6"/>
          </a:solidFill>
          <a:ln w="12700">
            <a:solidFill>
              <a:srgbClr val="EEF1F6"/>
            </a:solidFill>
            <a:prstDash val="solid"/>
          </a:ln>
        </p:spPr>
      </p:sp>
      <p:sp>
        <p:nvSpPr>
          <p:cNvPr id="21" name="Text 19"/>
          <p:cNvSpPr txBox="1"/>
          <p:nvPr/>
        </p:nvSpPr>
        <p:spPr>
          <a:xfrm>
            <a:off x="914400" y="5541264"/>
            <a:ext cx="1371600" cy="329184"/>
          </a:xfrm>
          <a:prstGeom prst="rect">
            <a:avLst/>
          </a:prstGeom>
          <a:noFill/>
          <a:ln/>
        </p:spPr>
        <p:txBody>
          <a:bodyPr wrap="square" lIns="0" tIns="0" rIns="0" bIns="0" rtlCol="0" anchor="ctr"/>
          <a:lstStyle/>
          <a:p>
            <a:pPr indent="0" marL="0">
              <a:buNone/>
            </a:pPr>
            <a:r>
              <a:rPr lang="en-US" sz="1450" b="1" dirty="0">
                <a:solidFill>
                  <a:srgbClr val="1C7293"/>
                </a:solidFill>
                <a:latin typeface="Calibri" pitchFamily="34" charset="0"/>
                <a:ea typeface="Calibri" pitchFamily="34" charset="-122"/>
                <a:cs typeface="Calibri" pitchFamily="34" charset="-120"/>
              </a:rPr>
              <a:t>Feb – Apr</a:t>
            </a:r>
            <a:endParaRPr lang="en-US" sz="1450" dirty="0"/>
          </a:p>
        </p:txBody>
      </p:sp>
      <p:sp>
        <p:nvSpPr>
          <p:cNvPr id="22" name="Text 20"/>
          <p:cNvSpPr txBox="1"/>
          <p:nvPr/>
        </p:nvSpPr>
        <p:spPr>
          <a:xfrm>
            <a:off x="2395728" y="5431536"/>
            <a:ext cx="8961120" cy="292608"/>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Paper draft, submission, final report and defence</a:t>
            </a:r>
            <a:endParaRPr lang="en-US" sz="1450" dirty="0"/>
          </a:p>
        </p:txBody>
      </p:sp>
      <p:sp>
        <p:nvSpPr>
          <p:cNvPr id="23" name="Text 21"/>
          <p:cNvSpPr txBox="1"/>
          <p:nvPr/>
        </p:nvSpPr>
        <p:spPr>
          <a:xfrm>
            <a:off x="2395728" y="5742432"/>
            <a:ext cx="8961120" cy="274320"/>
          </a:xfrm>
          <a:prstGeom prst="rect">
            <a:avLst/>
          </a:prstGeom>
          <a:noFill/>
          <a:ln/>
        </p:spPr>
        <p:txBody>
          <a:bodyPr wrap="square" lIns="0" tIns="0" rIns="0" bIns="0" rtlCol="0" anchor="ctr"/>
          <a:lstStyle/>
          <a:p>
            <a:pPr indent="0" marL="0">
              <a:lnSpc>
                <a:spcPts val="2100"/>
              </a:lnSpc>
              <a:buNone/>
            </a:pPr>
            <a:r>
              <a:rPr lang="en-US" sz="1250" dirty="0">
                <a:solidFill>
                  <a:srgbClr val="5C6378"/>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566928" y="6263640"/>
            <a:ext cx="11027664" cy="347472"/>
          </a:xfrm>
          <a:prstGeom prst="rect">
            <a:avLst/>
          </a:prstGeom>
          <a:noFill/>
          <a:ln/>
        </p:spPr>
        <p:txBody>
          <a:bodyPr wrap="square" lIns="0" tIns="0" rIns="0" bIns="0" rtlCol="0" anchor="ctr"/>
          <a:lstStyle/>
          <a:p>
            <a:pPr indent="0" marL="0">
              <a:lnSpc>
                <a:spcPts val="2100"/>
              </a:lnSpc>
              <a:buNone/>
            </a:pPr>
            <a:r>
              <a:rPr lang="en-US" sz="1350" i="1" dirty="0">
                <a:solidFill>
                  <a:srgbClr val="1C7293"/>
                </a:solidFill>
                <a:latin typeface="Calibri" pitchFamily="34" charset="0"/>
                <a:ea typeface="Calibri" pitchFamily="34" charset="-122"/>
                <a:cs typeface="Calibri" pitchFamily="34" charset="-120"/>
              </a:rPr>
              <a:t>Each stage carries a failure condition fixed in advance, so that a fallback is a pre-registered decision rather than a retrospective account.</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66928" y="731520"/>
            <a:ext cx="10881360" cy="5029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66928" y="1728216"/>
            <a:ext cx="365760" cy="365760"/>
          </a:xfrm>
          <a:prstGeom prst="ellipse">
            <a:avLst/>
          </a:prstGeom>
          <a:solidFill>
            <a:srgbClr val="B8791F"/>
          </a:solidFill>
          <a:ln w="12700">
            <a:solidFill>
              <a:srgbClr val="333333"/>
            </a:solidFill>
            <a:prstDash val="solid"/>
          </a:ln>
        </p:spPr>
      </p:sp>
      <p:sp>
        <p:nvSpPr>
          <p:cNvPr id="4" name="Text 2"/>
          <p:cNvSpPr txBox="1"/>
          <p:nvPr/>
        </p:nvSpPr>
        <p:spPr>
          <a:xfrm>
            <a:off x="566928" y="17282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188720" y="1691640"/>
            <a:ext cx="1024128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correction to the cost model this line of work assumes.</a:t>
            </a:r>
            <a:endParaRPr lang="en-US" sz="1800" dirty="0"/>
          </a:p>
        </p:txBody>
      </p:sp>
      <p:sp>
        <p:nvSpPr>
          <p:cNvPr id="6" name="Text 4"/>
          <p:cNvSpPr txBox="1"/>
          <p:nvPr/>
        </p:nvSpPr>
        <p:spPr>
          <a:xfrm>
            <a:off x="1188720" y="2093976"/>
            <a:ext cx="9966960" cy="566928"/>
          </a:xfrm>
          <a:prstGeom prst="rect">
            <a:avLst/>
          </a:prstGeom>
          <a:noFill/>
          <a:ln/>
        </p:spPr>
        <p:txBody>
          <a:bodyPr wrap="square" lIns="0" tIns="0" rIns="0" bIns="0" rtlCol="0" anchor="ctr"/>
          <a:lstStyle/>
          <a:p>
            <a:pPr indent="0" marL="0">
              <a:lnSpc>
                <a:spcPts val="1900"/>
              </a:lnSpc>
              <a:buNone/>
            </a:pPr>
            <a:r>
              <a:rPr lang="en-US" sz="1450" dirty="0">
                <a:solidFill>
                  <a:srgbClr val="CADCFC"/>
                </a:solidFill>
                <a:latin typeface="Calibri" pitchFamily="34" charset="0"/>
                <a:ea typeface="Calibri" pitchFamily="34" charset="-122"/>
                <a:cs typeface="Calibri" pitchFamily="34" charset="-120"/>
              </a:rPr>
              <a:t>The expressivity a token demands is determined by the closure of the alphabet, not by the token. Established by construction, to machine precision.</a:t>
            </a:r>
            <a:endParaRPr lang="en-US" sz="1450" dirty="0"/>
          </a:p>
        </p:txBody>
      </p:sp>
      <p:sp>
        <p:nvSpPr>
          <p:cNvPr id="7" name="Shape 5"/>
          <p:cNvSpPr/>
          <p:nvPr/>
        </p:nvSpPr>
        <p:spPr>
          <a:xfrm>
            <a:off x="566928" y="3054096"/>
            <a:ext cx="365760" cy="365760"/>
          </a:xfrm>
          <a:prstGeom prst="ellipse">
            <a:avLst/>
          </a:prstGeom>
          <a:solidFill>
            <a:srgbClr val="B8791F"/>
          </a:solidFill>
          <a:ln w="12700">
            <a:solidFill>
              <a:srgbClr val="333333"/>
            </a:solidFill>
            <a:prstDash val="solid"/>
          </a:ln>
        </p:spPr>
      </p:sp>
      <p:sp>
        <p:nvSpPr>
          <p:cNvPr id="8" name="Text 6"/>
          <p:cNvSpPr txBox="1"/>
          <p:nvPr/>
        </p:nvSpPr>
        <p:spPr>
          <a:xfrm>
            <a:off x="566928" y="30540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88720" y="3017520"/>
            <a:ext cx="1024128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hyperparameter that cannot be set correctly by hand.</a:t>
            </a:r>
            <a:endParaRPr lang="en-US" sz="1800" dirty="0"/>
          </a:p>
        </p:txBody>
      </p:sp>
      <p:sp>
        <p:nvSpPr>
          <p:cNvPr id="10" name="Text 8"/>
          <p:cNvSpPr txBox="1"/>
          <p:nvPr/>
        </p:nvSpPr>
        <p:spPr>
          <a:xfrm>
            <a:off x="1188720" y="3419856"/>
            <a:ext cx="9966960" cy="566928"/>
          </a:xfrm>
          <a:prstGeom prst="rect">
            <a:avLst/>
          </a:prstGeom>
          <a:noFill/>
          <a:ln/>
        </p:spPr>
        <p:txBody>
          <a:bodyPr wrap="square" lIns="0" tIns="0" rIns="0" bIns="0" rtlCol="0" anchor="ctr"/>
          <a:lstStyle/>
          <a:p>
            <a:pPr indent="0" marL="0">
              <a:lnSpc>
                <a:spcPts val="1900"/>
              </a:lnSpc>
              <a:buNone/>
            </a:pPr>
            <a:r>
              <a:rPr lang="en-US" sz="1450" dirty="0">
                <a:solidFill>
                  <a:srgbClr val="CADCFC"/>
                </a:solidFill>
                <a:latin typeface="Calibri" pitchFamily="34" charset="0"/>
                <a:ea typeface="Calibri" pitchFamily="34" charset="-122"/>
                <a:cs typeface="Calibri" pitchFamily="34" charset="-120"/>
              </a:rPr>
              <a:t>Which constitutes the argument for learning it, independently of any efficiency gain.</a:t>
            </a:r>
            <a:endParaRPr lang="en-US" sz="1450" dirty="0"/>
          </a:p>
        </p:txBody>
      </p:sp>
      <p:sp>
        <p:nvSpPr>
          <p:cNvPr id="11" name="Shape 9"/>
          <p:cNvSpPr/>
          <p:nvPr/>
        </p:nvSpPr>
        <p:spPr>
          <a:xfrm>
            <a:off x="566928" y="4379976"/>
            <a:ext cx="365760" cy="365760"/>
          </a:xfrm>
          <a:prstGeom prst="ellipse">
            <a:avLst/>
          </a:prstGeom>
          <a:solidFill>
            <a:srgbClr val="B8791F"/>
          </a:solidFill>
          <a:ln w="12700">
            <a:solidFill>
              <a:srgbClr val="333333"/>
            </a:solidFill>
            <a:prstDash val="solid"/>
          </a:ln>
        </p:spPr>
      </p:sp>
      <p:sp>
        <p:nvSpPr>
          <p:cNvPr id="12" name="Text 10"/>
          <p:cNvSpPr txBox="1"/>
          <p:nvPr/>
        </p:nvSpPr>
        <p:spPr>
          <a:xfrm>
            <a:off x="566928" y="437997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88720" y="4343400"/>
            <a:ext cx="1024128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mechanism implemented, not yet trained.</a:t>
            </a:r>
            <a:endParaRPr lang="en-US" sz="1800" dirty="0"/>
          </a:p>
        </p:txBody>
      </p:sp>
      <p:sp>
        <p:nvSpPr>
          <p:cNvPr id="14" name="Text 12"/>
          <p:cNvSpPr txBox="1"/>
          <p:nvPr/>
        </p:nvSpPr>
        <p:spPr>
          <a:xfrm>
            <a:off x="1188720" y="4745736"/>
            <a:ext cx="9966960" cy="566928"/>
          </a:xfrm>
          <a:prstGeom prst="rect">
            <a:avLst/>
          </a:prstGeom>
          <a:noFill/>
          <a:ln/>
        </p:spPr>
        <p:txBody>
          <a:bodyPr wrap="square" lIns="0" tIns="0" rIns="0" bIns="0" rtlCol="0" anchor="ctr"/>
          <a:lstStyle/>
          <a:p>
            <a:pPr indent="0" marL="0">
              <a:lnSpc>
                <a:spcPts val="1900"/>
              </a:lnSpc>
              <a:buNone/>
            </a:pPr>
            <a:r>
              <a:rPr lang="en-US" sz="1450" dirty="0">
                <a:solidFill>
                  <a:srgbClr val="CADCFC"/>
                </a:solidFill>
                <a:latin typeface="Calibri" pitchFamily="34" charset="0"/>
                <a:ea typeface="Calibri" pitchFamily="34" charset="-122"/>
                <a:cs typeface="Calibri" pitchFamily="34" charset="-120"/>
              </a:rPr>
              <a:t>Every adaptive figure presented here derives from an oracle control condition. Training the gate is the next work item.</a:t>
            </a:r>
            <a:endParaRPr lang="en-US" sz="1450" dirty="0"/>
          </a:p>
        </p:txBody>
      </p:sp>
      <p:sp>
        <p:nvSpPr>
          <p:cNvPr id="15" name="Shape 13"/>
          <p:cNvSpPr/>
          <p:nvPr/>
        </p:nvSpPr>
        <p:spPr>
          <a:xfrm>
            <a:off x="566928" y="5760720"/>
            <a:ext cx="237744" cy="237744"/>
          </a:xfrm>
          <a:prstGeom prst="rect">
            <a:avLst/>
          </a:prstGeom>
          <a:solidFill>
            <a:srgbClr val="B8791F"/>
          </a:solidFill>
          <a:ln w="15875">
            <a:solidFill>
              <a:srgbClr val="B8791F"/>
            </a:solidFill>
            <a:prstDash val="solid"/>
          </a:ln>
        </p:spPr>
      </p:sp>
      <p:sp>
        <p:nvSpPr>
          <p:cNvPr id="16" name="Shape 14"/>
          <p:cNvSpPr/>
          <p:nvPr/>
        </p:nvSpPr>
        <p:spPr>
          <a:xfrm>
            <a:off x="911657" y="5760720"/>
            <a:ext cx="237744" cy="237744"/>
          </a:xfrm>
          <a:prstGeom prst="rect">
            <a:avLst/>
          </a:prstGeom>
          <a:solidFill>
            <a:srgbClr val="B8791F"/>
          </a:solidFill>
          <a:ln w="15875">
            <a:solidFill>
              <a:srgbClr val="B8791F"/>
            </a:solidFill>
            <a:prstDash val="solid"/>
          </a:ln>
        </p:spPr>
      </p:sp>
      <p:sp>
        <p:nvSpPr>
          <p:cNvPr id="17" name="Shape 15"/>
          <p:cNvSpPr/>
          <p:nvPr/>
        </p:nvSpPr>
        <p:spPr>
          <a:xfrm>
            <a:off x="1256386" y="5760720"/>
            <a:ext cx="237744" cy="237744"/>
          </a:xfrm>
          <a:prstGeom prst="rect">
            <a:avLst/>
          </a:prstGeom>
          <a:solidFill>
            <a:srgbClr val="21295C"/>
          </a:solidFill>
          <a:ln w="15875">
            <a:solidFill>
              <a:srgbClr val="6B76A8"/>
            </a:solidFill>
            <a:prstDash val="solid"/>
          </a:ln>
        </p:spPr>
      </p:sp>
      <p:sp>
        <p:nvSpPr>
          <p:cNvPr id="18" name="Shape 16"/>
          <p:cNvSpPr/>
          <p:nvPr/>
        </p:nvSpPr>
        <p:spPr>
          <a:xfrm>
            <a:off x="1601114" y="5760720"/>
            <a:ext cx="237744" cy="237744"/>
          </a:xfrm>
          <a:prstGeom prst="rect">
            <a:avLst/>
          </a:prstGeom>
          <a:solidFill>
            <a:srgbClr val="21295C"/>
          </a:solidFill>
          <a:ln w="15875">
            <a:solidFill>
              <a:srgbClr val="6B76A8"/>
            </a:solidFill>
            <a:prstDash val="solid"/>
          </a:ln>
        </p:spPr>
      </p:sp>
      <p:sp>
        <p:nvSpPr>
          <p:cNvPr id="19" name="Text 17"/>
          <p:cNvSpPr txBox="1"/>
          <p:nvPr/>
        </p:nvSpPr>
        <p:spPr>
          <a:xfrm>
            <a:off x="2852928" y="5724144"/>
            <a:ext cx="7315200" cy="329184"/>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Thank you.   Questions welcome.</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Backup — reachability by construction</a:t>
            </a:r>
            <a:endParaRPr lang="en-US" sz="3000" dirty="0"/>
          </a:p>
        </p:txBody>
      </p:sp>
      <p:sp>
        <p:nvSpPr>
          <p:cNvPr id="4" name="Text 2"/>
          <p:cNvSpPr txBox="1"/>
          <p:nvPr/>
        </p:nvSpPr>
        <p:spPr>
          <a:xfrm>
            <a:off x="566928" y="1572768"/>
            <a:ext cx="10881360" cy="347472"/>
          </a:xfrm>
          <a:prstGeom prst="rect">
            <a:avLst/>
          </a:prstGeom>
          <a:noFill/>
          <a:ln/>
        </p:spPr>
        <p:txBody>
          <a:bodyPr wrap="square" lIns="0" tIns="0" rIns="0" bIns="0" rtlCol="0" anchor="ctr"/>
          <a:lstStyle/>
          <a:p>
            <a:pPr indent="0" marL="0">
              <a:lnSpc>
                <a:spcPts val="2100"/>
              </a:lnSpc>
              <a:buNone/>
            </a:pPr>
            <a:r>
              <a:rPr lang="en-US" sz="1400" dirty="0">
                <a:solidFill>
                  <a:srgbClr val="1A1A2E"/>
                </a:solidFill>
                <a:latin typeface="Calibri" pitchFamily="34" charset="0"/>
                <a:ea typeface="Calibri" pitchFamily="34" charset="-122"/>
                <a:cs typeface="Calibri" pitchFamily="34" charset="-120"/>
              </a:rPr>
              <a:t>Reconstruction of all 120 elements of S₅ at every factor count K; × marks reachable. Worst error 1.17 × 10⁻¹⁵.</a:t>
            </a:r>
            <a:endParaRPr lang="en-US" sz="1400" dirty="0"/>
          </a:p>
        </p:txBody>
      </p:sp>
      <p:sp>
        <p:nvSpPr>
          <p:cNvPr id="5" name="Shape 3"/>
          <p:cNvSpPr/>
          <p:nvPr/>
        </p:nvSpPr>
        <p:spPr>
          <a:xfrm>
            <a:off x="566928" y="2011680"/>
            <a:ext cx="5349240" cy="3200400"/>
          </a:xfrm>
          <a:prstGeom prst="roundRect">
            <a:avLst>
              <a:gd name="adj" fmla="val 1714"/>
            </a:avLst>
          </a:prstGeom>
          <a:solidFill>
            <a:srgbClr val="EEF1F6"/>
          </a:solidFill>
          <a:ln w="12700">
            <a:solidFill>
              <a:srgbClr val="EEF1F6"/>
            </a:solidFill>
            <a:prstDash val="solid"/>
          </a:ln>
        </p:spPr>
      </p:sp>
      <p:sp>
        <p:nvSpPr>
          <p:cNvPr id="6" name="Text 4"/>
          <p:cNvSpPr txBox="1"/>
          <p:nvPr/>
        </p:nvSpPr>
        <p:spPr>
          <a:xfrm>
            <a:off x="932688" y="2212848"/>
            <a:ext cx="4572000" cy="310896"/>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Learnable β ∈ [0, 2]</a:t>
            </a:r>
            <a:endParaRPr lang="en-US" sz="1600" dirty="0"/>
          </a:p>
        </p:txBody>
      </p:sp>
      <p:sp>
        <p:nvSpPr>
          <p:cNvPr id="7" name="Text 5"/>
          <p:cNvSpPr txBox="1"/>
          <p:nvPr/>
        </p:nvSpPr>
        <p:spPr>
          <a:xfrm>
            <a:off x="932688" y="2651760"/>
            <a:ext cx="4663440" cy="2286000"/>
          </a:xfrm>
          <a:prstGeom prst="rect">
            <a:avLst/>
          </a:prstGeom>
          <a:noFill/>
          <a:ln/>
        </p:spPr>
        <p:txBody>
          <a:bodyPr wrap="square" lIns="0" tIns="0" rIns="0" bIns="0" rtlCol="0" anchor="ctr"/>
          <a:lstStyle/>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        K=0  K=1  K=2  K=3  K=4</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ℓ=0       .     .     .     .     .</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ℓ=1       ×     .     .     .     .</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ℓ=2       ×     ×     .     .     .</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ℓ=3       ×     ×     ×     .     .</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ℓ=4       ×     ×     ×     ×     .</a:t>
            </a:r>
            <a:endParaRPr lang="en-US" sz="1300" dirty="0"/>
          </a:p>
        </p:txBody>
      </p:sp>
      <p:sp>
        <p:nvSpPr>
          <p:cNvPr id="8" name="Shape 6"/>
          <p:cNvSpPr/>
          <p:nvPr/>
        </p:nvSpPr>
        <p:spPr>
          <a:xfrm>
            <a:off x="6446520" y="2011680"/>
            <a:ext cx="5349240" cy="3200400"/>
          </a:xfrm>
          <a:prstGeom prst="roundRect">
            <a:avLst>
              <a:gd name="adj" fmla="val 1714"/>
            </a:avLst>
          </a:prstGeom>
          <a:solidFill>
            <a:srgbClr val="FAF2E4"/>
          </a:solidFill>
          <a:ln w="12700">
            <a:solidFill>
              <a:srgbClr val="FAF2E4"/>
            </a:solidFill>
            <a:prstDash val="solid"/>
          </a:ln>
        </p:spPr>
      </p:sp>
      <p:sp>
        <p:nvSpPr>
          <p:cNvPr id="9" name="Text 7"/>
          <p:cNvSpPr txBox="1"/>
          <p:nvPr/>
        </p:nvSpPr>
        <p:spPr>
          <a:xfrm>
            <a:off x="6793992" y="2212848"/>
            <a:ext cx="4572000" cy="310896"/>
          </a:xfrm>
          <a:prstGeom prst="rect">
            <a:avLst/>
          </a:prstGeom>
          <a:noFill/>
          <a:ln/>
        </p:spPr>
        <p:txBody>
          <a:bodyPr wrap="square" lIns="0" tIns="0" rIns="0" bIns="0" rtlCol="0" anchor="ctr"/>
          <a:lstStyle/>
          <a:p>
            <a:pPr indent="0" marL="0">
              <a:buNone/>
            </a:pPr>
            <a:r>
              <a:rPr lang="en-US" sz="1600" b="1" dirty="0">
                <a:solidFill>
                  <a:srgbClr val="B8791F"/>
                </a:solidFill>
                <a:latin typeface="Calibri" pitchFamily="34" charset="0"/>
                <a:ea typeface="Calibri" pitchFamily="34" charset="-122"/>
                <a:cs typeface="Calibri" pitchFamily="34" charset="-120"/>
              </a:rPr>
              <a:t>β pinned at 2</a:t>
            </a:r>
            <a:endParaRPr lang="en-US" sz="1600" dirty="0"/>
          </a:p>
        </p:txBody>
      </p:sp>
      <p:sp>
        <p:nvSpPr>
          <p:cNvPr id="10" name="Text 8"/>
          <p:cNvSpPr txBox="1"/>
          <p:nvPr/>
        </p:nvSpPr>
        <p:spPr>
          <a:xfrm>
            <a:off x="6793992" y="2651760"/>
            <a:ext cx="4663440" cy="2286000"/>
          </a:xfrm>
          <a:prstGeom prst="rect">
            <a:avLst/>
          </a:prstGeom>
          <a:noFill/>
          <a:ln/>
        </p:spPr>
        <p:txBody>
          <a:bodyPr wrap="square" lIns="0" tIns="0" rIns="0" bIns="0" rtlCol="0" anchor="ctr"/>
          <a:lstStyle/>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        K=0  K=1  K=2  K=3  K=4</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ℓ=0       .     ×     .     ×     .</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ℓ=1       ×     .     ×     .     ×</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ℓ=2       ×     ×     .     ×     .</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ℓ=3       ×     ×     ×     .     ×</a:t>
            </a:r>
            <a:endParaRPr lang="en-US" sz="1300" dirty="0"/>
          </a:p>
          <a:p>
            <a:pPr indent="0" marL="0">
              <a:lnSpc>
                <a:spcPts val="2100"/>
              </a:lnSpc>
              <a:buNone/>
            </a:pPr>
            <a:r>
              <a:rPr lang="en-US" sz="1300" dirty="0">
                <a:solidFill>
                  <a:srgbClr val="1A1A2E"/>
                </a:solidFill>
                <a:latin typeface="Courier New" pitchFamily="34" charset="0"/>
                <a:ea typeface="Courier New" pitchFamily="34" charset="-122"/>
                <a:cs typeface="Courier New" pitchFamily="34" charset="-120"/>
              </a:rPr>
              <a:t>ℓ=4       ×     ×     ×     ×     .</a:t>
            </a:r>
            <a:endParaRPr lang="en-US" sz="1300" dirty="0"/>
          </a:p>
        </p:txBody>
      </p:sp>
      <p:sp>
        <p:nvSpPr>
          <p:cNvPr id="11" name="Text 9"/>
          <p:cNvSpPr txBox="1"/>
          <p:nvPr/>
        </p:nvSpPr>
        <p:spPr>
          <a:xfrm>
            <a:off x="566928" y="5440680"/>
            <a:ext cx="11027664" cy="640080"/>
          </a:xfrm>
          <a:prstGeom prst="rect">
            <a:avLst/>
          </a:prstGeom>
          <a:noFill/>
          <a:ln/>
        </p:spPr>
        <p:txBody>
          <a:bodyPr wrap="square" lIns="0" tIns="0" rIns="0" bIns="0" rtlCol="0" anchor="ctr"/>
          <a:lstStyle/>
          <a:p>
            <a:pPr indent="0" marL="0">
              <a:lnSpc>
                <a:spcPts val="1800"/>
              </a:lnSpc>
              <a:buNone/>
            </a:pPr>
            <a:r>
              <a:rPr lang="en-US" sz="1350" dirty="0">
                <a:solidFill>
                  <a:srgbClr val="5C6378"/>
                </a:solidFill>
                <a:latin typeface="Calibri" pitchFamily="34" charset="0"/>
                <a:ea typeface="Calibri" pitchFamily="34" charset="-122"/>
                <a:cs typeface="Calibri" pitchFamily="34" charset="-120"/>
              </a:rPr>
              <a:t>The right-hand pattern is the parity constraint: with β pinned, only K ≡ ℓ (mod 2) is reachable, so half of all (ℓ, K) pairs are unreachable. This is why the gate must scale a learnable β rather than mask a fixed one.</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Backup — failure-mode forensics at p = 0.10</a:t>
            </a:r>
            <a:endParaRPr lang="en-US" sz="3000" dirty="0"/>
          </a:p>
        </p:txBody>
      </p:sp>
      <p:sp>
        <p:nvSpPr>
          <p:cNvPr id="4" name="Text 2"/>
          <p:cNvSpPr txBox="1"/>
          <p:nvPr/>
        </p:nvSpPr>
        <p:spPr>
          <a:xfrm>
            <a:off x="749808" y="1828800"/>
            <a:ext cx="4206240" cy="310896"/>
          </a:xfrm>
          <a:prstGeom prst="rect">
            <a:avLst/>
          </a:prstGeom>
          <a:noFill/>
          <a:ln/>
        </p:spPr>
        <p:txBody>
          <a:bodyPr wrap="square" lIns="0" tIns="0" rIns="0" bIns="0" rtlCol="0" anchor="ctr"/>
          <a:lstStyle/>
          <a:p>
            <a:pPr indent="0" marL="0">
              <a:buNone/>
            </a:pPr>
            <a:endParaRPr lang="en-US" sz="1250" dirty="0"/>
          </a:p>
        </p:txBody>
      </p:sp>
      <p:sp>
        <p:nvSpPr>
          <p:cNvPr id="5" name="Text 3"/>
          <p:cNvSpPr txBox="1"/>
          <p:nvPr/>
        </p:nvSpPr>
        <p:spPr>
          <a:xfrm>
            <a:off x="4956048" y="1828800"/>
            <a:ext cx="228600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nₕ = 1</a:t>
            </a:r>
            <a:endParaRPr lang="en-US" sz="1250" dirty="0"/>
          </a:p>
        </p:txBody>
      </p:sp>
      <p:sp>
        <p:nvSpPr>
          <p:cNvPr id="6" name="Text 4"/>
          <p:cNvSpPr txBox="1"/>
          <p:nvPr/>
        </p:nvSpPr>
        <p:spPr>
          <a:xfrm>
            <a:off x="7242048" y="1828800"/>
            <a:ext cx="246888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nₕ = 3</a:t>
            </a:r>
            <a:endParaRPr lang="en-US" sz="1250" dirty="0"/>
          </a:p>
        </p:txBody>
      </p:sp>
      <p:sp>
        <p:nvSpPr>
          <p:cNvPr id="7" name="Text 5"/>
          <p:cNvSpPr txBox="1"/>
          <p:nvPr/>
        </p:nvSpPr>
        <p:spPr>
          <a:xfrm>
            <a:off x="9710928" y="1828800"/>
            <a:ext cx="2286000" cy="310896"/>
          </a:xfrm>
          <a:prstGeom prst="rect">
            <a:avLst/>
          </a:prstGeom>
          <a:noFill/>
          <a:ln/>
        </p:spPr>
        <p:txBody>
          <a:bodyPr wrap="square" lIns="0" tIns="0" rIns="0" bIns="0" rtlCol="0" anchor="ctr"/>
          <a:lstStyle/>
          <a:p>
            <a:pPr indent="0" marL="0">
              <a:buNone/>
            </a:pPr>
            <a:r>
              <a:rPr lang="en-US" sz="1250" b="1" dirty="0">
                <a:solidFill>
                  <a:srgbClr val="5C6378"/>
                </a:solidFill>
                <a:latin typeface="Calibri" pitchFamily="34" charset="0"/>
                <a:ea typeface="Calibri" pitchFamily="34" charset="-122"/>
                <a:cs typeface="Calibri" pitchFamily="34" charset="-120"/>
              </a:rPr>
              <a:t>nₕ = 4</a:t>
            </a:r>
            <a:endParaRPr lang="en-US" sz="1250" dirty="0"/>
          </a:p>
        </p:txBody>
      </p:sp>
      <p:sp>
        <p:nvSpPr>
          <p:cNvPr id="8" name="Text 6"/>
          <p:cNvSpPr txBox="1"/>
          <p:nvPr/>
        </p:nvSpPr>
        <p:spPr>
          <a:xfrm>
            <a:off x="749808" y="2212848"/>
            <a:ext cx="420624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token / sequence accuracy</a:t>
            </a:r>
            <a:endParaRPr lang="en-US" sz="1400" dirty="0"/>
          </a:p>
        </p:txBody>
      </p:sp>
      <p:sp>
        <p:nvSpPr>
          <p:cNvPr id="9" name="Text 7"/>
          <p:cNvSpPr txBox="1"/>
          <p:nvPr/>
        </p:nvSpPr>
        <p:spPr>
          <a:xfrm>
            <a:off x="4956048" y="2212848"/>
            <a:ext cx="228600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0.1822 / 0.0000</a:t>
            </a:r>
            <a:endParaRPr lang="en-US" sz="1400" dirty="0"/>
          </a:p>
        </p:txBody>
      </p:sp>
      <p:sp>
        <p:nvSpPr>
          <p:cNvPr id="10" name="Text 8"/>
          <p:cNvSpPr txBox="1"/>
          <p:nvPr/>
        </p:nvSpPr>
        <p:spPr>
          <a:xfrm>
            <a:off x="7242048" y="2212848"/>
            <a:ext cx="246888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0.9740 / 0.7145</a:t>
            </a:r>
            <a:endParaRPr lang="en-US" sz="1400" dirty="0"/>
          </a:p>
        </p:txBody>
      </p:sp>
      <p:sp>
        <p:nvSpPr>
          <p:cNvPr id="11" name="Text 9"/>
          <p:cNvSpPr txBox="1"/>
          <p:nvPr/>
        </p:nvSpPr>
        <p:spPr>
          <a:xfrm>
            <a:off x="9710928" y="2212848"/>
            <a:ext cx="228600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0.9999 / 0.9940</a:t>
            </a:r>
            <a:endParaRPr lang="en-US" sz="1400" dirty="0"/>
          </a:p>
        </p:txBody>
      </p:sp>
      <p:sp>
        <p:nvSpPr>
          <p:cNvPr id="12" name="Text 10"/>
          <p:cNvSpPr txBox="1"/>
          <p:nvPr/>
        </p:nvSpPr>
        <p:spPr>
          <a:xfrm>
            <a:off x="749808" y="2779776"/>
            <a:ext cx="420624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per-high-demand-token success</a:t>
            </a:r>
            <a:endParaRPr lang="en-US" sz="1400" dirty="0"/>
          </a:p>
        </p:txBody>
      </p:sp>
      <p:sp>
        <p:nvSpPr>
          <p:cNvPr id="13" name="Text 11"/>
          <p:cNvSpPr txBox="1"/>
          <p:nvPr/>
        </p:nvSpPr>
        <p:spPr>
          <a:xfrm>
            <a:off x="4956048" y="2779776"/>
            <a:ext cx="228600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0.7124</a:t>
            </a:r>
            <a:endParaRPr lang="en-US" sz="1400" dirty="0"/>
          </a:p>
        </p:txBody>
      </p:sp>
      <p:sp>
        <p:nvSpPr>
          <p:cNvPr id="14" name="Text 12"/>
          <p:cNvSpPr txBox="1"/>
          <p:nvPr/>
        </p:nvSpPr>
        <p:spPr>
          <a:xfrm>
            <a:off x="7242048" y="2779776"/>
            <a:ext cx="246888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0.9947</a:t>
            </a:r>
            <a:endParaRPr lang="en-US" sz="1400" dirty="0"/>
          </a:p>
        </p:txBody>
      </p:sp>
      <p:sp>
        <p:nvSpPr>
          <p:cNvPr id="15" name="Text 13"/>
          <p:cNvSpPr txBox="1"/>
          <p:nvPr/>
        </p:nvSpPr>
        <p:spPr>
          <a:xfrm>
            <a:off x="9710928" y="2779776"/>
            <a:ext cx="228600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1.0000</a:t>
            </a:r>
            <a:endParaRPr lang="en-US" sz="1400" dirty="0"/>
          </a:p>
        </p:txBody>
      </p:sp>
      <p:sp>
        <p:nvSpPr>
          <p:cNvPr id="16" name="Text 14"/>
          <p:cNvSpPr txBox="1"/>
          <p:nvPr/>
        </p:nvSpPr>
        <p:spPr>
          <a:xfrm>
            <a:off x="749808" y="3346704"/>
            <a:ext cx="420624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mean error-run length</a:t>
            </a:r>
            <a:endParaRPr lang="en-US" sz="1400" dirty="0"/>
          </a:p>
        </p:txBody>
      </p:sp>
      <p:sp>
        <p:nvSpPr>
          <p:cNvPr id="17" name="Text 15"/>
          <p:cNvSpPr txBox="1"/>
          <p:nvPr/>
        </p:nvSpPr>
        <p:spPr>
          <a:xfrm>
            <a:off x="4956048" y="3346704"/>
            <a:ext cx="228600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30.13</a:t>
            </a:r>
            <a:endParaRPr lang="en-US" sz="1400" dirty="0"/>
          </a:p>
        </p:txBody>
      </p:sp>
      <p:sp>
        <p:nvSpPr>
          <p:cNvPr id="18" name="Text 16"/>
          <p:cNvSpPr txBox="1"/>
          <p:nvPr/>
        </p:nvSpPr>
        <p:spPr>
          <a:xfrm>
            <a:off x="7242048" y="3346704"/>
            <a:ext cx="246888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2.00  (median 1)</a:t>
            </a:r>
            <a:endParaRPr lang="en-US" sz="1400" dirty="0"/>
          </a:p>
        </p:txBody>
      </p:sp>
      <p:sp>
        <p:nvSpPr>
          <p:cNvPr id="19" name="Text 17"/>
          <p:cNvSpPr txBox="1"/>
          <p:nvPr/>
        </p:nvSpPr>
        <p:spPr>
          <a:xfrm>
            <a:off x="9710928" y="3346704"/>
            <a:ext cx="228600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1.11</a:t>
            </a:r>
            <a:endParaRPr lang="en-US" sz="1400" dirty="0"/>
          </a:p>
        </p:txBody>
      </p:sp>
      <p:sp>
        <p:nvSpPr>
          <p:cNvPr id="20" name="Text 18"/>
          <p:cNvSpPr txBox="1"/>
          <p:nvPr/>
        </p:nvSpPr>
        <p:spPr>
          <a:xfrm>
            <a:off x="749808" y="3913632"/>
            <a:ext cx="420624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sequences with any error</a:t>
            </a:r>
            <a:endParaRPr lang="en-US" sz="1400" dirty="0"/>
          </a:p>
        </p:txBody>
      </p:sp>
      <p:sp>
        <p:nvSpPr>
          <p:cNvPr id="21" name="Text 19"/>
          <p:cNvSpPr txBox="1"/>
          <p:nvPr/>
        </p:nvSpPr>
        <p:spPr>
          <a:xfrm>
            <a:off x="4956048" y="3913632"/>
            <a:ext cx="228600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2000 / 2000</a:t>
            </a:r>
            <a:endParaRPr lang="en-US" sz="1400" dirty="0"/>
          </a:p>
        </p:txBody>
      </p:sp>
      <p:sp>
        <p:nvSpPr>
          <p:cNvPr id="22" name="Text 20"/>
          <p:cNvSpPr txBox="1"/>
          <p:nvPr/>
        </p:nvSpPr>
        <p:spPr>
          <a:xfrm>
            <a:off x="7242048" y="3913632"/>
            <a:ext cx="246888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571 / 2000</a:t>
            </a:r>
            <a:endParaRPr lang="en-US" sz="1400" dirty="0"/>
          </a:p>
        </p:txBody>
      </p:sp>
      <p:sp>
        <p:nvSpPr>
          <p:cNvPr id="23" name="Text 21"/>
          <p:cNvSpPr txBox="1"/>
          <p:nvPr/>
        </p:nvSpPr>
        <p:spPr>
          <a:xfrm>
            <a:off x="9710928" y="3913632"/>
            <a:ext cx="2286000" cy="310896"/>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12 / 2000</a:t>
            </a:r>
            <a:endParaRPr lang="en-US" sz="1400" dirty="0"/>
          </a:p>
        </p:txBody>
      </p:sp>
      <p:sp>
        <p:nvSpPr>
          <p:cNvPr id="24" name="Shape 22"/>
          <p:cNvSpPr/>
          <p:nvPr/>
        </p:nvSpPr>
        <p:spPr>
          <a:xfrm>
            <a:off x="566928" y="4343400"/>
            <a:ext cx="11027664" cy="1783080"/>
          </a:xfrm>
          <a:prstGeom prst="roundRect">
            <a:avLst>
              <a:gd name="adj" fmla="val 3077"/>
            </a:avLst>
          </a:prstGeom>
          <a:solidFill>
            <a:srgbClr val="EEF1F6"/>
          </a:solidFill>
          <a:ln w="12700">
            <a:solidFill>
              <a:srgbClr val="EEF1F6"/>
            </a:solidFill>
            <a:prstDash val="solid"/>
          </a:ln>
        </p:spPr>
      </p:sp>
      <p:sp>
        <p:nvSpPr>
          <p:cNvPr id="25" name="Text 23"/>
          <p:cNvSpPr txBox="1"/>
          <p:nvPr/>
        </p:nvSpPr>
        <p:spPr>
          <a:xfrm>
            <a:off x="950976" y="4572000"/>
            <a:ext cx="10241280" cy="822960"/>
          </a:xfrm>
          <a:prstGeom prst="rect">
            <a:avLst/>
          </a:prstGeom>
          <a:noFill/>
          <a:ln/>
        </p:spPr>
        <p:txBody>
          <a:bodyPr wrap="square" lIns="0" tIns="0" rIns="0" bIns="0" rtlCol="0" anchor="ctr"/>
          <a:lstStyle/>
          <a:p>
            <a:pPr indent="0" marL="0">
              <a:lnSpc>
                <a:spcPts val="1900"/>
              </a:lnSpc>
              <a:buNone/>
            </a:pPr>
            <a:r>
              <a:rPr lang="en-US" sz="1400" dirty="0">
                <a:solidFill>
                  <a:srgbClr val="1A1A2E"/>
                </a:solidFill>
                <a:latin typeface="Calibri" pitchFamily="34" charset="0"/>
                <a:ea typeface="Calibri" pitchFamily="34" charset="-122"/>
                <a:cs typeface="Calibri" pitchFamily="34" charset="-120"/>
              </a:rPr>
              <a:t>Errors are clustered but not absorbing — the nₕ = 3 arm recovers, with a median error run of a single position. Two naive models were falsified in advance: independent errors predict sequence accuracy 0.034 against 0.7145 observed; permanent corruption predicts token accuracy 0.746 against 0.9740 observed.</a:t>
            </a:r>
            <a:endParaRPr lang="en-US" sz="1400" dirty="0"/>
          </a:p>
        </p:txBody>
      </p:sp>
      <p:sp>
        <p:nvSpPr>
          <p:cNvPr id="26" name="Text 24"/>
          <p:cNvSpPr txBox="1"/>
          <p:nvPr/>
        </p:nvSpPr>
        <p:spPr>
          <a:xfrm>
            <a:off x="950976" y="5440680"/>
            <a:ext cx="10241280" cy="502920"/>
          </a:xfrm>
          <a:prstGeom prst="rect">
            <a:avLst/>
          </a:prstGeom>
          <a:noFill/>
          <a:ln/>
        </p:spPr>
        <p:txBody>
          <a:bodyPr wrap="square" lIns="0" tIns="0" rIns="0" bIns="0" rtlCol="0" anchor="ctr"/>
          <a:lstStyle/>
          <a:p>
            <a:pPr indent="0" marL="0">
              <a:lnSpc>
                <a:spcPts val="2100"/>
              </a:lnSpc>
              <a:buNone/>
            </a:pPr>
            <a:r>
              <a:rPr lang="en-US" sz="1400" dirty="0">
                <a:solidFill>
                  <a:srgbClr val="5C6378"/>
                </a:solidFill>
                <a:latin typeface="Calibri" pitchFamily="34" charset="0"/>
                <a:ea typeface="Calibri" pitchFamily="34" charset="-122"/>
                <a:cs typeface="Calibri" pitchFamily="34" charset="-120"/>
              </a:rPr>
              <a:t>A corrupted group-tracking state has no mechanism to heal itself, so information is being carried outside the transition matrices. The additive channel is the untested suspect.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8229600" cy="237744"/>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566928" y="566928"/>
            <a:ext cx="11027664"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566928" y="1627632"/>
            <a:ext cx="11027664"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Siems, J., Carstensen, T., Zela, A., Hutter, F., Pontil, M., Grazzi, R. (2025)</a:t>
            </a:r>
            <a:endParaRPr lang="en-US" sz="1400" dirty="0"/>
          </a:p>
        </p:txBody>
      </p:sp>
      <p:sp>
        <p:nvSpPr>
          <p:cNvPr id="5" name="Text 3"/>
          <p:cNvSpPr txBox="1"/>
          <p:nvPr/>
        </p:nvSpPr>
        <p:spPr>
          <a:xfrm>
            <a:off x="566928" y="1901952"/>
            <a:ext cx="8138160" cy="274320"/>
          </a:xfrm>
          <a:prstGeom prst="rect">
            <a:avLst/>
          </a:prstGeom>
          <a:noFill/>
          <a:ln/>
        </p:spPr>
        <p:txBody>
          <a:bodyPr wrap="square" lIns="0" tIns="0" rIns="0" bIns="0" rtlCol="0" anchor="ctr"/>
          <a:lstStyle/>
          <a:p>
            <a:pPr indent="0" marL="0">
              <a:lnSpc>
                <a:spcPts val="2100"/>
              </a:lnSpc>
              <a:buNone/>
            </a:pPr>
            <a:r>
              <a:rPr lang="en-US" sz="1300" dirty="0">
                <a:solidFill>
                  <a:srgbClr val="1A1A2E"/>
                </a:solidFill>
                <a:latin typeface="Calibri" pitchFamily="34" charset="0"/>
                <a:ea typeface="Calibri" pitchFamily="34" charset="-122"/>
                <a:cs typeface="Calibri" pitchFamily="34" charset="-120"/>
              </a:rPr>
              <a:t>DeltaProduct: Improving State-Tracking in Linear RNNs via Householder Products. NeurIPS 2025. arXiv:2502.10297.</a:t>
            </a:r>
            <a:endParaRPr lang="en-US" sz="1300" dirty="0"/>
          </a:p>
        </p:txBody>
      </p:sp>
      <p:sp>
        <p:nvSpPr>
          <p:cNvPr id="6" name="Text 4"/>
          <p:cNvSpPr txBox="1"/>
          <p:nvPr/>
        </p:nvSpPr>
        <p:spPr>
          <a:xfrm>
            <a:off x="8778240" y="1901952"/>
            <a:ext cx="2834640" cy="457200"/>
          </a:xfrm>
          <a:prstGeom prst="rect">
            <a:avLst/>
          </a:prstGeom>
          <a:noFill/>
          <a:ln/>
        </p:spPr>
        <p:txBody>
          <a:bodyPr wrap="square" lIns="0" tIns="0" rIns="0" bIns="0" rtlCol="0" anchor="ctr"/>
          <a:lstStyle/>
          <a:p>
            <a:pPr indent="0" marL="0">
              <a:lnSpc>
                <a:spcPts val="1500"/>
              </a:lnSpc>
              <a:buNone/>
            </a:pPr>
            <a:r>
              <a:rPr lang="en-US" sz="1150" i="1" dirty="0">
                <a:solidFill>
                  <a:srgbClr val="5C6378"/>
                </a:solidFill>
                <a:latin typeface="Calibri" pitchFamily="34" charset="0"/>
                <a:ea typeface="Calibri" pitchFamily="34" charset="-122"/>
                <a:cs typeface="Calibri" pitchFamily="34" charset="-120"/>
              </a:rPr>
              <a:t>the construction this project extends</a:t>
            </a:r>
            <a:endParaRPr lang="en-US" sz="1150" dirty="0"/>
          </a:p>
        </p:txBody>
      </p:sp>
      <p:sp>
        <p:nvSpPr>
          <p:cNvPr id="7" name="Text 5"/>
          <p:cNvSpPr txBox="1"/>
          <p:nvPr/>
        </p:nvSpPr>
        <p:spPr>
          <a:xfrm>
            <a:off x="566928" y="2496312"/>
            <a:ext cx="11027664"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Shakerinava, M., Khavari, B., Ravanbakhsh, S., Chandar, S. (2026)</a:t>
            </a:r>
            <a:endParaRPr lang="en-US" sz="1400" dirty="0"/>
          </a:p>
        </p:txBody>
      </p:sp>
      <p:sp>
        <p:nvSpPr>
          <p:cNvPr id="8" name="Text 6"/>
          <p:cNvSpPr txBox="1"/>
          <p:nvPr/>
        </p:nvSpPr>
        <p:spPr>
          <a:xfrm>
            <a:off x="566928" y="2770632"/>
            <a:ext cx="8138160" cy="274320"/>
          </a:xfrm>
          <a:prstGeom prst="rect">
            <a:avLst/>
          </a:prstGeom>
          <a:noFill/>
          <a:ln/>
        </p:spPr>
        <p:txBody>
          <a:bodyPr wrap="square" lIns="0" tIns="0" rIns="0" bIns="0" rtlCol="0" anchor="ctr"/>
          <a:lstStyle/>
          <a:p>
            <a:pPr indent="0" marL="0">
              <a:lnSpc>
                <a:spcPts val="2100"/>
              </a:lnSpc>
              <a:buNone/>
            </a:pPr>
            <a:r>
              <a:rPr lang="en-US" sz="1300" dirty="0">
                <a:solidFill>
                  <a:srgbClr val="1A1A2E"/>
                </a:solidFill>
                <a:latin typeface="Calibri" pitchFamily="34" charset="0"/>
                <a:ea typeface="Calibri" pitchFamily="34" charset="-122"/>
                <a:cs typeface="Calibri" pitchFamily="34" charset="-120"/>
              </a:rPr>
              <a:t>The Expressive Limits of Diagonal SSMs for State-Tracking. ICLR 2026. arXiv:2603.01959.</a:t>
            </a:r>
            <a:endParaRPr lang="en-US" sz="1300" dirty="0"/>
          </a:p>
        </p:txBody>
      </p:sp>
      <p:sp>
        <p:nvSpPr>
          <p:cNvPr id="9" name="Text 7"/>
          <p:cNvSpPr txBox="1"/>
          <p:nvPr/>
        </p:nvSpPr>
        <p:spPr>
          <a:xfrm>
            <a:off x="8778240" y="2770632"/>
            <a:ext cx="2834640" cy="457200"/>
          </a:xfrm>
          <a:prstGeom prst="rect">
            <a:avLst/>
          </a:prstGeom>
          <a:noFill/>
          <a:ln/>
        </p:spPr>
        <p:txBody>
          <a:bodyPr wrap="square" lIns="0" tIns="0" rIns="0" bIns="0" rtlCol="0" anchor="ctr"/>
          <a:lstStyle/>
          <a:p>
            <a:pPr indent="0" marL="0">
              <a:lnSpc>
                <a:spcPts val="1500"/>
              </a:lnSpc>
              <a:buNone/>
            </a:pPr>
            <a:r>
              <a:rPr lang="en-US" sz="1150" i="1" dirty="0">
                <a:solidFill>
                  <a:srgbClr val="5C6378"/>
                </a:solidFill>
                <a:latin typeface="Calibri" pitchFamily="34" charset="0"/>
                <a:ea typeface="Calibri" pitchFamily="34" charset="-122"/>
                <a:cs typeface="Calibri" pitchFamily="34" charset="-120"/>
              </a:rPr>
              <a:t>reports multi-layer diagonal models failing to learn state tracking for non-Abelian groups</a:t>
            </a:r>
            <a:endParaRPr lang="en-US" sz="1150" dirty="0"/>
          </a:p>
        </p:txBody>
      </p:sp>
      <p:sp>
        <p:nvSpPr>
          <p:cNvPr id="10" name="Text 8"/>
          <p:cNvSpPr txBox="1"/>
          <p:nvPr/>
        </p:nvSpPr>
        <p:spPr>
          <a:xfrm>
            <a:off x="566928" y="3364992"/>
            <a:ext cx="11027664"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Graves, A. (2016)</a:t>
            </a:r>
            <a:endParaRPr lang="en-US" sz="1400" dirty="0"/>
          </a:p>
        </p:txBody>
      </p:sp>
      <p:sp>
        <p:nvSpPr>
          <p:cNvPr id="11" name="Text 9"/>
          <p:cNvSpPr txBox="1"/>
          <p:nvPr/>
        </p:nvSpPr>
        <p:spPr>
          <a:xfrm>
            <a:off x="566928" y="3639312"/>
            <a:ext cx="8138160" cy="274320"/>
          </a:xfrm>
          <a:prstGeom prst="rect">
            <a:avLst/>
          </a:prstGeom>
          <a:noFill/>
          <a:ln/>
        </p:spPr>
        <p:txBody>
          <a:bodyPr wrap="square" lIns="0" tIns="0" rIns="0" bIns="0" rtlCol="0" anchor="ctr"/>
          <a:lstStyle/>
          <a:p>
            <a:pPr indent="0" marL="0">
              <a:lnSpc>
                <a:spcPts val="2100"/>
              </a:lnSpc>
              <a:buNone/>
            </a:pPr>
            <a:r>
              <a:rPr lang="en-US" sz="1300" dirty="0">
                <a:solidFill>
                  <a:srgbClr val="1A1A2E"/>
                </a:solidFill>
                <a:latin typeface="Calibri" pitchFamily="34" charset="0"/>
                <a:ea typeface="Calibri" pitchFamily="34" charset="-122"/>
                <a:cs typeface="Calibri" pitchFamily="34" charset="-120"/>
              </a:rPr>
              <a:t>Adaptive Computation Time for Recurrent Neural Networks. arXiv:1603.08983.</a:t>
            </a:r>
            <a:endParaRPr lang="en-US" sz="1300" dirty="0"/>
          </a:p>
        </p:txBody>
      </p:sp>
      <p:sp>
        <p:nvSpPr>
          <p:cNvPr id="12" name="Text 10"/>
          <p:cNvSpPr txBox="1"/>
          <p:nvPr/>
        </p:nvSpPr>
        <p:spPr>
          <a:xfrm>
            <a:off x="8778240" y="3639312"/>
            <a:ext cx="2834640" cy="457200"/>
          </a:xfrm>
          <a:prstGeom prst="rect">
            <a:avLst/>
          </a:prstGeom>
          <a:noFill/>
          <a:ln/>
        </p:spPr>
        <p:txBody>
          <a:bodyPr wrap="square" lIns="0" tIns="0" rIns="0" bIns="0" rtlCol="0" anchor="ctr"/>
          <a:lstStyle/>
          <a:p>
            <a:pPr indent="0" marL="0">
              <a:lnSpc>
                <a:spcPts val="1500"/>
              </a:lnSpc>
              <a:buNone/>
            </a:pPr>
            <a:r>
              <a:rPr lang="en-US" sz="1150" i="1" dirty="0">
                <a:solidFill>
                  <a:srgbClr val="5C6378"/>
                </a:solidFill>
                <a:latin typeface="Calibri" pitchFamily="34" charset="0"/>
                <a:ea typeface="Calibri" pitchFamily="34" charset="-122"/>
                <a:cs typeface="Calibri" pitchFamily="34" charset="-120"/>
              </a:rPr>
              <a:t>halting mechanism, used off the shelf</a:t>
            </a:r>
            <a:endParaRPr lang="en-US" sz="1150" dirty="0"/>
          </a:p>
        </p:txBody>
      </p:sp>
      <p:sp>
        <p:nvSpPr>
          <p:cNvPr id="13" name="Text 11"/>
          <p:cNvSpPr txBox="1"/>
          <p:nvPr/>
        </p:nvSpPr>
        <p:spPr>
          <a:xfrm>
            <a:off x="566928" y="4233672"/>
            <a:ext cx="11027664"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Banino, A., Balaguer, J., Blundell, C. (2021)</a:t>
            </a:r>
            <a:endParaRPr lang="en-US" sz="1400" dirty="0"/>
          </a:p>
        </p:txBody>
      </p:sp>
      <p:sp>
        <p:nvSpPr>
          <p:cNvPr id="14" name="Text 12"/>
          <p:cNvSpPr txBox="1"/>
          <p:nvPr/>
        </p:nvSpPr>
        <p:spPr>
          <a:xfrm>
            <a:off x="566928" y="4507992"/>
            <a:ext cx="8138160" cy="274320"/>
          </a:xfrm>
          <a:prstGeom prst="rect">
            <a:avLst/>
          </a:prstGeom>
          <a:noFill/>
          <a:ln/>
        </p:spPr>
        <p:txBody>
          <a:bodyPr wrap="square" lIns="0" tIns="0" rIns="0" bIns="0" rtlCol="0" anchor="ctr"/>
          <a:lstStyle/>
          <a:p>
            <a:pPr indent="0" marL="0">
              <a:lnSpc>
                <a:spcPts val="2100"/>
              </a:lnSpc>
              <a:buNone/>
            </a:pPr>
            <a:r>
              <a:rPr lang="en-US" sz="1300" dirty="0">
                <a:solidFill>
                  <a:srgbClr val="1A1A2E"/>
                </a:solidFill>
                <a:latin typeface="Calibri" pitchFamily="34" charset="0"/>
                <a:ea typeface="Calibri" pitchFamily="34" charset="-122"/>
                <a:cs typeface="Calibri" pitchFamily="34" charset="-120"/>
              </a:rPr>
              <a:t>PonderNet: Learning to Ponder. arXiv:2107.05407.</a:t>
            </a:r>
            <a:endParaRPr lang="en-US" sz="1300" dirty="0"/>
          </a:p>
        </p:txBody>
      </p:sp>
      <p:sp>
        <p:nvSpPr>
          <p:cNvPr id="15" name="Text 13"/>
          <p:cNvSpPr txBox="1"/>
          <p:nvPr/>
        </p:nvSpPr>
        <p:spPr>
          <a:xfrm>
            <a:off x="8778240" y="4507992"/>
            <a:ext cx="2834640" cy="457200"/>
          </a:xfrm>
          <a:prstGeom prst="rect">
            <a:avLst/>
          </a:prstGeom>
          <a:noFill/>
          <a:ln/>
        </p:spPr>
        <p:txBody>
          <a:bodyPr wrap="square" lIns="0" tIns="0" rIns="0" bIns="0" rtlCol="0" anchor="ctr"/>
          <a:lstStyle/>
          <a:p>
            <a:pPr indent="0" marL="0">
              <a:lnSpc>
                <a:spcPts val="1500"/>
              </a:lnSpc>
              <a:buNone/>
            </a:pPr>
            <a:r>
              <a:rPr lang="en-US" sz="1150" i="1" dirty="0">
                <a:solidFill>
                  <a:srgbClr val="5C6378"/>
                </a:solidFill>
                <a:latin typeface="Calibri" pitchFamily="34" charset="0"/>
                <a:ea typeface="Calibri" pitchFamily="34" charset="-122"/>
                <a:cs typeface="Calibri" pitchFamily="34" charset="-120"/>
              </a:rPr>
              <a:t>halting mechanism, used off the shelf</a:t>
            </a:r>
            <a:endParaRPr lang="en-US" sz="1150" dirty="0"/>
          </a:p>
        </p:txBody>
      </p:sp>
      <p:sp>
        <p:nvSpPr>
          <p:cNvPr id="16" name="Text 14"/>
          <p:cNvSpPr txBox="1"/>
          <p:nvPr/>
        </p:nvSpPr>
        <p:spPr>
          <a:xfrm>
            <a:off x="566928" y="5102352"/>
            <a:ext cx="11027664"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Cartan–Dieudonné</a:t>
            </a:r>
            <a:endParaRPr lang="en-US" sz="1400" dirty="0"/>
          </a:p>
        </p:txBody>
      </p:sp>
      <p:sp>
        <p:nvSpPr>
          <p:cNvPr id="17" name="Text 15"/>
          <p:cNvSpPr txBox="1"/>
          <p:nvPr/>
        </p:nvSpPr>
        <p:spPr>
          <a:xfrm>
            <a:off x="566928" y="5376672"/>
            <a:ext cx="8138160" cy="274320"/>
          </a:xfrm>
          <a:prstGeom prst="rect">
            <a:avLst/>
          </a:prstGeom>
          <a:noFill/>
          <a:ln/>
        </p:spPr>
        <p:txBody>
          <a:bodyPr wrap="square" lIns="0" tIns="0" rIns="0" bIns="0" rtlCol="0" anchor="ctr"/>
          <a:lstStyle/>
          <a:p>
            <a:pPr indent="0" marL="0">
              <a:lnSpc>
                <a:spcPts val="2100"/>
              </a:lnSpc>
              <a:buNone/>
            </a:pPr>
            <a:r>
              <a:rPr lang="en-US" sz="1300" dirty="0">
                <a:solidFill>
                  <a:srgbClr val="1A1A2E"/>
                </a:solidFill>
                <a:latin typeface="Calibri" pitchFamily="34" charset="0"/>
                <a:ea typeface="Calibri" pitchFamily="34" charset="-122"/>
                <a:cs typeface="Calibri" pitchFamily="34" charset="-120"/>
              </a:rPr>
              <a:t>Every element of O(n) is a composition of at most n reflections.</a:t>
            </a:r>
            <a:endParaRPr lang="en-US" sz="1300" dirty="0"/>
          </a:p>
        </p:txBody>
      </p:sp>
      <p:sp>
        <p:nvSpPr>
          <p:cNvPr id="18" name="Text 16"/>
          <p:cNvSpPr txBox="1"/>
          <p:nvPr/>
        </p:nvSpPr>
        <p:spPr>
          <a:xfrm>
            <a:off x="8778240" y="5376672"/>
            <a:ext cx="2834640" cy="457200"/>
          </a:xfrm>
          <a:prstGeom prst="rect">
            <a:avLst/>
          </a:prstGeom>
          <a:noFill/>
          <a:ln/>
        </p:spPr>
        <p:txBody>
          <a:bodyPr wrap="square" lIns="0" tIns="0" rIns="0" bIns="0" rtlCol="0" anchor="ctr"/>
          <a:lstStyle/>
          <a:p>
            <a:pPr indent="0" marL="0">
              <a:lnSpc>
                <a:spcPts val="1500"/>
              </a:lnSpc>
              <a:buNone/>
            </a:pPr>
            <a:r>
              <a:rPr lang="en-US" sz="1150" i="1" dirty="0">
                <a:solidFill>
                  <a:srgbClr val="5C6378"/>
                </a:solidFill>
                <a:latin typeface="Calibri" pitchFamily="34" charset="0"/>
                <a:ea typeface="Calibri" pitchFamily="34" charset="-122"/>
                <a:cs typeface="Calibri" pitchFamily="34" charset="-120"/>
              </a:rPr>
              <a:t>supplies the reflection count in section two</a:t>
            </a:r>
            <a:endParaRPr lang="en-US" sz="1150" dirty="0"/>
          </a:p>
        </p:txBody>
      </p:sp>
      <p:sp>
        <p:nvSpPr>
          <p:cNvPr id="19" name="Text 17"/>
          <p:cNvSpPr txBox="1"/>
          <p:nvPr/>
        </p:nvSpPr>
        <p:spPr>
          <a:xfrm>
            <a:off x="566928" y="6035040"/>
            <a:ext cx="11027664" cy="365760"/>
          </a:xfrm>
          <a:prstGeom prst="rect">
            <a:avLst/>
          </a:prstGeom>
          <a:noFill/>
          <a:ln/>
        </p:spPr>
        <p:txBody>
          <a:bodyPr wrap="square" lIns="0" tIns="0" rIns="0" bIns="0" rtlCol="0" anchor="ctr"/>
          <a:lstStyle/>
          <a:p>
            <a:pPr indent="0" marL="0">
              <a:lnSpc>
                <a:spcPts val="2100"/>
              </a:lnSpc>
              <a:buNone/>
            </a:pPr>
            <a:r>
              <a:rPr lang="en-US" sz="1300" i="1" dirty="0">
                <a:solidFill>
                  <a:srgbClr val="1C7293"/>
                </a:solidFill>
                <a:latin typeface="Calibri" pitchFamily="34" charset="0"/>
                <a:ea typeface="Calibri" pitchFamily="34" charset="-122"/>
                <a:cs typeface="Calibri" pitchFamily="34" charset="-120"/>
              </a:rPr>
              <a:t>A broader survey of the linear-attention and state-space landscape is outstanding and scheduled before the final report.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Adaptive-Order State Transitions in Linear RNNs</dc:title>
  <dc:subject>PptxGenJS Presentation</dc:subject>
  <dc:creator>Utkarsh Shukla</dc:creator>
  <cp:lastModifiedBy>Utkarsh Shukla</cp:lastModifiedBy>
  <cp:revision>1</cp:revision>
  <dcterms:created xsi:type="dcterms:W3CDTF">2026-09-14T20:39:05Z</dcterms:created>
  <dcterms:modified xsi:type="dcterms:W3CDTF">2026-09-14T20:39:05Z</dcterms:modified>
</cp:coreProperties>
</file>